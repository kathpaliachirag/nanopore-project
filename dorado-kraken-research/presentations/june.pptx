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6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7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540" autoAdjust="0"/>
  </p:normalViewPr>
  <p:slideViewPr>
    <p:cSldViewPr snapToGrid="0" snapToObjects="1">
      <p:cViewPr varScale="1">
        <p:scale>
          <a:sx n="92" d="100"/>
          <a:sy n="92" d="100"/>
        </p:scale>
        <p:origin x="30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GEMM</c:v>
                </c:pt>
              </c:strCache>
            </c:strRef>
          </c:tx>
          <c:spPr>
            <a:solidFill>
              <a:srgbClr val="E23D2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30.8</c:v>
                </c:pt>
                <c:pt idx="1">
                  <c:v>15</c:v>
                </c:pt>
                <c:pt idx="2">
                  <c:v>43.6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86-4143-B508-303C1C97A5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LSTM</c:v>
                </c:pt>
              </c:strCache>
            </c:strRef>
          </c:tx>
          <c:spPr>
            <a:solidFill>
              <a:srgbClr val="1B4C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27.5</c:v>
                </c:pt>
                <c:pt idx="1">
                  <c:v>68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86-4143-B508-303C1C97A5E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Beam Search</c:v>
                </c:pt>
              </c:strCache>
            </c:strRef>
          </c:tx>
          <c:spPr>
            <a:solidFill>
              <a:srgbClr val="D98A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14.8</c:v>
                </c:pt>
                <c:pt idx="1">
                  <c:v>2.1</c:v>
                </c:pt>
                <c:pt idx="2">
                  <c:v>8.5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86-4143-B508-303C1C97A5E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Attention</c:v>
                </c:pt>
              </c:strCache>
            </c:strRef>
          </c:tx>
          <c:spPr>
            <a:solidFill>
              <a:srgbClr val="6B3F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86-4143-B508-303C1C97A5E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RMSNorm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17.100000000000001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86-4143-B508-303C1C97A5E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 (LSTM, FP16)</c:v>
                </c:pt>
                <c:pt idx="1">
                  <c:v>hac (LSTM large, FP16)</c:v>
                </c:pt>
                <c:pt idx="2">
                  <c:v>sup (Transformer, FP8)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26.9</c:v>
                </c:pt>
                <c:pt idx="1">
                  <c:v>14.9</c:v>
                </c:pt>
                <c:pt idx="2">
                  <c:v>20.399999999999999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86-4143-B508-303C1C97A5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Classified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sample_targeted (50 MB)</c:v>
                </c:pt>
                <c:pt idx="1">
                  <c:v>pluspf_103gb (103 GB)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84.8</c:v>
                </c:pt>
                <c:pt idx="1">
                  <c:v>98.86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4F-419F-8C54-45F93351ACA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Unclassified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sample_targeted (50 MB)</c:v>
                </c:pt>
                <c:pt idx="1">
                  <c:v>pluspf_103gb (103 GB)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15.2</c:v>
                </c:pt>
                <c:pt idx="1">
                  <c:v>1.1399999999999999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14F-419F-8C54-45F93351ACA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MB DB</c:v>
                </c:pt>
              </c:strCache>
            </c:strRef>
          </c:tx>
          <c:spPr>
            <a:solidFill>
              <a:srgbClr val="1B4C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P. aeruginosa</c:v>
                </c:pt>
                <c:pt idx="1">
                  <c:v>E. coli</c:v>
                </c:pt>
                <c:pt idx="2">
                  <c:v>K. pneumoniae</c:v>
                </c:pt>
                <c:pt idx="3">
                  <c:v>A. baumannii</c:v>
                </c:pt>
                <c:pt idx="4">
                  <c:v>Other classified</c:v>
                </c:pt>
                <c:pt idx="5">
                  <c:v>Unclassified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52.5</c:v>
                </c:pt>
                <c:pt idx="1">
                  <c:v>21.79</c:v>
                </c:pt>
                <c:pt idx="2">
                  <c:v>9.92</c:v>
                </c:pt>
                <c:pt idx="3">
                  <c:v>0</c:v>
                </c:pt>
                <c:pt idx="4">
                  <c:v>0.59</c:v>
                </c:pt>
                <c:pt idx="5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22-4F94-BCF5-29883E203F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103 GB DB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P. aeruginosa</c:v>
                </c:pt>
                <c:pt idx="1">
                  <c:v>E. coli</c:v>
                </c:pt>
                <c:pt idx="2">
                  <c:v>K. pneumoniae</c:v>
                </c:pt>
                <c:pt idx="3">
                  <c:v>A. baumannii</c:v>
                </c:pt>
                <c:pt idx="4">
                  <c:v>Other classified</c:v>
                </c:pt>
                <c:pt idx="5">
                  <c:v>Unclassified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41.58</c:v>
                </c:pt>
                <c:pt idx="1">
                  <c:v>20.6</c:v>
                </c:pt>
                <c:pt idx="2">
                  <c:v>9.2200000000000006</c:v>
                </c:pt>
                <c:pt idx="3">
                  <c:v>0.33</c:v>
                </c:pt>
                <c:pt idx="4">
                  <c:v>26.86</c:v>
                </c:pt>
                <c:pt idx="5">
                  <c:v>1.1399999999999999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822-4F94-BCF5-29883E203F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MB (pre-cliff)</c:v>
                </c:pt>
              </c:strCache>
            </c:strRef>
          </c:tx>
          <c:spPr>
            <a:ln w="38100" cap="flat">
              <a:solidFill>
                <a:srgbClr val="2E8B5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B57"/>
              </a:solidFill>
              <a:ln w="9525" cap="flat">
                <a:solidFill>
                  <a:srgbClr val="2E8B57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1.98</c:v>
                </c:pt>
                <c:pt idx="2">
                  <c:v>3.89</c:v>
                </c:pt>
                <c:pt idx="3">
                  <c:v>7.52</c:v>
                </c:pt>
                <c:pt idx="4">
                  <c:v>13.9</c:v>
                </c:pt>
                <c:pt idx="5">
                  <c:v>21.26</c:v>
                </c:pt>
                <c:pt idx="6">
                  <c:v>20.83</c:v>
                </c:pt>
                <c:pt idx="7">
                  <c:v>17.850000000000001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E7-4D4E-9498-A7A446BB5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142 MB (bw-sat.)</c:v>
                </c:pt>
              </c:strCache>
            </c:strRef>
          </c:tx>
          <c:spPr>
            <a:ln w="38100" cap="flat">
              <a:solidFill>
                <a:srgbClr val="1B4CA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4CA0"/>
              </a:solidFill>
              <a:ln w="9525" cap="flat">
                <a:solidFill>
                  <a:srgbClr val="1B4CA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1.97</c:v>
                </c:pt>
                <c:pt idx="2">
                  <c:v>3.85</c:v>
                </c:pt>
                <c:pt idx="3">
                  <c:v>7.37</c:v>
                </c:pt>
                <c:pt idx="4">
                  <c:v>13.45</c:v>
                </c:pt>
                <c:pt idx="5">
                  <c:v>21.03</c:v>
                </c:pt>
                <c:pt idx="6">
                  <c:v>21.96</c:v>
                </c:pt>
                <c:pt idx="7">
                  <c:v>18.88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DE7-4D4E-9498-A7A446BB5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3.8 GB (bw-sat.)</c:v>
                </c:pt>
              </c:strCache>
            </c:strRef>
          </c:tx>
          <c:spPr>
            <a:ln w="38100" cap="flat">
              <a:solidFill>
                <a:srgbClr val="D98A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8A2B"/>
              </a:solidFill>
              <a:ln w="9525" cap="flat">
                <a:solidFill>
                  <a:srgbClr val="D98A2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</c:v>
                </c:pt>
                <c:pt idx="1">
                  <c:v>1.87</c:v>
                </c:pt>
                <c:pt idx="2">
                  <c:v>3.33</c:v>
                </c:pt>
                <c:pt idx="3">
                  <c:v>5.43</c:v>
                </c:pt>
                <c:pt idx="4">
                  <c:v>7.93</c:v>
                </c:pt>
                <c:pt idx="5">
                  <c:v>10.02</c:v>
                </c:pt>
                <c:pt idx="6">
                  <c:v>10.57</c:v>
                </c:pt>
                <c:pt idx="7">
                  <c:v>10.119999999999999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DE7-4D4E-9498-A7A446BB596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7.6 GB (Amdahl)</c:v>
                </c:pt>
              </c:strCache>
            </c:strRef>
          </c:tx>
          <c:spPr>
            <a:ln w="38100" cap="flat">
              <a:solidFill>
                <a:srgbClr val="E23D2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23D28"/>
              </a:solidFill>
              <a:ln w="9525" cap="flat">
                <a:solidFill>
                  <a:srgbClr val="E23D28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1.59</c:v>
                </c:pt>
                <c:pt idx="2">
                  <c:v>2.2599999999999998</c:v>
                </c:pt>
                <c:pt idx="3">
                  <c:v>2.87</c:v>
                </c:pt>
                <c:pt idx="4">
                  <c:v>3.29</c:v>
                </c:pt>
                <c:pt idx="5">
                  <c:v>3.47</c:v>
                </c:pt>
                <c:pt idx="6">
                  <c:v>3.39</c:v>
                </c:pt>
                <c:pt idx="7">
                  <c:v>3.28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DE7-4D4E-9498-A7A446BB596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15 GB (Amdahl)</c:v>
                </c:pt>
              </c:strCache>
            </c:strRef>
          </c:tx>
          <c:spPr>
            <a:ln w="38100" cap="flat">
              <a:solidFill>
                <a:srgbClr val="8B1E1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B1E1E"/>
              </a:solidFill>
              <a:ln w="9525" cap="flat">
                <a:solidFill>
                  <a:srgbClr val="8B1E1E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</c:v>
                </c:pt>
                <c:pt idx="1">
                  <c:v>1.51</c:v>
                </c:pt>
                <c:pt idx="2">
                  <c:v>2.04</c:v>
                </c:pt>
                <c:pt idx="3">
                  <c:v>2.4900000000000002</c:v>
                </c:pt>
                <c:pt idx="4">
                  <c:v>2.79</c:v>
                </c:pt>
                <c:pt idx="5">
                  <c:v>2.93</c:v>
                </c:pt>
                <c:pt idx="6">
                  <c:v>2.9</c:v>
                </c:pt>
                <c:pt idx="7">
                  <c:v>2.85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DE7-4D4E-9498-A7A446BB596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103 GB (DRAM-sat.)</c:v>
                </c:pt>
              </c:strCache>
            </c:strRef>
          </c:tx>
          <c:spPr>
            <a:ln w="38100" cap="flat">
              <a:solidFill>
                <a:srgbClr val="C9C9C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C9C9"/>
              </a:solidFill>
              <a:ln w="9525" cap="flat">
                <a:solidFill>
                  <a:srgbClr val="C9C9C9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96</c:v>
                </c:pt>
              </c:strCache>
            </c:strRef>
          </c:cat>
          <c: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1.28</c:v>
                </c:pt>
                <c:pt idx="2">
                  <c:v>1.47</c:v>
                </c:pt>
                <c:pt idx="3">
                  <c:v>1.6</c:v>
                </c:pt>
                <c:pt idx="4">
                  <c:v>1.67</c:v>
                </c:pt>
                <c:pt idx="5">
                  <c:v>1.71</c:v>
                </c:pt>
                <c:pt idx="6">
                  <c:v>1.71</c:v>
                </c:pt>
                <c:pt idx="7">
                  <c:v>1.72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DE7-4D4E-9498-A7A446BB5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Thread count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F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Speedup over 1T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MB (post-cliff)</c:v>
                </c:pt>
              </c:strCache>
            </c:strRef>
          </c:tx>
          <c:spPr>
            <a:ln w="38100" cap="flat">
              <a:solidFill>
                <a:srgbClr val="2E8B5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B57"/>
              </a:solidFill>
              <a:ln w="9525" cap="flat">
                <a:solidFill>
                  <a:srgbClr val="2E8B57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2.0299999999999998</c:v>
                </c:pt>
                <c:pt idx="2">
                  <c:v>4.0199999999999996</c:v>
                </c:pt>
                <c:pt idx="3">
                  <c:v>5.97</c:v>
                </c:pt>
                <c:pt idx="4">
                  <c:v>7.91</c:v>
                </c:pt>
                <c:pt idx="5">
                  <c:v>9.64</c:v>
                </c:pt>
                <c:pt idx="6">
                  <c:v>11.44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858-45A8-8084-655ACB8DAA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142 MB</c:v>
                </c:pt>
              </c:strCache>
            </c:strRef>
          </c:tx>
          <c:spPr>
            <a:ln w="38100" cap="flat">
              <a:solidFill>
                <a:srgbClr val="1B4CA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4CA0"/>
              </a:solidFill>
              <a:ln w="9525" cap="flat">
                <a:solidFill>
                  <a:srgbClr val="1B4CA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2.02</c:v>
                </c:pt>
                <c:pt idx="2">
                  <c:v>3.97</c:v>
                </c:pt>
                <c:pt idx="3">
                  <c:v>5.91</c:v>
                </c:pt>
                <c:pt idx="4">
                  <c:v>7.82</c:v>
                </c:pt>
                <c:pt idx="5">
                  <c:v>9.58</c:v>
                </c:pt>
                <c:pt idx="6">
                  <c:v>11.34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858-45A8-8084-655ACB8DAA3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3.8 GB</c:v>
                </c:pt>
              </c:strCache>
            </c:strRef>
          </c:tx>
          <c:spPr>
            <a:ln w="38100" cap="flat">
              <a:solidFill>
                <a:srgbClr val="D98A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8A2B"/>
              </a:solidFill>
              <a:ln w="9525" cap="flat">
                <a:solidFill>
                  <a:srgbClr val="D98A2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1.98</c:v>
                </c:pt>
                <c:pt idx="2">
                  <c:v>3.75</c:v>
                </c:pt>
                <c:pt idx="3">
                  <c:v>5.37</c:v>
                </c:pt>
                <c:pt idx="4">
                  <c:v>6.89</c:v>
                </c:pt>
                <c:pt idx="5">
                  <c:v>8.18</c:v>
                </c:pt>
                <c:pt idx="6">
                  <c:v>9.39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858-45A8-8084-655ACB8DAA3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7.6 GB (Amdahl floor)</c:v>
                </c:pt>
              </c:strCache>
            </c:strRef>
          </c:tx>
          <c:spPr>
            <a:ln w="38100" cap="flat">
              <a:solidFill>
                <a:srgbClr val="E23D2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23D28"/>
              </a:solidFill>
              <a:ln w="9525" cap="flat">
                <a:solidFill>
                  <a:srgbClr val="E23D2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</c:v>
                </c:pt>
                <c:pt idx="1">
                  <c:v>1.91</c:v>
                </c:pt>
                <c:pt idx="2">
                  <c:v>3.14</c:v>
                </c:pt>
                <c:pt idx="3">
                  <c:v>4.0199999999999996</c:v>
                </c:pt>
                <c:pt idx="4">
                  <c:v>4.6500000000000004</c:v>
                </c:pt>
                <c:pt idx="5">
                  <c:v>5.16</c:v>
                </c:pt>
                <c:pt idx="6">
                  <c:v>5.54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858-45A8-8084-655ACB8DAA3A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15 GB (Amdahl floor)</c:v>
                </c:pt>
              </c:strCache>
            </c:strRef>
          </c:tx>
          <c:spPr>
            <a:ln w="38100" cap="flat">
              <a:solidFill>
                <a:srgbClr val="8B1E1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B1E1E"/>
              </a:solidFill>
              <a:ln w="9525" cap="flat">
                <a:solidFill>
                  <a:srgbClr val="8B1E1E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1.76</c:v>
                </c:pt>
                <c:pt idx="2">
                  <c:v>2.78</c:v>
                </c:pt>
                <c:pt idx="3">
                  <c:v>3.42</c:v>
                </c:pt>
                <c:pt idx="4">
                  <c:v>3.87</c:v>
                </c:pt>
                <c:pt idx="5">
                  <c:v>4.22</c:v>
                </c:pt>
                <c:pt idx="6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858-45A8-8084-655ACB8DAA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Thread count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F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Speedup over 1T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eskape_51mb (51 MB)</c:v>
                </c:pt>
              </c:strCache>
            </c:strRef>
          </c:tx>
          <c:spPr>
            <a:ln w="38100" cap="flat">
              <a:solidFill>
                <a:srgbClr val="2E8B5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B57"/>
              </a:solidFill>
              <a:ln w="9525" cap="flat">
                <a:solidFill>
                  <a:srgbClr val="2E8B5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1.93</c:v>
                </c:pt>
                <c:pt idx="2">
                  <c:v>3.52</c:v>
                </c:pt>
                <c:pt idx="3">
                  <c:v>5.35</c:v>
                </c:pt>
                <c:pt idx="4">
                  <c:v>7.57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6A-4719-AED1-DE4C171F87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eskape_650mb (142 MB)</c:v>
                </c:pt>
              </c:strCache>
            </c:strRef>
          </c:tx>
          <c:spPr>
            <a:ln w="38100" cap="flat">
              <a:solidFill>
                <a:srgbClr val="0E7C7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7B"/>
              </a:solidFill>
              <a:ln w="9525" cap="flat">
                <a:solidFill>
                  <a:srgbClr val="0E7C7B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1.92</c:v>
                </c:pt>
                <c:pt idx="2">
                  <c:v>3.49</c:v>
                </c:pt>
                <c:pt idx="3">
                  <c:v>5.55</c:v>
                </c:pt>
                <c:pt idx="4">
                  <c:v>8.11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26A-4719-AED1-DE4C171F87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standard_8gb (7.6 GB)</c:v>
                </c:pt>
              </c:strCache>
            </c:strRef>
          </c:tx>
          <c:spPr>
            <a:ln w="38100" cap="flat">
              <a:solidFill>
                <a:srgbClr val="D98A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98A2B"/>
              </a:solidFill>
              <a:ln w="9525" cap="flat">
                <a:solidFill>
                  <a:srgbClr val="D98A2B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1.63</c:v>
                </c:pt>
                <c:pt idx="2">
                  <c:v>2.44</c:v>
                </c:pt>
                <c:pt idx="3">
                  <c:v>3.07</c:v>
                </c:pt>
                <c:pt idx="4">
                  <c:v>3.37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26A-4719-AED1-DE4C171F87D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standard_16gb (15 GB)</c:v>
                </c:pt>
              </c:strCache>
            </c:strRef>
          </c:tx>
          <c:spPr>
            <a:ln w="38100" cap="flat">
              <a:solidFill>
                <a:srgbClr val="E23D2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23D28"/>
              </a:solidFill>
              <a:ln w="9525" cap="flat">
                <a:solidFill>
                  <a:srgbClr val="E23D28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</c:v>
                </c:pt>
                <c:pt idx="1">
                  <c:v>1.52</c:v>
                </c:pt>
                <c:pt idx="2">
                  <c:v>2.04</c:v>
                </c:pt>
                <c:pt idx="3">
                  <c:v>2.42</c:v>
                </c:pt>
                <c:pt idx="4">
                  <c:v>2.5099999999999998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26A-4719-AED1-DE4C171F87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Thread count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F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Speedup over 1T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pod5 (104,918 reads)</c:v>
                </c:pt>
              </c:strCache>
            </c:strRef>
          </c:tx>
          <c:spPr>
            <a:solidFill>
              <a:srgbClr val="8FB4E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</c:v>
                </c:pt>
                <c:pt idx="1">
                  <c:v>hac</c:v>
                </c:pt>
                <c:pt idx="2">
                  <c:v>sup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235</c:v>
                </c:pt>
                <c:pt idx="1">
                  <c:v>203</c:v>
                </c:pt>
                <c:pt idx="2">
                  <c:v>19.79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15-4D65-BC75-7BBFC9A7E39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Merged all 16 (1,865,971 reads)</c:v>
                </c:pt>
              </c:strCache>
            </c:strRef>
          </c:tx>
          <c:spPr>
            <a:solidFill>
              <a:srgbClr val="1B4C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fast</c:v>
                </c:pt>
                <c:pt idx="1">
                  <c:v>hac</c:v>
                </c:pt>
                <c:pt idx="2">
                  <c:v>sup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234.5</c:v>
                </c:pt>
                <c:pt idx="1">
                  <c:v>211.4</c:v>
                </c:pt>
                <c:pt idx="2">
                  <c:v>19.79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15-4D65-BC75-7BBFC9A7E39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sp/s (×10⁶)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9160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1051560"/>
            <a:ext cx="10085832" cy="4754880"/>
          </a:xfrm>
          <a:prstGeom prst="rect">
            <a:avLst/>
          </a:prstGeom>
          <a:ln w="15875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17320" y="2103120"/>
            <a:ext cx="9354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 PROJECT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417320" y="2514600"/>
            <a:ext cx="935431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Kraken2 Classification and</a:t>
            </a:r>
            <a:endParaRPr lang="en-US" sz="3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GPU-Accelerated Dorado Basecalling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480560" y="3977640"/>
            <a:ext cx="32004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4206240"/>
            <a:ext cx="9354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17320" y="4480560"/>
            <a:ext cx="9354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Kolin Paul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5074920"/>
            <a:ext cx="9354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5349240"/>
            <a:ext cx="9354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Chirag Kathpalia    ·    Chirag Suthar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Machines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specs of  machines we tested on, namely Luna (server) · Orion (edge) · Lab Desktop (Dell OptiPlex 5090)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42595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Desktop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Dell R760 (Server)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Jetson AGX Orin 64GB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Dell OptiPlex 5090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x86_64 (Sapphire Rapids)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ARM64 (Cortex-A78AE)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x86_64 (Intel)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Xeon Platinum 8468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Cortex-A78AE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Core i7-11700 (11th Gen)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Cores / Threads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cores / 192 threads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cores / 3 clusters × 4 (no 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cores / 16 threads (HT)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GHz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 GHz base / 4.90 GHz boost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NUMA Nodes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AVX-512 + AMX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AVX-512 (F/DQ/BW/VL/IFMA/VBMI/VNNI), AVX2, FMA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L1d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KB/core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KB/core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KiB (8×48 KiB)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MB/core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KB/core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MiB (8×512 KiB)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 (L3)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MB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MB total (2 MB/cluster)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MiB (shared, single instance)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DDR5, discrete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LPDDR5, unified (CPU+GPU 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DDR4, discrete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NVIDIA L40S (46 GB VRAM each)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Ampere, 2048 CUDA cores (integrated)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UHD Graphics 750 (integrated)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KRAKEN2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Kraken2 Spend Its Time?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done on Luna – for a 4 GB pod5 containing 104,918 reads, 703 MB HAC FASTQ, 8 GB standard database, 1 thread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576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Time by Function (gprof, 1T)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05740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MinimizerScanner::NextMinimizer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54680" y="2133112"/>
            <a:ext cx="2286000" cy="26919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9" name="Text 7"/>
          <p:cNvSpPr/>
          <p:nvPr/>
        </p:nvSpPr>
        <p:spPr>
          <a:xfrm>
            <a:off x="5513832" y="2057400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53.35%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624328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CompactHashTable::Get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2700040"/>
            <a:ext cx="995385" cy="269199"/>
          </a:xfrm>
          <a:prstGeom prst="rect">
            <a:avLst/>
          </a:prstGeom>
          <a:solidFill>
            <a:srgbClr val="E23D28"/>
          </a:solidFill>
          <a:ln/>
        </p:spPr>
      </p:sp>
      <p:sp>
        <p:nvSpPr>
          <p:cNvPr id="12" name="Text 10"/>
          <p:cNvSpPr/>
          <p:nvPr/>
        </p:nvSpPr>
        <p:spPr>
          <a:xfrm>
            <a:off x="4223217" y="2624328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23.23%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191256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ClassifySequence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54680" y="3266968"/>
            <a:ext cx="311513" cy="26919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15" name="Text 13"/>
          <p:cNvSpPr/>
          <p:nvPr/>
        </p:nvSpPr>
        <p:spPr>
          <a:xfrm>
            <a:off x="3539345" y="3191256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7.27%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3758184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reverse_complement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4680" y="3833896"/>
            <a:ext cx="286661" cy="26919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18" name="Text 16"/>
          <p:cNvSpPr/>
          <p:nvPr/>
        </p:nvSpPr>
        <p:spPr>
          <a:xfrm>
            <a:off x="3514493" y="3758184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6.69%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325112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AddHitlistString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54680" y="4400824"/>
            <a:ext cx="134975" cy="26919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21" name="Text 19"/>
          <p:cNvSpPr/>
          <p:nvPr/>
        </p:nvSpPr>
        <p:spPr>
          <a:xfrm>
            <a:off x="3362807" y="4325112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3.15%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892040"/>
            <a:ext cx="2651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4680" y="4967752"/>
            <a:ext cx="270378" cy="26919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24" name="Text 22"/>
          <p:cNvSpPr/>
          <p:nvPr/>
        </p:nvSpPr>
        <p:spPr>
          <a:xfrm>
            <a:off x="3498210" y="4892040"/>
            <a:ext cx="822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6.31%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CompactHashTable::Get() - The Hidden Bottleneck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40880" y="4526280"/>
            <a:ext cx="1920240" cy="91440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419709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12280" y="46908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Instructions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326880" y="2240280"/>
            <a:ext cx="1920240" cy="2377440"/>
          </a:xfrm>
          <a:prstGeom prst="rect">
            <a:avLst/>
          </a:prstGeom>
          <a:solidFill>
            <a:srgbClr val="E23D28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0" y="191109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96.24%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098280" y="46908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LLC Misses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5074920"/>
            <a:ext cx="5212080" cy="91440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11696" y="5202936"/>
            <a:ext cx="47914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hidden bottleneck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11696" y="555040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0.65% of instructions - causes 96.24% of all LLC read misses.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gprof (CPU time) + cachegrind (LLC miss attribution) | Luna, Xeon Platinum 8468, 8 GB Kraken2 standard database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Dorado GPU Basecalling - Headline Finding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nsys profiling on Luna L40S | pod5_10, 104,918 reads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920240"/>
          <a:ext cx="9509760" cy="3108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GPU Consumer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(small)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 30.8%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(large)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68.0%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+ FP8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 17.1% + FP8-GEMM 43.6%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402080" y="4783143"/>
            <a:ext cx="9509760" cy="160020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99616" y="4608576"/>
            <a:ext cx="9089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 is architecturally different - not just “bigger”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99616" y="4956048"/>
            <a:ext cx="9089136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 is a Transformer (like GPT), not an RNN at all. It uses FP8 quantization, an Ada Lovelace-native feature. That's why batch size collapses to 96 - the model is massive - and the CPU is almost constantly blocked waiting on the GPU.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has a genuinely different dominant kernel - there is no single “where Dorado spends its time” answer across models.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11233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Kernel Breakdown by Model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nsys profiling on Luna L40S (Ada Lovelace, 91.6 TFLOPS FP32) | 104,918 reads, same pod5 input across all models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691640"/>
          <a:ext cx="112014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1691640"/>
            <a:ext cx="11201400" cy="420624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 = matmul kernels. sup splits its time across five distinct kernel types - fast and hac are dominated by one or two.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Speedup vs CPU (log scale)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input - Luna 2× L40S vs Luna CPU (96 cores)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371600" y="4937760"/>
            <a:ext cx="941832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482803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371600" y="3728139"/>
            <a:ext cx="941832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618411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0" y="2641605"/>
            <a:ext cx="941832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31877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5min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371600" y="1828800"/>
            <a:ext cx="0" cy="310896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4113575"/>
            <a:ext cx="2682240" cy="824185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3875831"/>
            <a:ext cx="3139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33.9s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17320" y="4992624"/>
            <a:ext cx="304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005840" y="1810512"/>
            <a:ext cx="387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28.6× vs CPU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371600" y="534924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39640" y="3786881"/>
            <a:ext cx="2682240" cy="1150879"/>
          </a:xfrm>
          <a:prstGeom prst="rect">
            <a:avLst/>
          </a:prstGeom>
          <a:solidFill>
            <a:srgbClr val="1B4CA0"/>
          </a:solidFill>
          <a:ln/>
        </p:spPr>
      </p:sp>
      <p:sp>
        <p:nvSpPr>
          <p:cNvPr id="19" name="Text 17"/>
          <p:cNvSpPr/>
          <p:nvPr/>
        </p:nvSpPr>
        <p:spPr>
          <a:xfrm>
            <a:off x="4511040" y="3549137"/>
            <a:ext cx="3139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56760" y="4992624"/>
            <a:ext cx="304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145280" y="1810512"/>
            <a:ext cx="387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B4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107× vs CPU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511040" y="534924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887393" y="2722810"/>
            <a:ext cx="2682240" cy="2214950"/>
          </a:xfrm>
          <a:prstGeom prst="rect">
            <a:avLst/>
          </a:prstGeom>
          <a:solidFill>
            <a:srgbClr val="E23D28"/>
          </a:solidFill>
          <a:ln/>
        </p:spPr>
      </p:sp>
      <p:sp>
        <p:nvSpPr>
          <p:cNvPr id="24" name="Text 22"/>
          <p:cNvSpPr/>
          <p:nvPr/>
        </p:nvSpPr>
        <p:spPr>
          <a:xfrm>
            <a:off x="7650480" y="2485066"/>
            <a:ext cx="3139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96200" y="4992624"/>
            <a:ext cx="304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284720" y="1810512"/>
            <a:ext cx="387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23D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~3,000× vs CPU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650480" y="534924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5880" y="5788152"/>
            <a:ext cx="9418320" cy="77724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91056" y="5614416"/>
            <a:ext cx="8997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falls back to FP32 - no native FP8 on Xeon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91056" y="5961888"/>
            <a:ext cx="8997696" cy="155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sup's ~3,000× speedup is driven by FP8 tensor-core acceleration that simply doesn't exist on the CPU side - not just raw parallelism.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times shown are Luna GPU only. Full CPU vs GPU vs Orion comparison is on the next chart.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Dorado - Full Model Comparison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L40S | pod5_10, 104,918 reads | dorado v1.4.0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0698480" cy="201168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Attn%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vs CPU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sync-blocked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(large)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FP8+FP16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4m 26s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~3,000×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31920"/>
            <a:ext cx="11201400" cy="100584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6" name="Text 5"/>
          <p:cNvSpPr/>
          <p:nvPr/>
        </p:nvSpPr>
        <p:spPr>
          <a:xfrm>
            <a:off x="722376" y="4059936"/>
            <a:ext cx="10780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sits idle-blocked 96–99% of the time across all three models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22376" y="4407408"/>
            <a:ext cx="1078077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“Sync-blocked” = cudaStreamSynchronize + cudaEventSynchronize time. This means the GPU - not the CPU - always drives the pipeline. Even the “lightest” model (fast) leaves the CPU waiting 96.5% of wall time.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nsys 2025.1.3 | Luna L40S | Dorado v1.4.0 | models dna_r10.4.1_e8.2_400bps_v5.2.0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Kraken2 Database Hierarchy - Accuracy vs Cache Pressure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databases tested - ultra-targeted (6 genomes) to gold-standard (RefSeq + fungi/protozoa) | reads_hac, 32T, Luna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268833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Table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 Miss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sample_targeted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reference genomes (exact sample match)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eskape_650mb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 pathogens only (1,149 assemblies)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eskape_human_4gb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 + human genome (GRCh38)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standard_8gb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Bacteria + archaea + viral + plasmid + human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standard_16gb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as above, larger 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pluspf_103gb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103.4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+ protozoa + fungi (full RefSeq)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43484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Pre-cliff      </a:t>
            </a:r>
            <a:r>
              <a:rPr lang="en-US" sz="11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Bandwidth-saturated      </a:t>
            </a:r>
            <a:r>
              <a:rPr lang="en-US" sz="1100" dirty="0">
                <a:solidFill>
                  <a:srgbClr val="E23D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Amdahl-limited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4846320"/>
            <a:ext cx="11201400" cy="141732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6" name="Text 6"/>
          <p:cNvSpPr/>
          <p:nvPr/>
        </p:nvSpPr>
        <p:spPr>
          <a:xfrm>
            <a:off x="722376" y="4974336"/>
            <a:ext cx="10780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databases scale up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22376" y="5321808"/>
            <a:ext cx="10780776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rises (more organisms to match) but LLC miss rate rises too (more DRAM accesses per k-mer lookup). The 50 MB → 142 MB step crosses the cache cliff - LLC miss rate jumps from ~15% to ~31%. Luna's LLC is 210 MB; every database beyond sample_targeted exceeds effective cache capacity.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50 MB DB vs Gold-Standard 103 GB DB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rate | reads_hac, 32T, Luna | 104,918 reads total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194560" y="1691640"/>
          <a:ext cx="77724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2194560" y="1691640"/>
            <a:ext cx="7772400" cy="402336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50 MB custom DB misses 15% of reads entirely. The 103 GB gold-standard classifies 98.86% - species breakdown on next slide.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Species Composition - Same Sample, Different Picture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all reads | reads_hac, 32T, Luna | 104,918 reads total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600200"/>
          <a:ext cx="76809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1600200"/>
            <a:ext cx="7680960" cy="429768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1737360"/>
            <a:ext cx="3291840" cy="146304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31936" y="1865376"/>
            <a:ext cx="2871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baumannii - invisible to the 50 MB DB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31936" y="2212848"/>
            <a:ext cx="2871216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vs 0.33% - an ESKAPE pathogen, completely absent from the custom DB (NCBI genome suppressed).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412480" y="3383280"/>
            <a:ext cx="3291840" cy="237744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31936" y="3511296"/>
            <a:ext cx="2871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27% long tail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31936" y="3858768"/>
            <a:ext cx="28712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“Other classified” jumps from 0.59% to 26.86% - the 103 GB DB reveals a large microbial long tail that's structurally invisible to any narrow, targeted database, no matter how well-tuned.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Scaling - Luna (Xeon Platinum 8468, 96c)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vs thread count | reads_hac · numactl --cpunodebind=0 --membind=0 · 6 databases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691640"/>
          <a:ext cx="7863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1691640"/>
            <a:ext cx="7863840" cy="420624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828800"/>
            <a:ext cx="3108960" cy="182880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69096" y="195681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32T sweet spot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69096" y="2304288"/>
            <a:ext cx="268833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6 databases peak at 32 threads. The 103 GB DB alone keeps climbing to 96T - it's DRAM-saturated, never compute-bound, so more threads keep helping.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549640" y="3840480"/>
            <a:ext cx="3108960" cy="2011680"/>
          </a:xfrm>
          <a:prstGeom prst="rect">
            <a:avLst/>
          </a:prstGeom>
          <a:solidFill>
            <a:srgbClr val="F2F2F2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69096" y="396849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Ideal linear reference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769096" y="4315968"/>
            <a:ext cx="2688336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perfectly parallel workload would show 32× speedup at 32 threads. Only the 50 MB and 142 MB databases get close (21–22×) - everything larger is bottlenecked well before that ideal.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Scaling - Luna: Key Metrics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reads_hac, key thread counts (1T and 32T) across all 6 databases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9601200" cy="3200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1T Time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32T Time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Speedup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 Miss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IPC (1T)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 sample_targeted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21.3× @32T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 MB eskape_650mb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22.0× @64T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 eskape_human_4gb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10.6× @64T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 GB standard_8gb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3.5× @32T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GB standard_16gb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2.9× @32T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 GB pluspf_103gb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1.72× @96T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2416" y="5294376"/>
            <a:ext cx="100949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IPC collapses under DRAM pressure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42416" y="5641848"/>
            <a:ext cx="1009497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103 GB / 96T, IPC drops to 0.90 - more stall cycles than executed instructions. LLC Miss% rises with thread count on every database, since more concurrent threads means more simultaneous DRAM pressure.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Scaling - Orion (Jetson AGX Orin, 12c ARM)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vs thread count | reads_hac · sudo perf · 5 databases (103 GB DB does not fit 64 GB RAM)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691640"/>
          <a:ext cx="78638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1691640"/>
            <a:ext cx="7863840" cy="393192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828800"/>
            <a:ext cx="3108960" cy="146304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69096" y="195681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MB and 142 MB overlap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69096" y="2304288"/>
            <a:ext cx="2688336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Orion BOTH are post-cliff (SLC = 6 MB) - DB size stops changing miss rate once you're past the cliff.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549640" y="3429000"/>
            <a:ext cx="310896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69096" y="355701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35× smaller cache than Luna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769096" y="3904488"/>
            <a:ext cx="2688336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Orion's SLC is 6 MB vs Luna's 210 MB. That makes the 50 MB DB - pre-cliff on Luna - behave like a large, post-cliff database on ARM.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Scaling - Orion: Key Metrics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reads_hac, 1T and 12T across all 5 databases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9601200" cy="2743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1T Time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12T Time (s)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Speedup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 Miss %(1T)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IPC (1T)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 sample_targeted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11.4× @12T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 MB eskape_650mb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11.3× @12T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 eskape_human_4gb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9.4× @12T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 GB standard_8gb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5.5× @12T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GB standard_16gb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4.5× @12T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solidFill>
            <a:srgbClr val="FBEFDC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2416" y="4974336"/>
            <a:ext cx="100949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standard_8gb faster than 50 MB at 1T?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42416" y="5321808"/>
            <a:ext cx="100949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21.2s vs 47.5s - a different k-mer lookup pattern: the standard DB terminates lookups earlier with more successful matches (IPC 2.24 vs 1.00). All DBs are post-cliff on Orion, so classification efficiency - not DB size - drives wall time here.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Desktop: Kraken2 Thread Scaling (Dell OptiPlex 5090)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i7-11700 · 8 physical cores / 16 HT · 16 MB L3 · reads_hac × threads 1,2,4,8,16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737360"/>
          <a:ext cx="78638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1737360"/>
            <a:ext cx="7863840" cy="402336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828800"/>
            <a:ext cx="3108960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69096" y="195681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8-core physical ceiling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69096" y="2304288"/>
            <a:ext cx="2688336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 = the physical core count. Beyond that, gains come only from hyperthreading - a fundamentally different regime.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549640" y="3383280"/>
            <a:ext cx="3108960" cy="14173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69096" y="351129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HT: +46% for small DBs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769096" y="3858768"/>
            <a:ext cx="2688336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eskape_650mb: 5.55× (8T) → 8.11× (16T). Latency-bound workloads benefit most from HT.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49640" y="4937760"/>
            <a:ext cx="3108960" cy="109728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5065776"/>
            <a:ext cx="2688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HT: +4% for large DBs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769096" y="5413248"/>
            <a:ext cx="268833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standard_16gb: 2.42× (8T) → 2.51× (16T). HT is nearly useless once bandwidth-bound.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Desktop - Full Thread Scaling Data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databases × all thread counts (reads_hac)</a:t>
            </a:r>
            <a:endParaRPr 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201400" cy="2743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1T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8T speedup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16T speedup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 Miss% (1T)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IPC (1T)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eskape_51mb (51 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eskape_650mb (142 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8.11×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eskape_human_4gb (3.8 GB)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standard_8gb (7.6 GB)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standard_16gb (15 GB)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3-run averages, single NUMA node (no numactl needed), warmup discarded. eskape_51mb = custom 6-genome ESKAPE panel.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SCALING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Desktop - Key Observations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8-core Rocket Lake, 16 MB L3 - what the numbers reveal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5349240" cy="2103120"/>
          </a:xfrm>
          <a:prstGeom prst="rect">
            <a:avLst/>
          </a:prstGeom>
          <a:solidFill>
            <a:srgbClr val="FBEFDC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2376" y="181965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8-core ceiling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22376" y="2167128"/>
            <a:ext cx="492861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saturates at 8T for bandwidth-bound DBs (standard_8gb: 3.07×). Hyperthreading adds only ~10% more for large DBs - 8 physical cores already saturate DRAM bandwidth.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35040" y="1691640"/>
            <a:ext cx="5349240" cy="21031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4496" y="181965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 pays off for small DBs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54496" y="2167128"/>
            <a:ext cx="492861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eskape_650mb: 5.55× (8T) → 8.11× (16T) = +46%. Small DBs are latency-bound, not bandwidth-bound - the 2nd hyperthread hides memory stall of the 1st. Same pattern in eskape_51mb (+42%) and eskape_human_4gb (+35%).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977640"/>
            <a:ext cx="5349240" cy="210312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410565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IPC tells the real story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22376" y="4453128"/>
            <a:ext cx="492861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standard_8gb IPC = 2.17 despite 63% LLC miss rate - repetitive k-mers pipeline well (high MLP). eskape_human_4gb IPC = 1.20 despite similar miss rate - diverse k-mer space serializes misses. Miss rate alone doesn't predict throughput.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3977640"/>
            <a:ext cx="5349240" cy="210312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4496" y="4105656"/>
            <a:ext cx="4928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51 MB DB beats 650 MB DB by +19pp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54496" y="4453128"/>
            <a:ext cx="4928616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eskape_51mb classified 84.80% vs eskape_650mb's 65.28% - because it carries dedicated references for P. aeruginosa, E. coli, K. pneumoniae (this sample's dominant organisms). eskape_650mb classifies E. coli and K. pneumoniae reads as zero. Targeted panel wins on this sample.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Machine: Dell OptiPlex 5090 · i7-11700 · 8C/16T · 16 MB L3 · 32 GB RAM · Ubuntu 22.04.5 LTS. Databases on local disk; reads_hac (104,918 reads, 355 Mbp). Data from Chirag Suthar (hobbbit branch).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Throughput Is Input-Size-Invariant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FBE pod5 files merged → 1,865,971 reads · Luna L40S · 2026-06-29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1463040" y="1691640"/>
          <a:ext cx="63093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1463040" y="1691640"/>
            <a:ext cx="6309360" cy="310896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737360"/>
          <a:ext cx="3566160" cy="1677924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wall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wall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factor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5m 43.5s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6m 21.1s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4m 26s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67m 50.8s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8092440" y="3840480"/>
            <a:ext cx="3566160" cy="1920240"/>
          </a:xfrm>
          <a:prstGeom prst="rect">
            <a:avLst/>
          </a:prstGeom>
          <a:solidFill>
            <a:srgbClr val="E8F5E9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311896" y="3968496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differs by &lt; 1%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311896" y="4315968"/>
            <a:ext cx="3145536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L40S is always maximally utilized - single-file benchmarks (like slides 4–6) are fully representative of full-dataset behavior.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pod5 baseline = pod5_10. Merged = all 16 pod5 files via dorado directory input (pod5 merge v0.3.39 skipped - corrupted zstd blocks). 25 reads in pod5_9 skipped due to pre-existing disk corruption (0.001%).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32-Thread Parallelism Absorbs 17.85× More Reads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Kraken2 wall time, LLC miss%, classification% - single (104,918 reads) vs merged (1,865,971 reads)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MB DB (fits in LLC)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39496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Class.%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hac (104,918)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fast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11.11s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hac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11.10s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sup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12.18s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17920" y="16002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B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GB DB (DRAM-bound)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965960"/>
          <a:ext cx="539496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 (warm)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LLC%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Class.%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hac (104,918)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56.76s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fast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89.24s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hac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79.97s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sup (1,865,971)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77.31s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4160520"/>
            <a:ext cx="3611880" cy="173736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22376" y="4288536"/>
            <a:ext cx="3191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Kraken2 scales sub-linearly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22376" y="4636008"/>
            <a:ext cx="31912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17.85× more reads → only 2.52× more time (50 MB DB). 32-thread parallelism absorbs the input growth. Per-read cost drops as thread utilization increases.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251960" y="4160520"/>
            <a:ext cx="3611880" cy="1737360"/>
          </a:xfrm>
          <a:prstGeom prst="rect">
            <a:avLst/>
          </a:prstGeom>
          <a:solidFill>
            <a:srgbClr val="FBEFDC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71416" y="4288536"/>
            <a:ext cx="3191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LLC miss rate is DB-driven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71416" y="4636008"/>
            <a:ext cx="31912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MB DB: ~13% miss rate regardless of read count. 103 GB DB: ~73–75%. Cache behavior tracks database structure, not dataset size.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01000" y="4160520"/>
            <a:ext cx="3703320" cy="17373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0456" y="4288536"/>
            <a:ext cx="3282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Dorado GPU throughput invariant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220456" y="4636008"/>
            <a:ext cx="328269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L40S processes signal at a constant rate regardless of input size (see previous slide) - single-file benchmarks are fully representative.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7" name="Text 16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Dorado: GPU Acceleration vs CPU Baseline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L40S GPU vs Luna CPU vs Orion Ampere iGPU · pod5_10 (104,918 reads) · log-scale runtimes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737360" y="4892040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78231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737360" y="4436653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326925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3851437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741709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10min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37360" y="3396051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286323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737360" y="2588329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478601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1day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029891"/>
            <a:ext cx="9144000" cy="0"/>
          </a:xfrm>
          <a:prstGeom prst="line">
            <a:avLst/>
          </a:prstGeom>
          <a:noFill/>
          <a:ln w="9525">
            <a:solidFill>
              <a:srgbClr val="EFEF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1920163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9days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37360" y="1965960"/>
            <a:ext cx="0" cy="292608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4581759"/>
            <a:ext cx="863600" cy="310281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0" name="Text 18"/>
          <p:cNvSpPr/>
          <p:nvPr/>
        </p:nvSpPr>
        <p:spPr>
          <a:xfrm>
            <a:off x="1737360" y="4344015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33.9s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783080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371600" y="1481328"/>
            <a:ext cx="205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L40S: 28.6× vs CPU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902712" y="3951960"/>
            <a:ext cx="863600" cy="940080"/>
          </a:xfrm>
          <a:prstGeom prst="rect">
            <a:avLst/>
          </a:prstGeom>
          <a:solidFill>
            <a:srgbClr val="D98A2B"/>
          </a:solidFill>
          <a:ln/>
        </p:spPr>
      </p:sp>
      <p:sp>
        <p:nvSpPr>
          <p:cNvPr id="24" name="Text 22"/>
          <p:cNvSpPr/>
          <p:nvPr/>
        </p:nvSpPr>
        <p:spPr>
          <a:xfrm>
            <a:off x="2674112" y="3714216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19832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GPU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308352" y="1691640"/>
            <a:ext cx="205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Orion: 1.4× vs CPU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39464" y="3860054"/>
            <a:ext cx="863600" cy="1031986"/>
          </a:xfrm>
          <a:prstGeom prst="rect">
            <a:avLst/>
          </a:prstGeom>
          <a:solidFill>
            <a:srgbClr val="8B1E1E"/>
          </a:solidFill>
          <a:ln/>
        </p:spPr>
      </p:sp>
      <p:sp>
        <p:nvSpPr>
          <p:cNvPr id="28" name="Text 26"/>
          <p:cNvSpPr/>
          <p:nvPr/>
        </p:nvSpPr>
        <p:spPr>
          <a:xfrm>
            <a:off x="3610864" y="3622310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6584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CPU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737360" y="5303520"/>
            <a:ext cx="304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13960" y="4458768"/>
            <a:ext cx="863600" cy="433272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2" name="Text 30"/>
          <p:cNvSpPr/>
          <p:nvPr/>
        </p:nvSpPr>
        <p:spPr>
          <a:xfrm>
            <a:off x="4785360" y="4221024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31080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419600" y="1481328"/>
            <a:ext cx="205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L40S: 107× vs CPU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950712" y="2588329"/>
            <a:ext cx="863600" cy="2303711"/>
          </a:xfrm>
          <a:prstGeom prst="rect">
            <a:avLst/>
          </a:prstGeom>
          <a:solidFill>
            <a:srgbClr val="D98A2B">
              <a:alpha val="6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50712" y="2588329"/>
            <a:ext cx="863600" cy="2303711"/>
          </a:xfrm>
          <a:prstGeom prst="rect">
            <a:avLst/>
          </a:prstGeom>
          <a:ln w="15875">
            <a:solidFill>
              <a:srgbClr val="D98A2B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5722112" y="2350585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1.0d*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7832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GPU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356352" y="1691640"/>
            <a:ext cx="205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Orion: est. ~30×*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887464" y="3478173"/>
            <a:ext cx="863600" cy="1413867"/>
          </a:xfrm>
          <a:prstGeom prst="rect">
            <a:avLst/>
          </a:prstGeom>
          <a:solidFill>
            <a:srgbClr val="8B1E1E"/>
          </a:solidFill>
          <a:ln/>
        </p:spPr>
      </p:sp>
      <p:sp>
        <p:nvSpPr>
          <p:cNvPr id="41" name="Text 39"/>
          <p:cNvSpPr/>
          <p:nvPr/>
        </p:nvSpPr>
        <p:spPr>
          <a:xfrm>
            <a:off x="6658864" y="3240429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04584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CPU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785360" y="5303520"/>
            <a:ext cx="304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061960" y="4058176"/>
            <a:ext cx="863600" cy="833864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45" name="Text 43"/>
          <p:cNvSpPr/>
          <p:nvPr/>
        </p:nvSpPr>
        <p:spPr>
          <a:xfrm>
            <a:off x="7833360" y="3820432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879080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GPU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467600" y="1481328"/>
            <a:ext cx="205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L40S: ~3,000× vs CPU (est.)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998712" y="4526280"/>
            <a:ext cx="863600" cy="365760"/>
          </a:xfrm>
          <a:prstGeom prst="rect">
            <a:avLst/>
          </a:prstGeom>
          <a:solidFill>
            <a:srgbClr val="EEEEEE"/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8861552" y="4572000"/>
            <a:ext cx="113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815832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GPU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9935464" y="2029891"/>
            <a:ext cx="863600" cy="2862149"/>
          </a:xfrm>
          <a:prstGeom prst="rect">
            <a:avLst/>
          </a:prstGeom>
          <a:solidFill>
            <a:srgbClr val="8B1E1E">
              <a:alpha val="6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935464" y="2029891"/>
            <a:ext cx="863600" cy="2862149"/>
          </a:xfrm>
          <a:prstGeom prst="rect">
            <a:avLst/>
          </a:prstGeom>
          <a:ln w="15875">
            <a:solidFill>
              <a:srgbClr val="8B1E1E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9706864" y="1792147"/>
            <a:ext cx="132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9.0d*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752584" y="4946904"/>
            <a:ext cx="122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 CPU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833360" y="5303520"/>
            <a:ext cx="304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737360" y="1965960"/>
            <a:ext cx="9144000" cy="2926080"/>
          </a:xfrm>
          <a:prstGeom prst="rect">
            <a:avLst/>
          </a:prstGeom>
          <a:ln w="1270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Dashed bars = estimates. Orion HAC: ~1 day from progress bar before SSH disconnect. Luna CPU SUP: ~9 days from progress bar at 12 min; run cancelled. Orion SUP not run (impractical).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Architecture Changes With Each Model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total GPU time by kernel category - Luna L40S, nsys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2743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kernels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 (matrix multiply)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 search (CTC decode)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ops (attn, RMSNorm, FP8)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343400"/>
            <a:ext cx="11201400" cy="777240"/>
          </a:xfrm>
          <a:prstGeom prst="rect">
            <a:avLst/>
          </a:prstGeom>
          <a:solidFill>
            <a:srgbClr val="F0EAFB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2376" y="4471416"/>
            <a:ext cx="10780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3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 runs on fundamentally different hardware paths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22376" y="4818888"/>
            <a:ext cx="10780776" cy="155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 uses FP8 tensor cores (fp8_e4m3) - no CPU architecture supports native FP8. That single fact drives the ~3,000× GPU advantage seen on the previous chart.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5303520"/>
            <a:ext cx="11201400" cy="1051560"/>
          </a:xfrm>
          <a:prstGeom prst="rect">
            <a:avLst/>
          </a:prstGeom>
          <a:solidFill>
            <a:srgbClr val="FDECEA"/>
          </a:solidFill>
          <a:ln w="12700">
            <a:solidFill>
              <a:srgbClr val="8B1E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2376" y="5431536"/>
            <a:ext cx="10780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FP8 problem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22376" y="5779008"/>
            <a:ext cx="1078077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CPUs have no native FP8 support → dorado falls back to FP32 for every FP8 op. Luna's Xeon Platinum 8468 has AMX for BF16/INT8 - not FP8. Fused GPU kernels (e.g. mm_swiglu&lt;fp8&gt; = matmul + SwiGLU in one pass) split into separate CPU ops. Result: an estimated 9-day CPU runtime vs 4m 26s on GPU.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L40S Nearly Fully Occupied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utilization summary - CUDA API sync time, batch size, throughput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828800"/>
          <a:ext cx="9235440" cy="23774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time blocked in sync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 on L40S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(VRAM-limited)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 (sp/s)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2.35×10⁸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2.03×10⁸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1.98×10⁷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463040" y="4297680"/>
            <a:ext cx="9235440" cy="137160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82496" y="4425696"/>
            <a:ext cx="8814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GPU-paced, not CPU-paced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82496" y="4773168"/>
            <a:ext cx="8814816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96–99% of CUDA API time is cudaStreamSynchronize / cudaEventSynchronize - the CPU sits idle waiting for the GPU. Dorado is entirely GPU-paced. Orion is limited to batch=64 (unified memory constraint), which explains its slower speedup relative to Luna.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FBE01990_24778b97_03e50f91_10.pod5 (104,918 reads). Luna GPU: 2× NVIDIA L40S 46GB Ada Lovelace, dorado v1.4.0. Luna CPU: 96-core Xeon Platinum 8468, ~130 cores active. Orion: 2048-core Ampere iGPU, dorado v0.5.3, batch=64. nsys 2025.1.3.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 PROFILING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vs GPU: Why the Gap Compounds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Model-to-model slowdown - Luna GPU vs Luna CPU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20116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 CPU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penalty growth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→ hac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2.8× larger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 → sup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~298×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~62× larger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→ sup (total)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~1,340× slower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171× larger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" y="3520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sizes: fast GPU=320, hac GPU=2,944, sup GPU=96 (VRAM-limited by Transformer size). Orion GPU capped at batch=64 across all models (unified memory constraint).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" y="4114800"/>
            <a:ext cx="3383280" cy="2148840"/>
          </a:xfrm>
          <a:prstGeom prst="rect">
            <a:avLst/>
          </a:prstGeom>
          <a:solidFill>
            <a:srgbClr val="FDECEA"/>
          </a:solidFill>
          <a:ln w="12700">
            <a:solidFill>
              <a:srgbClr val="8B1E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4242816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B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SUP CPU takes ~9 days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042416" y="4590288"/>
            <a:ext cx="2962656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CPU architecture supports FP8. Xeon Platinum 8468 falls back to FP32 for every FP8 op. Fused GPU kernels split into separate CPU operations - the penalty compounds with every architectural improvement.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3400" y="4114800"/>
            <a:ext cx="3383280" cy="2148840"/>
          </a:xfrm>
          <a:prstGeom prst="rect">
            <a:avLst/>
          </a:prstGeom>
          <a:solidFill>
            <a:srgbClr val="FBEFDC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62856" y="4242816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Orion lags for hac/sup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62856" y="4590288"/>
            <a:ext cx="2962656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Ampere iGPU (2,048 cores) vs Ada Lovelace (18,176 CUDA + 568 tensor cores). Batch size capped at 64 (OOM at default) - underutilizes the GPU. HAC: ~1 day on Orion vs 55s on Luna.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863840" y="4114800"/>
            <a:ext cx="3474720" cy="2148840"/>
          </a:xfrm>
          <a:prstGeom prst="rect">
            <a:avLst/>
          </a:prstGeom>
          <a:solidFill>
            <a:srgbClr val="E8F5E9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3296" y="4242816"/>
            <a:ext cx="3054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implication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83296" y="4590288"/>
            <a:ext cx="3054096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 gives 99.3% classification accuracy (vs 84.7% for fast on the 50 MB DB). On CPU that takes ~9 days per run. On Luna L40S: 4m 26s. GPU is not optional for clinical-grade nanopore diagnostics.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TABLE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Cell-Width Reduction: Can We Halve the Hash Table?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Kraken2 source - CompactHashCell16 + CompactHashCell24 · ESKAPE 6-genome DB · 1,872,777 reads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2× size reduction - no other change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11201400" cy="175564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width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key/val bits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hash.k2d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32-bit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 (current)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1.00× baseline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/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0.75× (−25%)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/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0.50× (HALF)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703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works - but ONLY with a confidence threshold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40416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23D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threshold (-T 0) - false positives flood in</a:t>
            </a:r>
            <a:endParaRPr lang="en-US" sz="105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43400"/>
          <a:ext cx="5486400" cy="1463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90.39%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90.37%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172200" y="40416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threshold (-T 0.05) - fully converged</a:t>
            </a:r>
            <a:endParaRPr lang="en-US" sz="1050" dirty="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4343400"/>
          <a:ext cx="5532120" cy="1463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61.47%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61.47%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62.78%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 0.05 collapses the +21% false-positive flood down to +0.3–0.6% - 24-bit needs no threshold at all, matching 32-bit exactly (Δ=0).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TABLE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Cross-Phylum Inflation Proves Hash Collisions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20140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11201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out of 1,872,777 - 32-bit vs 16-bit, no threshold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6675120" cy="268833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 reads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 reads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 aeruginosa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983,897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1,061,599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K. pneumoniae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260,236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303,565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 cloacae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116,195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194,795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baumannii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40,301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 faecium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×7,118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709160"/>
            <a:ext cx="6675120" cy="1417320"/>
          </a:xfrm>
          <a:prstGeom prst="rect">
            <a:avLst/>
          </a:prstGeom>
          <a:solidFill>
            <a:srgbClr val="FDECEA"/>
          </a:solidFill>
          <a:ln w="12700">
            <a:solidFill>
              <a:srgbClr val="E23D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2376" y="4837176"/>
            <a:ext cx="6254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3D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hash collision proof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22376" y="5184648"/>
            <a:ext cx="6254496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faecium ×7,118 - this species shares zero 31-mers with the Gram-negative bacteria dominating this sample. All ~316k “new” reads come directly out of Unclassified. key_bits=10 means 1/1024 false-positive chance per minimizer lookup; long reads carry hundreds of minimizers, so spurious hits accumulate.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498080" y="16002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Size-vs-Safety Dial</a:t>
            </a:r>
            <a:endParaRPr lang="en-US" sz="13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20240"/>
          <a:ext cx="4206240" cy="237744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48.80 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36.60 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needed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trade-off - drop-in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24.40 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-T ≥ 0.05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smaller, clinically equivalent after threshold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498080" y="4709160"/>
            <a:ext cx="4206240" cy="1417320"/>
          </a:xfrm>
          <a:prstGeom prst="rect">
            <a:avLst/>
          </a:prstGeom>
          <a:solidFill>
            <a:srgbClr val="E8EEF9"/>
          </a:solidFill>
          <a:ln w="12700">
            <a:solidFill>
              <a:srgbClr val="1B4CA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17536" y="4837176"/>
            <a:ext cx="3785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impact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717536" y="5184648"/>
            <a:ext cx="3785616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16-bit ESKAPE DB (24.4 MB) sits deeper inside Luna's 210 MB LLC - every k-mer lookup stays in cache. 32-bit (48.80 MB) was already pre-cliff; 16-bit improves further still.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6492240"/>
            <a:ext cx="112014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6537960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24-bit is the recommended default: 25% smaller with zero workflow change. 16-bit is available for memory-constrained deployments that can tolerate the -T flag requirement.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338560" y="65562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" y="1737360"/>
            <a:ext cx="10085832" cy="3383280"/>
          </a:xfrm>
          <a:prstGeom prst="rect">
            <a:avLst/>
          </a:prstGeom>
          <a:ln w="15875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17320" y="2834640"/>
            <a:ext cx="93543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111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937760" y="3840480"/>
            <a:ext cx="22860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4023360"/>
            <a:ext cx="9354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Nanopore Project · Prof. Kolin Paul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17320" y="4343400"/>
            <a:ext cx="9354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Chirag Kathpalia  ·  Chirag Suthar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3955</Words>
  <Application>Microsoft Office PowerPoint</Application>
  <PresentationFormat>Widescreen</PresentationFormat>
  <Paragraphs>761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Nanopore / Kraken2 / Dorado Profiling</dc:title>
  <dc:subject>PptxGenJS Presentation</dc:subject>
  <dc:creator>CK</dc:creator>
  <cp:lastModifiedBy>user</cp:lastModifiedBy>
  <cp:revision>4</cp:revision>
  <dcterms:created xsi:type="dcterms:W3CDTF">2026-07-01T09:39:02Z</dcterms:created>
  <dcterms:modified xsi:type="dcterms:W3CDTF">2026-07-01T10:55:39Z</dcterms:modified>
</cp:coreProperties>
</file>