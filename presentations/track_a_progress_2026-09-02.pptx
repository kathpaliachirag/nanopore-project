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186994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182880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A - BRIEFING FOR SIR</a:t>
            </a:r>
          </a:p>
        </p:txBody>
      </p:sp>
      <p:sp>
        <p:nvSpPr>
          <p:cNvPr id="4" name="TextBox 3"/>
          <p:cNvSpPr txBox="1"/>
          <p:nvPr/>
        </p:nvSpPr>
        <p:spPr>
          <a:xfrm>
            <a:off x="548640" y="2286000"/>
            <a:ext cx="11094415" cy="1737360"/>
          </a:xfrm>
          <a:prstGeom prst="rect">
            <a:avLst/>
          </a:prstGeom>
          <a:noFill/>
        </p:spPr>
        <p:txBody>
          <a:bodyPr wrap="square" lIns="0" rIns="0" tIns="0" bIns="0">
            <a:spAutoFit/>
          </a:bodyPr>
          <a:lstStyle/>
          <a:p>
            <a:pPr algn="l">
              <a:lnSpc>
                <a:spcPct val="102000"/>
              </a:lnSpc>
              <a:spcBef>
                <a:spcPts val="0"/>
              </a:spcBef>
              <a:spcAft>
                <a:spcPts val="0"/>
              </a:spcAft>
            </a:pPr>
            <a:r>
              <a:rPr sz="4600" b="1" i="0">
                <a:solidFill>
                  <a:srgbClr val="1A1F1D"/>
                </a:solidFill>
                <a:latin typeface="Cambria"/>
              </a:rPr>
              <a:t>Six Stages, One Reversal</a:t>
            </a:r>
          </a:p>
        </p:txBody>
      </p:sp>
      <p:sp>
        <p:nvSpPr>
          <p:cNvPr id="5" name="TextBox 4"/>
          <p:cNvSpPr txBox="1"/>
          <p:nvPr/>
        </p:nvSpPr>
        <p:spPr>
          <a:xfrm>
            <a:off x="548640" y="3794760"/>
            <a:ext cx="9692640" cy="1005840"/>
          </a:xfrm>
          <a:prstGeom prst="rect">
            <a:avLst/>
          </a:prstGeom>
          <a:noFill/>
        </p:spPr>
        <p:txBody>
          <a:bodyPr wrap="square" lIns="0" rIns="0" tIns="0" bIns="0">
            <a:spAutoFit/>
          </a:bodyPr>
          <a:lstStyle/>
          <a:p>
            <a:pPr algn="l">
              <a:lnSpc>
                <a:spcPct val="135000"/>
              </a:lnSpc>
              <a:spcBef>
                <a:spcPts val="0"/>
              </a:spcBef>
              <a:spcAft>
                <a:spcPts val="0"/>
              </a:spcAft>
            </a:pPr>
            <a:r>
              <a:rPr sz="1800" b="0" i="0">
                <a:solidFill>
                  <a:srgbClr val="57615C"/>
                </a:solidFill>
                <a:latin typeface="Calibri"/>
              </a:rPr>
              <a:t>Two weeks since Meeting 11. Six build stages, three real bugs found and fixed, one of our own results reversed by better evidence, and one lever we haven't measured yet.</a:t>
            </a:r>
          </a:p>
        </p:txBody>
      </p:sp>
      <p:sp>
        <p:nvSpPr>
          <p:cNvPr id="6" name="TextBox 5"/>
          <p:cNvSpPr txBox="1"/>
          <p:nvPr/>
        </p:nvSpPr>
        <p:spPr>
          <a:xfrm>
            <a:off x="548640" y="5074920"/>
            <a:ext cx="11094415" cy="365760"/>
          </a:xfrm>
          <a:prstGeom prst="rect">
            <a:avLst/>
          </a:prstGeom>
          <a:noFill/>
        </p:spPr>
        <p:txBody>
          <a:bodyPr wrap="square" lIns="0" rIns="0" tIns="0" bIns="0">
            <a:spAutoFit/>
          </a:bodyPr>
          <a:lstStyle/>
          <a:p>
            <a:pPr algn="l">
              <a:lnSpc>
                <a:spcPct val="115000"/>
              </a:lnSpc>
              <a:spcBef>
                <a:spcPts val="0"/>
              </a:spcBef>
              <a:spcAft>
                <a:spcPts val="0"/>
              </a:spcAft>
            </a:pPr>
            <a:r>
              <a:rPr sz="1250" b="0" i="0">
                <a:solidFill>
                  <a:srgbClr val="828B86"/>
                </a:solidFill>
                <a:latin typeface="Consolas"/>
              </a:rPr>
              <a:t>Since 2026-08-19   ·   49 commits   ·   ~12 days to Sept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WHERE WE LEFT OFF</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Meeting 11 set the scope</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6" name="TextBox 5"/>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02 / 17</a:t>
            </a:r>
          </a:p>
        </p:txBody>
      </p:sp>
      <p:sp>
        <p:nvSpPr>
          <p:cNvPr id="7" name="TextBox 6"/>
          <p:cNvSpPr txBox="1"/>
          <p:nvPr/>
        </p:nvSpPr>
        <p:spPr>
          <a:xfrm>
            <a:off x="548640" y="1828800"/>
            <a:ext cx="11094415" cy="1828800"/>
          </a:xfrm>
          <a:prstGeom prst="rect">
            <a:avLst/>
          </a:prstGeom>
          <a:noFill/>
        </p:spPr>
        <p:txBody>
          <a:bodyPr wrap="square" lIns="0" rIns="0" tIns="0" bIns="0">
            <a:spAutoFit/>
          </a:bodyPr>
          <a:lstStyle/>
          <a:p>
            <a:pPr algn="l">
              <a:lnSpc>
                <a:spcPct val="130000"/>
              </a:lnSpc>
              <a:spcBef>
                <a:spcPts val="0"/>
              </a:spcBef>
              <a:spcAft>
                <a:spcPts val="0"/>
              </a:spcAft>
            </a:pPr>
            <a:r>
              <a:rPr sz="1700" b="0" i="0">
                <a:solidFill>
                  <a:srgbClr val="1A1F1D"/>
                </a:solidFill>
                <a:latin typeface="Calibri"/>
              </a:rPr>
              <a:t>At Meeting 11 (2026-08-19) you locked scope to three pieces on top of base Kraken2, aimed at a paper submission around 13 September 2026: the LLC-adaptive cache, the bitmask cell, and cell-width reduction. We split that into Track A (the cache) and Track B (bitmask + double hashing), and you asked us to finish Track A completely before starting Track B.</a:t>
            </a:r>
          </a:p>
        </p:txBody>
      </p:sp>
      <p:sp>
        <p:nvSpPr>
          <p:cNvPr id="8" name="Rounded Rectangle 7"/>
          <p:cNvSpPr/>
          <p:nvPr/>
        </p:nvSpPr>
        <p:spPr>
          <a:xfrm>
            <a:off x="548640" y="3931920"/>
            <a:ext cx="2476195" cy="292608"/>
          </a:xfrm>
          <a:prstGeom prst="roundRect">
            <a:avLst>
              <a:gd name="adj" fmla="val 50000"/>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9C7A1E"/>
                </a:solidFill>
                <a:latin typeface="Consolas"/>
              </a:rPr>
              <a:t>NO MEETING 12 RECORD FOUND</a:t>
            </a:r>
          </a:p>
        </p:txBody>
      </p:sp>
      <p:sp>
        <p:nvSpPr>
          <p:cNvPr id="9" name="TextBox 8"/>
          <p:cNvSpPr txBox="1"/>
          <p:nvPr/>
        </p:nvSpPr>
        <p:spPr>
          <a:xfrm>
            <a:off x="548640" y="4434840"/>
            <a:ext cx="10515600" cy="1188720"/>
          </a:xfrm>
          <a:prstGeom prst="rect">
            <a:avLst/>
          </a:prstGeom>
          <a:noFill/>
        </p:spPr>
        <p:txBody>
          <a:bodyPr wrap="square" lIns="0" rIns="0" tIns="0" bIns="0">
            <a:spAutoFit/>
          </a:bodyPr>
          <a:lstStyle/>
          <a:p>
            <a:pPr algn="l">
              <a:lnSpc>
                <a:spcPct val="135000"/>
              </a:lnSpc>
              <a:spcBef>
                <a:spcPts val="0"/>
              </a:spcBef>
              <a:spcAft>
                <a:spcPts val="0"/>
              </a:spcAft>
            </a:pPr>
            <a:r>
              <a:rPr sz="1550" b="0" i="1">
                <a:solidFill>
                  <a:srgbClr val="57615C"/>
                </a:solidFill>
                <a:latin typeface="Calibri"/>
              </a:rPr>
              <a:t>We can't find a record of the 2026-08-26 meeting this was supposed to report back at. If it happened, tell us and we'll reconcile the notes. If it didn't, this is the first time all of this is reaching you at once.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THE SHAPE OF TWO WEEKS</a:t>
            </a:r>
          </a:p>
        </p:txBody>
      </p:sp>
      <p:sp>
        <p:nvSpPr>
          <p:cNvPr id="4" name="TextBox 3"/>
          <p:cNvSpPr txBox="1"/>
          <p:nvPr/>
        </p:nvSpPr>
        <p:spPr>
          <a:xfrm>
            <a:off x="548640" y="868680"/>
            <a:ext cx="11094415" cy="548640"/>
          </a:xfrm>
          <a:prstGeom prst="rect">
            <a:avLst/>
          </a:prstGeom>
          <a:noFill/>
        </p:spPr>
        <p:txBody>
          <a:bodyPr wrap="square" lIns="0" rIns="0" tIns="0" bIns="0">
            <a:spAutoFit/>
          </a:bodyPr>
          <a:lstStyle/>
          <a:p>
            <a:pPr algn="l">
              <a:lnSpc>
                <a:spcPct val="115000"/>
              </a:lnSpc>
              <a:spcBef>
                <a:spcPts val="0"/>
              </a:spcBef>
              <a:spcAft>
                <a:spcPts val="0"/>
              </a:spcAft>
            </a:pPr>
            <a:r>
              <a:rPr sz="2800" b="1" i="0">
                <a:solidFill>
                  <a:srgbClr val="1A1F1D"/>
                </a:solidFill>
                <a:latin typeface="Cambria"/>
              </a:rPr>
              <a:t>Six build stages</a:t>
            </a:r>
          </a:p>
        </p:txBody>
      </p:sp>
      <p:cxnSp>
        <p:nvCxnSpPr>
          <p:cNvPr id="5" name="Connector 4"/>
          <p:cNvCxnSpPr/>
          <p:nvPr/>
        </p:nvCxnSpPr>
        <p:spPr>
          <a:xfrm>
            <a:off x="1404594.5833333335" y="1837944"/>
            <a:ext cx="9382505.833333332" cy="0"/>
          </a:xfrm>
          <a:prstGeom prst="line">
            <a:avLst/>
          </a:prstGeom>
          <a:ln w="15875">
            <a:solidFill>
              <a:srgbClr val="DCDDD9"/>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1304010" y="1737360"/>
            <a:ext cx="201168" cy="201168"/>
          </a:xfrm>
          <a:prstGeom prst="ellipse">
            <a:avLst/>
          </a:prstGeom>
          <a:solidFill>
            <a:srgbClr val="FFFFFF"/>
          </a:solidFill>
          <a:ln w="28575">
            <a:solidFill>
              <a:srgbClr val="828B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020824"/>
            <a:ext cx="1711909" cy="274320"/>
          </a:xfrm>
          <a:prstGeom prst="rect">
            <a:avLst/>
          </a:prstGeom>
          <a:noFill/>
        </p:spPr>
        <p:txBody>
          <a:bodyPr wrap="square" lIns="0" rIns="0" tIns="0" bIns="0">
            <a:spAutoFit/>
          </a:bodyPr>
          <a:lstStyle/>
          <a:p>
            <a:pPr algn="ctr">
              <a:lnSpc>
                <a:spcPct val="115000"/>
              </a:lnSpc>
              <a:spcBef>
                <a:spcPts val="0"/>
              </a:spcBef>
              <a:spcAft>
                <a:spcPts val="0"/>
              </a:spcAft>
            </a:pPr>
            <a:r>
              <a:rPr sz="1500" b="1" i="0">
                <a:solidFill>
                  <a:srgbClr val="1A1F1D"/>
                </a:solidFill>
                <a:latin typeface="Consolas"/>
              </a:rPr>
              <a:t>S0</a:t>
            </a:r>
          </a:p>
        </p:txBody>
      </p:sp>
      <p:sp>
        <p:nvSpPr>
          <p:cNvPr id="8" name="TextBox 7"/>
          <p:cNvSpPr txBox="1"/>
          <p:nvPr/>
        </p:nvSpPr>
        <p:spPr>
          <a:xfrm>
            <a:off x="502920" y="2295144"/>
            <a:ext cx="1803349" cy="457200"/>
          </a:xfrm>
          <a:prstGeom prst="rect">
            <a:avLst/>
          </a:prstGeom>
          <a:noFill/>
        </p:spPr>
        <p:txBody>
          <a:bodyPr wrap="square" lIns="0" rIns="0" tIns="0" bIns="0">
            <a:spAutoFit/>
          </a:bodyPr>
          <a:lstStyle/>
          <a:p>
            <a:pPr algn="ctr">
              <a:lnSpc>
                <a:spcPct val="105000"/>
              </a:lnSpc>
              <a:spcBef>
                <a:spcPts val="0"/>
              </a:spcBef>
              <a:spcAft>
                <a:spcPts val="0"/>
              </a:spcAft>
            </a:pPr>
            <a:r>
              <a:rPr sz="1050" b="0" i="0">
                <a:solidFill>
                  <a:srgbClr val="828B86"/>
                </a:solidFill>
                <a:latin typeface="Consolas"/>
              </a:rPr>
              <a:t>rebaseline</a:t>
            </a:r>
          </a:p>
        </p:txBody>
      </p:sp>
      <p:sp>
        <p:nvSpPr>
          <p:cNvPr id="9" name="Oval 8"/>
          <p:cNvSpPr/>
          <p:nvPr/>
        </p:nvSpPr>
        <p:spPr>
          <a:xfrm>
            <a:off x="3180511" y="1737360"/>
            <a:ext cx="201168" cy="201168"/>
          </a:xfrm>
          <a:prstGeom prst="ellipse">
            <a:avLst/>
          </a:prstGeom>
          <a:solidFill>
            <a:srgbClr val="FFFFFF"/>
          </a:solidFill>
          <a:ln w="28575">
            <a:solidFill>
              <a:srgbClr val="828B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25141" y="2020824"/>
            <a:ext cx="1711909" cy="274320"/>
          </a:xfrm>
          <a:prstGeom prst="rect">
            <a:avLst/>
          </a:prstGeom>
          <a:noFill/>
        </p:spPr>
        <p:txBody>
          <a:bodyPr wrap="square" lIns="0" rIns="0" tIns="0" bIns="0">
            <a:spAutoFit/>
          </a:bodyPr>
          <a:lstStyle/>
          <a:p>
            <a:pPr algn="ctr">
              <a:lnSpc>
                <a:spcPct val="115000"/>
              </a:lnSpc>
              <a:spcBef>
                <a:spcPts val="0"/>
              </a:spcBef>
              <a:spcAft>
                <a:spcPts val="0"/>
              </a:spcAft>
            </a:pPr>
            <a:r>
              <a:rPr sz="1500" b="1" i="0">
                <a:solidFill>
                  <a:srgbClr val="1A1F1D"/>
                </a:solidFill>
                <a:latin typeface="Consolas"/>
              </a:rPr>
              <a:t>S1</a:t>
            </a:r>
          </a:p>
        </p:txBody>
      </p:sp>
      <p:sp>
        <p:nvSpPr>
          <p:cNvPr id="11" name="TextBox 10"/>
          <p:cNvSpPr txBox="1"/>
          <p:nvPr/>
        </p:nvSpPr>
        <p:spPr>
          <a:xfrm>
            <a:off x="2379421" y="2295144"/>
            <a:ext cx="1803349" cy="457200"/>
          </a:xfrm>
          <a:prstGeom prst="rect">
            <a:avLst/>
          </a:prstGeom>
          <a:noFill/>
        </p:spPr>
        <p:txBody>
          <a:bodyPr wrap="square" lIns="0" rIns="0" tIns="0" bIns="0">
            <a:spAutoFit/>
          </a:bodyPr>
          <a:lstStyle/>
          <a:p>
            <a:pPr algn="ctr">
              <a:lnSpc>
                <a:spcPct val="105000"/>
              </a:lnSpc>
              <a:spcBef>
                <a:spcPts val="0"/>
              </a:spcBef>
              <a:spcAft>
                <a:spcPts val="0"/>
              </a:spcAft>
            </a:pPr>
            <a:r>
              <a:rPr sz="1050" b="0" i="0">
                <a:solidFill>
                  <a:srgbClr val="828B86"/>
                </a:solidFill>
                <a:latin typeface="Consolas"/>
              </a:rPr>
              <a:t>null, explained</a:t>
            </a:r>
          </a:p>
        </p:txBody>
      </p:sp>
      <p:sp>
        <p:nvSpPr>
          <p:cNvPr id="12" name="Oval 11"/>
          <p:cNvSpPr/>
          <p:nvPr/>
        </p:nvSpPr>
        <p:spPr>
          <a:xfrm>
            <a:off x="5057012" y="1737360"/>
            <a:ext cx="201168" cy="201168"/>
          </a:xfrm>
          <a:prstGeom prst="ellipse">
            <a:avLst/>
          </a:prstGeom>
          <a:solidFill>
            <a:srgbClr val="FFFFFF"/>
          </a:solidFill>
          <a:ln w="28575">
            <a:solidFill>
              <a:srgbClr val="B84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01642" y="2020824"/>
            <a:ext cx="1711909" cy="274320"/>
          </a:xfrm>
          <a:prstGeom prst="rect">
            <a:avLst/>
          </a:prstGeom>
          <a:noFill/>
        </p:spPr>
        <p:txBody>
          <a:bodyPr wrap="square" lIns="0" rIns="0" tIns="0" bIns="0">
            <a:spAutoFit/>
          </a:bodyPr>
          <a:lstStyle/>
          <a:p>
            <a:pPr algn="ctr">
              <a:lnSpc>
                <a:spcPct val="115000"/>
              </a:lnSpc>
              <a:spcBef>
                <a:spcPts val="0"/>
              </a:spcBef>
              <a:spcAft>
                <a:spcPts val="0"/>
              </a:spcAft>
            </a:pPr>
            <a:r>
              <a:rPr sz="1500" b="1" i="0">
                <a:solidFill>
                  <a:srgbClr val="1A1F1D"/>
                </a:solidFill>
                <a:latin typeface="Consolas"/>
              </a:rPr>
              <a:t>S2</a:t>
            </a:r>
          </a:p>
        </p:txBody>
      </p:sp>
      <p:sp>
        <p:nvSpPr>
          <p:cNvPr id="14" name="TextBox 13"/>
          <p:cNvSpPr txBox="1"/>
          <p:nvPr/>
        </p:nvSpPr>
        <p:spPr>
          <a:xfrm>
            <a:off x="4255922" y="2295144"/>
            <a:ext cx="1803349" cy="457200"/>
          </a:xfrm>
          <a:prstGeom prst="rect">
            <a:avLst/>
          </a:prstGeom>
          <a:noFill/>
        </p:spPr>
        <p:txBody>
          <a:bodyPr wrap="square" lIns="0" rIns="0" tIns="0" bIns="0">
            <a:spAutoFit/>
          </a:bodyPr>
          <a:lstStyle/>
          <a:p>
            <a:pPr algn="ctr">
              <a:lnSpc>
                <a:spcPct val="105000"/>
              </a:lnSpc>
              <a:spcBef>
                <a:spcPts val="0"/>
              </a:spcBef>
              <a:spcAft>
                <a:spcPts val="0"/>
              </a:spcAft>
            </a:pPr>
            <a:r>
              <a:rPr sz="1050" b="0" i="0">
                <a:solidFill>
                  <a:srgbClr val="B8452E"/>
                </a:solidFill>
                <a:latin typeface="Consolas"/>
              </a:rPr>
              <a:t>bug caught</a:t>
            </a:r>
          </a:p>
        </p:txBody>
      </p:sp>
      <p:sp>
        <p:nvSpPr>
          <p:cNvPr id="15" name="Oval 14"/>
          <p:cNvSpPr/>
          <p:nvPr/>
        </p:nvSpPr>
        <p:spPr>
          <a:xfrm>
            <a:off x="6933514" y="1737360"/>
            <a:ext cx="201168" cy="201168"/>
          </a:xfrm>
          <a:prstGeom prst="ellipse">
            <a:avLst/>
          </a:prstGeom>
          <a:solidFill>
            <a:srgbClr val="FFFFFF"/>
          </a:solidFill>
          <a:ln w="28575">
            <a:solidFill>
              <a:srgbClr val="3F7D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8143" y="2020824"/>
            <a:ext cx="1711909" cy="274320"/>
          </a:xfrm>
          <a:prstGeom prst="rect">
            <a:avLst/>
          </a:prstGeom>
          <a:noFill/>
        </p:spPr>
        <p:txBody>
          <a:bodyPr wrap="square" lIns="0" rIns="0" tIns="0" bIns="0">
            <a:spAutoFit/>
          </a:bodyPr>
          <a:lstStyle/>
          <a:p>
            <a:pPr algn="ctr">
              <a:lnSpc>
                <a:spcPct val="115000"/>
              </a:lnSpc>
              <a:spcBef>
                <a:spcPts val="0"/>
              </a:spcBef>
              <a:spcAft>
                <a:spcPts val="0"/>
              </a:spcAft>
            </a:pPr>
            <a:r>
              <a:rPr sz="1500" b="1" i="0">
                <a:solidFill>
                  <a:srgbClr val="1A1F1D"/>
                </a:solidFill>
                <a:latin typeface="Consolas"/>
              </a:rPr>
              <a:t>S3</a:t>
            </a:r>
          </a:p>
        </p:txBody>
      </p:sp>
      <p:sp>
        <p:nvSpPr>
          <p:cNvPr id="17" name="TextBox 16"/>
          <p:cNvSpPr txBox="1"/>
          <p:nvPr/>
        </p:nvSpPr>
        <p:spPr>
          <a:xfrm>
            <a:off x="6132423" y="2295144"/>
            <a:ext cx="1803349" cy="457200"/>
          </a:xfrm>
          <a:prstGeom prst="rect">
            <a:avLst/>
          </a:prstGeom>
          <a:noFill/>
        </p:spPr>
        <p:txBody>
          <a:bodyPr wrap="square" lIns="0" rIns="0" tIns="0" bIns="0">
            <a:spAutoFit/>
          </a:bodyPr>
          <a:lstStyle/>
          <a:p>
            <a:pPr algn="ctr">
              <a:lnSpc>
                <a:spcPct val="105000"/>
              </a:lnSpc>
              <a:spcBef>
                <a:spcPts val="0"/>
              </a:spcBef>
              <a:spcAft>
                <a:spcPts val="0"/>
              </a:spcAft>
            </a:pPr>
            <a:r>
              <a:rPr sz="1050" b="0" i="0">
                <a:solidFill>
                  <a:srgbClr val="3F7D4F"/>
                </a:solidFill>
                <a:latin typeface="Consolas"/>
              </a:rPr>
              <a:t>2 bugs fixed</a:t>
            </a:r>
          </a:p>
        </p:txBody>
      </p:sp>
      <p:sp>
        <p:nvSpPr>
          <p:cNvPr id="18" name="Oval 17"/>
          <p:cNvSpPr/>
          <p:nvPr/>
        </p:nvSpPr>
        <p:spPr>
          <a:xfrm>
            <a:off x="8810015" y="1737360"/>
            <a:ext cx="201168" cy="201168"/>
          </a:xfrm>
          <a:prstGeom prst="ellipse">
            <a:avLst/>
          </a:prstGeom>
          <a:solidFill>
            <a:srgbClr val="FFFFFF"/>
          </a:solidFill>
          <a:ln w="28575">
            <a:solidFill>
              <a:srgbClr val="B845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54644" y="2020824"/>
            <a:ext cx="1711909" cy="274320"/>
          </a:xfrm>
          <a:prstGeom prst="rect">
            <a:avLst/>
          </a:prstGeom>
          <a:noFill/>
        </p:spPr>
        <p:txBody>
          <a:bodyPr wrap="square" lIns="0" rIns="0" tIns="0" bIns="0">
            <a:spAutoFit/>
          </a:bodyPr>
          <a:lstStyle/>
          <a:p>
            <a:pPr algn="ctr">
              <a:lnSpc>
                <a:spcPct val="115000"/>
              </a:lnSpc>
              <a:spcBef>
                <a:spcPts val="0"/>
              </a:spcBef>
              <a:spcAft>
                <a:spcPts val="0"/>
              </a:spcAft>
            </a:pPr>
            <a:r>
              <a:rPr sz="1500" b="1" i="0">
                <a:solidFill>
                  <a:srgbClr val="1A1F1D"/>
                </a:solidFill>
                <a:latin typeface="Consolas"/>
              </a:rPr>
              <a:t>S4</a:t>
            </a:r>
          </a:p>
        </p:txBody>
      </p:sp>
      <p:sp>
        <p:nvSpPr>
          <p:cNvPr id="20" name="TextBox 19"/>
          <p:cNvSpPr txBox="1"/>
          <p:nvPr/>
        </p:nvSpPr>
        <p:spPr>
          <a:xfrm>
            <a:off x="8008924" y="2295144"/>
            <a:ext cx="1803349" cy="457200"/>
          </a:xfrm>
          <a:prstGeom prst="rect">
            <a:avLst/>
          </a:prstGeom>
          <a:noFill/>
        </p:spPr>
        <p:txBody>
          <a:bodyPr wrap="square" lIns="0" rIns="0" tIns="0" bIns="0">
            <a:spAutoFit/>
          </a:bodyPr>
          <a:lstStyle/>
          <a:p>
            <a:pPr algn="ctr">
              <a:lnSpc>
                <a:spcPct val="105000"/>
              </a:lnSpc>
              <a:spcBef>
                <a:spcPts val="0"/>
              </a:spcBef>
              <a:spcAft>
                <a:spcPts val="0"/>
              </a:spcAft>
            </a:pPr>
            <a:r>
              <a:rPr sz="1050" b="0" i="0">
                <a:solidFill>
                  <a:srgbClr val="B8452E"/>
                </a:solidFill>
                <a:latin typeface="Consolas"/>
              </a:rPr>
              <a:t>reversal</a:t>
            </a:r>
          </a:p>
        </p:txBody>
      </p:sp>
      <p:sp>
        <p:nvSpPr>
          <p:cNvPr id="21" name="Oval 20"/>
          <p:cNvSpPr/>
          <p:nvPr/>
        </p:nvSpPr>
        <p:spPr>
          <a:xfrm>
            <a:off x="10686516" y="1737360"/>
            <a:ext cx="201168" cy="201168"/>
          </a:xfrm>
          <a:prstGeom prst="ellipse">
            <a:avLst/>
          </a:prstGeom>
          <a:solidFill>
            <a:srgbClr val="FFFFFF"/>
          </a:solidFill>
          <a:ln w="28575">
            <a:solidFill>
              <a:srgbClr val="9C7A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31145" y="2020824"/>
            <a:ext cx="1711909" cy="274320"/>
          </a:xfrm>
          <a:prstGeom prst="rect">
            <a:avLst/>
          </a:prstGeom>
          <a:noFill/>
        </p:spPr>
        <p:txBody>
          <a:bodyPr wrap="square" lIns="0" rIns="0" tIns="0" bIns="0">
            <a:spAutoFit/>
          </a:bodyPr>
          <a:lstStyle/>
          <a:p>
            <a:pPr algn="ctr">
              <a:lnSpc>
                <a:spcPct val="115000"/>
              </a:lnSpc>
              <a:spcBef>
                <a:spcPts val="0"/>
              </a:spcBef>
              <a:spcAft>
                <a:spcPts val="0"/>
              </a:spcAft>
            </a:pPr>
            <a:r>
              <a:rPr sz="1500" b="1" i="0">
                <a:solidFill>
                  <a:srgbClr val="1A1F1D"/>
                </a:solidFill>
                <a:latin typeface="Consolas"/>
              </a:rPr>
              <a:t>S5</a:t>
            </a:r>
          </a:p>
        </p:txBody>
      </p:sp>
      <p:sp>
        <p:nvSpPr>
          <p:cNvPr id="23" name="TextBox 22"/>
          <p:cNvSpPr txBox="1"/>
          <p:nvPr/>
        </p:nvSpPr>
        <p:spPr>
          <a:xfrm>
            <a:off x="9885425" y="2295144"/>
            <a:ext cx="1803349" cy="457200"/>
          </a:xfrm>
          <a:prstGeom prst="rect">
            <a:avLst/>
          </a:prstGeom>
          <a:noFill/>
        </p:spPr>
        <p:txBody>
          <a:bodyPr wrap="square" lIns="0" rIns="0" tIns="0" bIns="0">
            <a:spAutoFit/>
          </a:bodyPr>
          <a:lstStyle/>
          <a:p>
            <a:pPr algn="ctr">
              <a:lnSpc>
                <a:spcPct val="105000"/>
              </a:lnSpc>
              <a:spcBef>
                <a:spcPts val="0"/>
              </a:spcBef>
              <a:spcAft>
                <a:spcPts val="0"/>
              </a:spcAft>
            </a:pPr>
            <a:r>
              <a:rPr sz="1050" b="0" i="0">
                <a:solidFill>
                  <a:srgbClr val="9C7A1E"/>
                </a:solidFill>
                <a:latin typeface="Consolas"/>
              </a:rPr>
              <a:t>not yet run</a:t>
            </a:r>
          </a:p>
        </p:txBody>
      </p:sp>
      <p:sp>
        <p:nvSpPr>
          <p:cNvPr id="24" name="TextBox 23"/>
          <p:cNvSpPr txBox="1"/>
          <p:nvPr/>
        </p:nvSpPr>
        <p:spPr>
          <a:xfrm>
            <a:off x="548640" y="3200400"/>
            <a:ext cx="10607040" cy="2377440"/>
          </a:xfrm>
          <a:prstGeom prst="rect">
            <a:avLst/>
          </a:prstGeom>
          <a:noFill/>
        </p:spPr>
        <p:txBody>
          <a:bodyPr wrap="square" lIns="0" rIns="0" tIns="0" bIns="0">
            <a:spAutoFit/>
          </a:bodyPr>
          <a:lstStyle/>
          <a:p>
            <a:pPr algn="l">
              <a:lnSpc>
                <a:spcPct val="140000"/>
              </a:lnSpc>
              <a:spcBef>
                <a:spcPts val="0"/>
              </a:spcBef>
              <a:spcAft>
                <a:spcPts val="0"/>
              </a:spcAft>
            </a:pPr>
            <a:r>
              <a:rPr sz="1800" b="1" i="0">
                <a:solidFill>
                  <a:srgbClr val="1A1F1D"/>
                </a:solidFill>
                <a:latin typeface="Calibri"/>
              </a:rPr>
              <a:t>The honest one-line version: </a:t>
            </a:r>
            <a:r>
              <a:rPr sz="1800" b="1" i="0">
                <a:solidFill>
                  <a:srgbClr val="0E7C68"/>
                </a:solidFill>
                <a:latin typeface="Calibri"/>
              </a:rPr>
              <a:t>we did not walk in a straight line to a finished cache.</a:t>
            </a:r>
          </a:p>
          <a:p>
            <a:pPr algn="l">
              <a:lnSpc>
                <a:spcPct val="140000"/>
              </a:lnSpc>
              <a:spcBef>
                <a:spcPts val="0"/>
              </a:spcBef>
              <a:spcAft>
                <a:spcPts val="0"/>
              </a:spcAft>
            </a:pPr>
            <a:r>
              <a:rPr sz="1700" b="0" i="0">
                <a:solidFill>
                  <a:srgbClr val="57615C"/>
                </a:solidFill>
                <a:latin typeface="Calibri"/>
              </a:rPr>
              <a:t>We found real bugs at almost every stage, one of our own headline results turned out to be an artifact and we caught it before building more on top of it, and the strongest lever left standing hasn't been measured yet.</a:t>
            </a:r>
          </a:p>
        </p:txBody>
      </p:sp>
      <p:sp>
        <p:nvSpPr>
          <p:cNvPr id="25" name="TextBox 2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26" name="TextBox 25"/>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03 / 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HEADLINE NUMBERS</a:t>
            </a:r>
          </a:p>
        </p:txBody>
      </p:sp>
      <p:sp>
        <p:nvSpPr>
          <p:cNvPr id="4" name="Rounded Rectangle 3"/>
          <p:cNvSpPr/>
          <p:nvPr/>
        </p:nvSpPr>
        <p:spPr>
          <a:xfrm>
            <a:off x="548640" y="1234440"/>
            <a:ext cx="2663875" cy="1554480"/>
          </a:xfrm>
          <a:prstGeom prst="roundRect">
            <a:avLst>
              <a:gd name="adj" fmla="val 4500"/>
            </a:avLst>
          </a:prstGeom>
          <a:solidFill>
            <a:srgbClr val="FFFFFF"/>
          </a:solidFill>
          <a:ln w="12700">
            <a:solidFill>
              <a:srgbClr val="DC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94944" y="1362456"/>
            <a:ext cx="2371267" cy="566928"/>
          </a:xfrm>
          <a:prstGeom prst="rect">
            <a:avLst/>
          </a:prstGeom>
          <a:noFill/>
        </p:spPr>
        <p:txBody>
          <a:bodyPr wrap="square" lIns="0" rIns="0" tIns="0" bIns="0">
            <a:spAutoFit/>
          </a:bodyPr>
          <a:lstStyle/>
          <a:p>
            <a:pPr algn="l">
              <a:lnSpc>
                <a:spcPct val="115000"/>
              </a:lnSpc>
              <a:spcBef>
                <a:spcPts val="0"/>
              </a:spcBef>
              <a:spcAft>
                <a:spcPts val="0"/>
              </a:spcAft>
            </a:pPr>
            <a:r>
              <a:rPr sz="2500" b="1" i="0">
                <a:solidFill>
                  <a:srgbClr val="0E7C68"/>
                </a:solidFill>
                <a:latin typeface="Consolas"/>
              </a:rPr>
              <a:t>3</a:t>
            </a:r>
          </a:p>
        </p:txBody>
      </p:sp>
      <p:sp>
        <p:nvSpPr>
          <p:cNvPr id="6" name="TextBox 5"/>
          <p:cNvSpPr txBox="1"/>
          <p:nvPr/>
        </p:nvSpPr>
        <p:spPr>
          <a:xfrm>
            <a:off x="694944" y="1947672"/>
            <a:ext cx="2371267" cy="731520"/>
          </a:xfrm>
          <a:prstGeom prst="rect">
            <a:avLst/>
          </a:prstGeom>
          <a:noFill/>
        </p:spPr>
        <p:txBody>
          <a:bodyPr wrap="square" lIns="0" rIns="0" tIns="0" bIns="0">
            <a:spAutoFit/>
          </a:bodyPr>
          <a:lstStyle/>
          <a:p>
            <a:pPr algn="l">
              <a:lnSpc>
                <a:spcPct val="115000"/>
              </a:lnSpc>
              <a:spcBef>
                <a:spcPts val="0"/>
              </a:spcBef>
              <a:spcAft>
                <a:spcPts val="0"/>
              </a:spcAft>
            </a:pPr>
            <a:r>
              <a:rPr sz="1150" b="0" i="0">
                <a:solidFill>
                  <a:srgbClr val="57615C"/>
                </a:solidFill>
                <a:latin typeface="Calibri"/>
              </a:rPr>
              <a:t>real bugs found and fixed in the committed tree</a:t>
            </a:r>
          </a:p>
        </p:txBody>
      </p:sp>
      <p:sp>
        <p:nvSpPr>
          <p:cNvPr id="7" name="Rounded Rectangle 6"/>
          <p:cNvSpPr/>
          <p:nvPr/>
        </p:nvSpPr>
        <p:spPr>
          <a:xfrm>
            <a:off x="3358819" y="1234440"/>
            <a:ext cx="2663875" cy="1554480"/>
          </a:xfrm>
          <a:prstGeom prst="roundRect">
            <a:avLst>
              <a:gd name="adj" fmla="val 4500"/>
            </a:avLst>
          </a:prstGeom>
          <a:solidFill>
            <a:srgbClr val="FFFFFF"/>
          </a:solidFill>
          <a:ln w="12700">
            <a:solidFill>
              <a:srgbClr val="DC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05123" y="1362456"/>
            <a:ext cx="2371267" cy="566928"/>
          </a:xfrm>
          <a:prstGeom prst="rect">
            <a:avLst/>
          </a:prstGeom>
          <a:noFill/>
        </p:spPr>
        <p:txBody>
          <a:bodyPr wrap="square" lIns="0" rIns="0" tIns="0" bIns="0">
            <a:spAutoFit/>
          </a:bodyPr>
          <a:lstStyle/>
          <a:p>
            <a:pPr algn="l">
              <a:lnSpc>
                <a:spcPct val="115000"/>
              </a:lnSpc>
              <a:spcBef>
                <a:spcPts val="0"/>
              </a:spcBef>
              <a:spcAft>
                <a:spcPts val="0"/>
              </a:spcAft>
            </a:pPr>
            <a:r>
              <a:rPr sz="2500" b="1" i="0">
                <a:solidFill>
                  <a:srgbClr val="0E7C68"/>
                </a:solidFill>
                <a:latin typeface="Consolas"/>
              </a:rPr>
              <a:t>8.9x</a:t>
            </a:r>
          </a:p>
        </p:txBody>
      </p:sp>
      <p:sp>
        <p:nvSpPr>
          <p:cNvPr id="9" name="TextBox 8"/>
          <p:cNvSpPr txBox="1"/>
          <p:nvPr/>
        </p:nvSpPr>
        <p:spPr>
          <a:xfrm>
            <a:off x="3505123" y="1947672"/>
            <a:ext cx="2371267" cy="731520"/>
          </a:xfrm>
          <a:prstGeom prst="rect">
            <a:avLst/>
          </a:prstGeom>
          <a:noFill/>
        </p:spPr>
        <p:txBody>
          <a:bodyPr wrap="square" lIns="0" rIns="0" tIns="0" bIns="0">
            <a:spAutoFit/>
          </a:bodyPr>
          <a:lstStyle/>
          <a:p>
            <a:pPr algn="l">
              <a:lnSpc>
                <a:spcPct val="115000"/>
              </a:lnSpc>
              <a:spcBef>
                <a:spcPts val="0"/>
              </a:spcBef>
              <a:spcAft>
                <a:spcPts val="0"/>
              </a:spcAft>
            </a:pPr>
            <a:r>
              <a:rPr sz="1150" b="0" i="0">
                <a:solidFill>
                  <a:srgbClr val="57615C"/>
                </a:solidFill>
                <a:latin typeface="Calibri"/>
              </a:rPr>
              <a:t>hit-rate jump from one hash-mixing fix</a:t>
            </a:r>
          </a:p>
        </p:txBody>
      </p:sp>
      <p:sp>
        <p:nvSpPr>
          <p:cNvPr id="10" name="Rounded Rectangle 9"/>
          <p:cNvSpPr/>
          <p:nvPr/>
        </p:nvSpPr>
        <p:spPr>
          <a:xfrm>
            <a:off x="6168999" y="1234440"/>
            <a:ext cx="2663875" cy="1554480"/>
          </a:xfrm>
          <a:prstGeom prst="roundRect">
            <a:avLst>
              <a:gd name="adj" fmla="val 4500"/>
            </a:avLst>
          </a:prstGeom>
          <a:solidFill>
            <a:srgbClr val="FFFFFF"/>
          </a:solidFill>
          <a:ln w="12700">
            <a:solidFill>
              <a:srgbClr val="DC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5303" y="1362456"/>
            <a:ext cx="2371267" cy="566928"/>
          </a:xfrm>
          <a:prstGeom prst="rect">
            <a:avLst/>
          </a:prstGeom>
          <a:noFill/>
        </p:spPr>
        <p:txBody>
          <a:bodyPr wrap="square" lIns="0" rIns="0" tIns="0" bIns="0">
            <a:spAutoFit/>
          </a:bodyPr>
          <a:lstStyle/>
          <a:p>
            <a:pPr algn="l">
              <a:lnSpc>
                <a:spcPct val="115000"/>
              </a:lnSpc>
              <a:spcBef>
                <a:spcPts val="0"/>
              </a:spcBef>
              <a:spcAft>
                <a:spcPts val="0"/>
              </a:spcAft>
            </a:pPr>
            <a:r>
              <a:rPr sz="2500" b="1" i="0">
                <a:solidFill>
                  <a:srgbClr val="B8452E"/>
                </a:solidFill>
                <a:latin typeface="Consolas"/>
              </a:rPr>
              <a:t>+25% -&gt; -4%</a:t>
            </a:r>
          </a:p>
        </p:txBody>
      </p:sp>
      <p:sp>
        <p:nvSpPr>
          <p:cNvPr id="12" name="TextBox 11"/>
          <p:cNvSpPr txBox="1"/>
          <p:nvPr/>
        </p:nvSpPr>
        <p:spPr>
          <a:xfrm>
            <a:off x="6315303" y="1947672"/>
            <a:ext cx="2371267" cy="731520"/>
          </a:xfrm>
          <a:prstGeom prst="rect">
            <a:avLst/>
          </a:prstGeom>
          <a:noFill/>
        </p:spPr>
        <p:txBody>
          <a:bodyPr wrap="square" lIns="0" rIns="0" tIns="0" bIns="0">
            <a:spAutoFit/>
          </a:bodyPr>
          <a:lstStyle/>
          <a:p>
            <a:pPr algn="l">
              <a:lnSpc>
                <a:spcPct val="115000"/>
              </a:lnSpc>
              <a:spcBef>
                <a:spcPts val="0"/>
              </a:spcBef>
              <a:spcAft>
                <a:spcPts val="0"/>
              </a:spcAft>
            </a:pPr>
            <a:r>
              <a:rPr sz="1150" b="0" i="0">
                <a:solidFill>
                  <a:srgbClr val="57615C"/>
                </a:solidFill>
                <a:latin typeface="Calibri"/>
              </a:rPr>
              <a:t>our own eviction result, reversed on the fixed hash</a:t>
            </a:r>
          </a:p>
        </p:txBody>
      </p:sp>
      <p:sp>
        <p:nvSpPr>
          <p:cNvPr id="13" name="Rounded Rectangle 12"/>
          <p:cNvSpPr/>
          <p:nvPr/>
        </p:nvSpPr>
        <p:spPr>
          <a:xfrm>
            <a:off x="8979179" y="1234440"/>
            <a:ext cx="2663875" cy="1554480"/>
          </a:xfrm>
          <a:prstGeom prst="roundRect">
            <a:avLst>
              <a:gd name="adj" fmla="val 4500"/>
            </a:avLst>
          </a:prstGeom>
          <a:solidFill>
            <a:srgbClr val="FFFFFF"/>
          </a:solidFill>
          <a:ln w="12700">
            <a:solidFill>
              <a:srgbClr val="DCDD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25483" y="1362456"/>
            <a:ext cx="2371267" cy="566928"/>
          </a:xfrm>
          <a:prstGeom prst="rect">
            <a:avLst/>
          </a:prstGeom>
          <a:noFill/>
        </p:spPr>
        <p:txBody>
          <a:bodyPr wrap="square" lIns="0" rIns="0" tIns="0" bIns="0">
            <a:spAutoFit/>
          </a:bodyPr>
          <a:lstStyle/>
          <a:p>
            <a:pPr algn="l">
              <a:lnSpc>
                <a:spcPct val="115000"/>
              </a:lnSpc>
              <a:spcBef>
                <a:spcPts val="0"/>
              </a:spcBef>
              <a:spcAft>
                <a:spcPts val="0"/>
              </a:spcAft>
            </a:pPr>
            <a:r>
              <a:rPr sz="2500" b="1" i="0">
                <a:solidFill>
                  <a:srgbClr val="9C7A1E"/>
                </a:solidFill>
                <a:latin typeface="Consolas"/>
              </a:rPr>
              <a:t>0</a:t>
            </a:r>
          </a:p>
        </p:txBody>
      </p:sp>
      <p:sp>
        <p:nvSpPr>
          <p:cNvPr id="15" name="TextBox 14"/>
          <p:cNvSpPr txBox="1"/>
          <p:nvPr/>
        </p:nvSpPr>
        <p:spPr>
          <a:xfrm>
            <a:off x="9125483" y="1947672"/>
            <a:ext cx="2371267" cy="731520"/>
          </a:xfrm>
          <a:prstGeom prst="rect">
            <a:avLst/>
          </a:prstGeom>
          <a:noFill/>
        </p:spPr>
        <p:txBody>
          <a:bodyPr wrap="square" lIns="0" rIns="0" tIns="0" bIns="0">
            <a:spAutoFit/>
          </a:bodyPr>
          <a:lstStyle/>
          <a:p>
            <a:pPr algn="l">
              <a:lnSpc>
                <a:spcPct val="115000"/>
              </a:lnSpc>
              <a:spcBef>
                <a:spcPts val="0"/>
              </a:spcBef>
              <a:spcAft>
                <a:spcPts val="0"/>
              </a:spcAft>
            </a:pPr>
            <a:r>
              <a:rPr sz="1150" b="0" i="0">
                <a:solidFill>
                  <a:srgbClr val="57615C"/>
                </a:solidFill>
                <a:latin typeface="Calibri"/>
              </a:rPr>
              <a:t>Luna numbers for S5 so far - built, not measured</a:t>
            </a:r>
          </a:p>
        </p:txBody>
      </p:sp>
      <p:sp>
        <p:nvSpPr>
          <p:cNvPr id="16" name="TextBox 1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17" name="TextBox 1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04 /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S0</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Rebaselining before writing any cache code</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6" name="TextBox 5"/>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05 / 17</a:t>
            </a:r>
          </a:p>
        </p:txBody>
      </p:sp>
      <p:sp>
        <p:nvSpPr>
          <p:cNvPr id="7" name="TextBox 6"/>
          <p:cNvSpPr txBox="1"/>
          <p:nvPr/>
        </p:nvSpPr>
        <p:spPr>
          <a:xfrm>
            <a:off x="548640" y="1828800"/>
            <a:ext cx="11094415" cy="1280160"/>
          </a:xfrm>
          <a:prstGeom prst="rect">
            <a:avLst/>
          </a:prstGeom>
          <a:noFill/>
        </p:spPr>
        <p:txBody>
          <a:bodyPr wrap="square" lIns="0" rIns="0" tIns="0" bIns="0">
            <a:spAutoFit/>
          </a:bodyPr>
          <a:lstStyle/>
          <a:p>
            <a:pPr algn="l">
              <a:lnSpc>
                <a:spcPct val="130000"/>
              </a:lnSpc>
              <a:spcBef>
                <a:spcPts val="0"/>
              </a:spcBef>
              <a:spcAft>
                <a:spcPts val="0"/>
              </a:spcAft>
            </a:pPr>
            <a:r>
              <a:rPr sz="1650" b="0" i="0">
                <a:solidFill>
                  <a:srgbClr val="1A1F1D"/>
                </a:solidFill>
                <a:latin typeface="Calibri"/>
              </a:rPr>
              <a:t>Our old numbers were measured on Kraken2 v2.1.3. You'd already told us to build on current upstream instead - v2.17.1 - so we re-cloned and re-measured before anything else could be compared against a stale baseline.</a:t>
            </a:r>
          </a:p>
        </p:txBody>
      </p:sp>
      <p:graphicFrame>
        <p:nvGraphicFramePr>
          <p:cNvPr id="8" name="Table 7"/>
          <p:cNvGraphicFramePr>
            <a:graphicFrameLocks noGrp="1"/>
          </p:cNvGraphicFramePr>
          <p:nvPr/>
        </p:nvGraphicFramePr>
        <p:xfrm>
          <a:off x="548640" y="3291840"/>
          <a:ext cx="6858000" cy="594360"/>
        </p:xfrm>
        <a:graphic>
          <a:graphicData uri="http://schemas.openxmlformats.org/drawingml/2006/table">
            <a:tbl>
              <a:tblPr firstRow="0" bandRow="0">
                <a:tableStyleId>{2D5ABB26-0587-4C30-8999-92F81FD0307C}</a:tableStyleId>
              </a:tblPr>
              <a:tblGrid>
                <a:gridCol w="3429000"/>
                <a:gridCol w="3429000"/>
              </a:tblGrid>
              <a:tr h="297180">
                <a:tc>
                  <a:txBody>
                    <a:bodyPr/>
                    <a:lstStyle/>
                    <a:p>
                      <a:r>
                        <a:rPr sz="1200" b="1">
                          <a:solidFill>
                            <a:srgbClr val="F3F4F1"/>
                          </a:solidFill>
                          <a:latin typeface="Consolas"/>
                        </a:rPr>
                        <a:t>v2.1.3 (old)</a:t>
                      </a:r>
                    </a:p>
                  </a:txBody>
                  <a:tcPr marL="73152" marR="73152" marT="18288" marB="18288" anchor="ctr">
                    <a:solidFill>
                      <a:srgbClr val="1A1F1D"/>
                    </a:solidFill>
                  </a:tcPr>
                </a:tc>
                <a:tc>
                  <a:txBody>
                    <a:bodyPr/>
                    <a:lstStyle/>
                    <a:p>
                      <a:r>
                        <a:rPr sz="1200" b="1">
                          <a:solidFill>
                            <a:srgbClr val="F3F4F1"/>
                          </a:solidFill>
                          <a:latin typeface="Consolas"/>
                        </a:rPr>
                        <a:t>v2.17.1 (new anchor, 32T)</a:t>
                      </a:r>
                    </a:p>
                  </a:txBody>
                  <a:tcPr marL="73152" marR="73152" marT="18288" marB="18288" anchor="ctr">
                    <a:solidFill>
                      <a:srgbClr val="1A1F1D"/>
                    </a:solidFill>
                  </a:tcPr>
                </a:tc>
              </a:tr>
              <a:tr h="297180">
                <a:tc>
                  <a:txBody>
                    <a:bodyPr/>
                    <a:lstStyle/>
                    <a:p>
                      <a:r>
                        <a:rPr sz="1500">
                          <a:solidFill>
                            <a:srgbClr val="1A1F1D"/>
                          </a:solidFill>
                          <a:latin typeface="Consolas"/>
                        </a:rPr>
                        <a:t>4.405s</a:t>
                      </a:r>
                    </a:p>
                  </a:txBody>
                  <a:tcPr marL="73152" marR="73152" marT="18288" marB="18288" anchor="ctr">
                    <a:solidFill>
                      <a:srgbClr val="FFFFFF"/>
                    </a:solidFill>
                  </a:tcPr>
                </a:tc>
                <a:tc>
                  <a:txBody>
                    <a:bodyPr/>
                    <a:lstStyle/>
                    <a:p>
                      <a:r>
                        <a:rPr sz="1500">
                          <a:solidFill>
                            <a:srgbClr val="1A1F1D"/>
                          </a:solidFill>
                          <a:latin typeface="Consolas"/>
                        </a:rPr>
                        <a:t>0.576s</a:t>
                      </a:r>
                    </a:p>
                  </a:txBody>
                  <a:tcPr marL="73152" marR="73152" marT="18288" marB="18288" anchor="ctr">
                    <a:solidFill>
                      <a:srgbClr val="FFFFFF"/>
                    </a:solidFill>
                  </a:tcPr>
                </a:tc>
              </a:tr>
            </a:tbl>
          </a:graphicData>
        </a:graphic>
      </p:graphicFrame>
      <p:sp>
        <p:nvSpPr>
          <p:cNvPr id="9" name="TextBox 8"/>
          <p:cNvSpPr txBox="1"/>
          <p:nvPr/>
        </p:nvSpPr>
        <p:spPr>
          <a:xfrm>
            <a:off x="548640" y="4160520"/>
            <a:ext cx="10515600" cy="731520"/>
          </a:xfrm>
          <a:prstGeom prst="rect">
            <a:avLst/>
          </a:prstGeom>
          <a:noFill/>
        </p:spPr>
        <p:txBody>
          <a:bodyPr wrap="square" lIns="0" rIns="0" tIns="0" bIns="0">
            <a:spAutoFit/>
          </a:bodyPr>
          <a:lstStyle/>
          <a:p>
            <a:pPr algn="l">
              <a:lnSpc>
                <a:spcPct val="130000"/>
              </a:lnSpc>
              <a:spcBef>
                <a:spcPts val="0"/>
              </a:spcBef>
              <a:spcAft>
                <a:spcPts val="0"/>
              </a:spcAft>
            </a:pPr>
            <a:r>
              <a:rPr sz="1450" b="0" i="1">
                <a:solidFill>
                  <a:srgbClr val="57615C"/>
                </a:solidFill>
                <a:latin typeface="Calibri"/>
              </a:rPr>
              <a:t>Not a speedup - a different, correct baseline. 32-64T stays the sweet spot; 96T is measurably worse everywhere.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S1</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Kraken2 already had a 1-slot cache</a:t>
            </a:r>
          </a:p>
        </p:txBody>
      </p:sp>
      <p:sp>
        <p:nvSpPr>
          <p:cNvPr id="5" name="Rounded Rectangle 4"/>
          <p:cNvSpPr/>
          <p:nvPr/>
        </p:nvSpPr>
        <p:spPr>
          <a:xfrm>
            <a:off x="10152583" y="987552"/>
            <a:ext cx="1490472" cy="292608"/>
          </a:xfrm>
          <a:prstGeom prst="roundRect">
            <a:avLst>
              <a:gd name="adj" fmla="val 50000"/>
            </a:avLst>
          </a:prstGeom>
          <a:solidFill>
            <a:srgbClr val="F2F3F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828B86"/>
                </a:solidFill>
                <a:latin typeface="Consolas"/>
              </a:rPr>
              <a:t>NULL, EXPLAINED</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06 / 17</a:t>
            </a:r>
          </a:p>
        </p:txBody>
      </p:sp>
      <p:sp>
        <p:nvSpPr>
          <p:cNvPr id="8" name="TextBox 7"/>
          <p:cNvSpPr txBox="1"/>
          <p:nvPr/>
        </p:nvSpPr>
        <p:spPr>
          <a:xfrm>
            <a:off x="548640" y="1783080"/>
            <a:ext cx="11094415" cy="1188720"/>
          </a:xfrm>
          <a:prstGeom prst="rect">
            <a:avLst/>
          </a:prstGeom>
          <a:noFill/>
        </p:spPr>
        <p:txBody>
          <a:bodyPr wrap="square" lIns="0" rIns="0" tIns="0" bIns="0">
            <a:spAutoFit/>
          </a:bodyPr>
          <a:lstStyle/>
          <a:p>
            <a:pPr algn="l">
              <a:lnSpc>
                <a:spcPct val="130000"/>
              </a:lnSpc>
              <a:spcBef>
                <a:spcPts val="0"/>
              </a:spcBef>
              <a:spcAft>
                <a:spcPts val="0"/>
              </a:spcAft>
            </a:pPr>
            <a:r>
              <a:rPr sz="1650" b="0" i="0">
                <a:solidFill>
                  <a:srgbClr val="1A1F1D"/>
                </a:solidFill>
                <a:latin typeface="Calibri"/>
              </a:rPr>
              <a:t>Stock Kraken2 skips a lookup only when a minimizer matches the one immediately before it. We promoted that memory to thread_local so it persists across every read a thread processes, not just the last one.</a:t>
            </a:r>
          </a:p>
        </p:txBody>
      </p:sp>
      <p:graphicFrame>
        <p:nvGraphicFramePr>
          <p:cNvPr id="9" name="Table 8"/>
          <p:cNvGraphicFramePr>
            <a:graphicFrameLocks noGrp="1"/>
          </p:cNvGraphicFramePr>
          <p:nvPr/>
        </p:nvGraphicFramePr>
        <p:xfrm>
          <a:off x="548640" y="3108960"/>
          <a:ext cx="11094414" cy="1371600"/>
        </p:xfrm>
        <a:graphic>
          <a:graphicData uri="http://schemas.openxmlformats.org/drawingml/2006/table">
            <a:tbl>
              <a:tblPr firstRow="0" bandRow="0">
                <a:tableStyleId>{2D5ABB26-0587-4C30-8999-92F81FD0307C}</a:tableStyleId>
              </a:tblPr>
              <a:tblGrid>
                <a:gridCol w="7211369"/>
                <a:gridCol w="3883045"/>
              </a:tblGrid>
              <a:tr h="457200">
                <a:tc>
                  <a:txBody>
                    <a:bodyPr/>
                    <a:lstStyle/>
                    <a:p>
                      <a:r>
                        <a:rPr sz="1100" b="1">
                          <a:solidFill>
                            <a:srgbClr val="F3F4F1"/>
                          </a:solidFill>
                          <a:latin typeface="Consolas"/>
                        </a:rPr>
                        <a:t>Database</a:t>
                      </a:r>
                    </a:p>
                  </a:txBody>
                  <a:tcPr marL="73152" marR="73152" marT="18288" marB="18288" anchor="ctr">
                    <a:solidFill>
                      <a:srgbClr val="1A1F1D"/>
                    </a:solidFill>
                  </a:tcPr>
                </a:tc>
                <a:tc>
                  <a:txBody>
                    <a:bodyPr/>
                    <a:lstStyle/>
                    <a:p>
                      <a:r>
                        <a:rPr sz="1100" b="1">
                          <a:solidFill>
                            <a:srgbClr val="F3F4F1"/>
                          </a:solidFill>
                          <a:latin typeface="Consolas"/>
                        </a:rPr>
                        <a:t>Result</a:t>
                      </a:r>
                    </a:p>
                  </a:txBody>
                  <a:tcPr marL="73152" marR="73152" marT="18288" marB="18288" anchor="ctr">
                    <a:solidFill>
                      <a:srgbClr val="1A1F1D"/>
                    </a:solidFill>
                  </a:tcPr>
                </a:tc>
              </a:tr>
              <a:tr h="457200">
                <a:tc>
                  <a:txBody>
                    <a:bodyPr/>
                    <a:lstStyle/>
                    <a:p>
                      <a:r>
                        <a:rPr sz="1400">
                          <a:solidFill>
                            <a:srgbClr val="1A1F1D"/>
                          </a:solidFill>
                          <a:latin typeface="Consolas"/>
                        </a:rPr>
                        <a:t>standard_8gb / pluspf_103gb (the ones that matter)</a:t>
                      </a:r>
                    </a:p>
                  </a:txBody>
                  <a:tcPr marL="73152" marR="73152" marT="18288" marB="18288" anchor="ctr">
                    <a:solidFill>
                      <a:srgbClr val="FFFFFF"/>
                    </a:solidFill>
                  </a:tcPr>
                </a:tc>
                <a:tc>
                  <a:txBody>
                    <a:bodyPr/>
                    <a:lstStyle/>
                    <a:p>
                      <a:r>
                        <a:rPr sz="1400">
                          <a:solidFill>
                            <a:srgbClr val="1A1F1D"/>
                          </a:solidFill>
                          <a:latin typeface="Consolas"/>
                        </a:rPr>
                        <a:t>flat - no measurable benefit</a:t>
                      </a:r>
                    </a:p>
                  </a:txBody>
                  <a:tcPr marL="73152" marR="73152" marT="18288" marB="18288" anchor="ctr">
                    <a:solidFill>
                      <a:srgbClr val="FFFFFF"/>
                    </a:solidFill>
                  </a:tcPr>
                </a:tc>
              </a:tr>
              <a:tr h="457200">
                <a:tc>
                  <a:txBody>
                    <a:bodyPr/>
                    <a:lstStyle/>
                    <a:p>
                      <a:r>
                        <a:rPr sz="1400">
                          <a:solidFill>
                            <a:srgbClr val="1A1F1D"/>
                          </a:solidFill>
                          <a:latin typeface="Consolas"/>
                        </a:rPr>
                        <a:t>sample_targeted</a:t>
                      </a:r>
                    </a:p>
                  </a:txBody>
                  <a:tcPr marL="73152" marR="73152" marT="18288" marB="18288" anchor="ctr">
                    <a:solidFill>
                      <a:srgbClr val="F3F4F1"/>
                    </a:solidFill>
                  </a:tcPr>
                </a:tc>
                <a:tc>
                  <a:txBody>
                    <a:bodyPr/>
                    <a:lstStyle/>
                    <a:p>
                      <a:r>
                        <a:rPr sz="1400">
                          <a:solidFill>
                            <a:srgbClr val="1A1F1D"/>
                          </a:solidFill>
                          <a:latin typeface="Consolas"/>
                        </a:rPr>
                        <a:t>+5-13%, unexplained</a:t>
                      </a:r>
                    </a:p>
                  </a:txBody>
                  <a:tcPr marL="73152" marR="73152" marT="18288" marB="18288" anchor="ctr">
                    <a:solidFill>
                      <a:srgbClr val="F3F4F1"/>
                    </a:solidFill>
                  </a:tcPr>
                </a:tc>
              </a:tr>
            </a:tbl>
          </a:graphicData>
        </a:graphic>
      </p:graphicFrame>
      <p:sp>
        <p:nvSpPr>
          <p:cNvPr id="10" name="TextBox 9"/>
          <p:cNvSpPr txBox="1"/>
          <p:nvPr/>
        </p:nvSpPr>
        <p:spPr>
          <a:xfrm>
            <a:off x="548640" y="4709160"/>
            <a:ext cx="10515600" cy="914400"/>
          </a:xfrm>
          <a:prstGeom prst="rect">
            <a:avLst/>
          </a:prstGeom>
          <a:noFill/>
        </p:spPr>
        <p:txBody>
          <a:bodyPr wrap="square" lIns="0" rIns="0" tIns="0" bIns="0">
            <a:spAutoFit/>
          </a:bodyPr>
          <a:lstStyle/>
          <a:p>
            <a:pPr algn="l">
              <a:lnSpc>
                <a:spcPct val="130000"/>
              </a:lnSpc>
              <a:spcBef>
                <a:spcPts val="0"/>
              </a:spcBef>
              <a:spcAft>
                <a:spcPts val="0"/>
              </a:spcAft>
            </a:pPr>
            <a:r>
              <a:rPr sz="1500" b="0" i="1">
                <a:solidFill>
                  <a:srgbClr val="57615C"/>
                </a:solidFill>
                <a:latin typeface="Calibri"/>
              </a:rPr>
              <a:t>A useful failure: real evidence a 1-slot cache has a hard ceiling once a database has millions of distinct minimizers - the reason S2 exists.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S2</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The 4-way cache, and the audit that found a wiring bug</a:t>
            </a:r>
          </a:p>
        </p:txBody>
      </p:sp>
      <p:sp>
        <p:nvSpPr>
          <p:cNvPr id="5" name="Rounded Rectangle 4"/>
          <p:cNvSpPr/>
          <p:nvPr/>
        </p:nvSpPr>
        <p:spPr>
          <a:xfrm>
            <a:off x="9704527" y="987552"/>
            <a:ext cx="1938528" cy="292608"/>
          </a:xfrm>
          <a:prstGeom prst="roundRect">
            <a:avLst>
              <a:gd name="adj" fmla="val 50000"/>
            </a:avLst>
          </a:prstGeom>
          <a:solidFill>
            <a:srgbClr val="F7EC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B8452E"/>
                </a:solidFill>
                <a:latin typeface="Consolas"/>
              </a:rPr>
              <a:t>BUG CAUGHT BY REVIEW</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07 / 17</a:t>
            </a:r>
          </a:p>
        </p:txBody>
      </p:sp>
      <p:sp>
        <p:nvSpPr>
          <p:cNvPr id="8" name="TextBox 7"/>
          <p:cNvSpPr txBox="1"/>
          <p:nvPr/>
        </p:nvSpPr>
        <p:spPr>
          <a:xfrm>
            <a:off x="548640" y="1783080"/>
            <a:ext cx="11094415" cy="1051560"/>
          </a:xfrm>
          <a:prstGeom prst="rect">
            <a:avLst/>
          </a:prstGeom>
          <a:noFill/>
        </p:spPr>
        <p:txBody>
          <a:bodyPr wrap="square" lIns="0" rIns="0" tIns="0" bIns="0">
            <a:spAutoFit/>
          </a:bodyPr>
          <a:lstStyle/>
          <a:p>
            <a:pPr algn="l">
              <a:lnSpc>
                <a:spcPct val="130000"/>
              </a:lnSpc>
              <a:spcBef>
                <a:spcPts val="0"/>
              </a:spcBef>
              <a:spcAft>
                <a:spcPts val="0"/>
              </a:spcAft>
            </a:pPr>
            <a:r>
              <a:rPr sz="1650" b="0" i="0">
                <a:solidFill>
                  <a:srgbClr val="1A1F1D"/>
                </a:solidFill>
                <a:latin typeface="Calibri"/>
              </a:rPr>
              <a:t>Built to spec: 4,096 sets x 4 ways, ~256KB/thread. First read: no benefit. We ran an independent 5-agent/3-round verification audit from a fresh session before trusting that.</a:t>
            </a:r>
          </a:p>
        </p:txBody>
      </p:sp>
      <p:sp>
        <p:nvSpPr>
          <p:cNvPr id="9" name="TextBox 8"/>
          <p:cNvSpPr txBox="1"/>
          <p:nvPr/>
        </p:nvSpPr>
        <p:spPr>
          <a:xfrm>
            <a:off x="548640" y="2880360"/>
            <a:ext cx="10607040" cy="1234440"/>
          </a:xfrm>
          <a:prstGeom prst="rect">
            <a:avLst/>
          </a:prstGeom>
          <a:noFill/>
        </p:spPr>
        <p:txBody>
          <a:bodyPr wrap="square" lIns="0" rIns="0" tIns="0" bIns="0">
            <a:spAutoFit/>
          </a:bodyPr>
          <a:lstStyle/>
          <a:p>
            <a:pPr algn="l">
              <a:lnSpc>
                <a:spcPct val="135000"/>
              </a:lnSpc>
              <a:spcBef>
                <a:spcPts val="0"/>
              </a:spcBef>
              <a:spcAft>
                <a:spcPts val="0"/>
              </a:spcAft>
            </a:pPr>
            <a:r>
              <a:rPr sz="1550" b="0" i="0">
                <a:solidFill>
                  <a:srgbClr val="1A1F1D"/>
                </a:solidFill>
                <a:latin typeface="Calibri"/>
              </a:rPr>
              <a:t>It found the cache wired inside an existing filter (not standing in front of every lookup), zero internal instrumentation, and no correctness check ever run.</a:t>
            </a:r>
          </a:p>
        </p:txBody>
      </p:sp>
      <p:graphicFrame>
        <p:nvGraphicFramePr>
          <p:cNvPr id="10" name="Table 9"/>
          <p:cNvGraphicFramePr>
            <a:graphicFrameLocks noGrp="1"/>
          </p:cNvGraphicFramePr>
          <p:nvPr/>
        </p:nvGraphicFramePr>
        <p:xfrm>
          <a:off x="548640" y="4160520"/>
          <a:ext cx="11094414" cy="1920240"/>
        </p:xfrm>
        <a:graphic>
          <a:graphicData uri="http://schemas.openxmlformats.org/drawingml/2006/table">
            <a:tbl>
              <a:tblPr firstRow="0" bandRow="0">
                <a:tableStyleId>{2D5ABB26-0587-4C30-8999-92F81FD0307C}</a:tableStyleId>
              </a:tblPr>
              <a:tblGrid>
                <a:gridCol w="4992486"/>
                <a:gridCol w="6101928"/>
              </a:tblGrid>
              <a:tr h="384048">
                <a:tc>
                  <a:txBody>
                    <a:bodyPr/>
                    <a:lstStyle/>
                    <a:p>
                      <a:r>
                        <a:rPr sz="1250" b="1">
                          <a:solidFill>
                            <a:srgbClr val="F3F4F1"/>
                          </a:solidFill>
                          <a:latin typeface="Consolas"/>
                        </a:rPr>
                        <a:t>Check</a:t>
                      </a:r>
                    </a:p>
                  </a:txBody>
                  <a:tcPr marL="73152" marR="73152" marT="18288" marB="18288" anchor="ctr">
                    <a:solidFill>
                      <a:srgbClr val="1A1F1D"/>
                    </a:solidFill>
                  </a:tcPr>
                </a:tc>
                <a:tc>
                  <a:txBody>
                    <a:bodyPr/>
                    <a:lstStyle/>
                    <a:p>
                      <a:r>
                        <a:rPr sz="1250" b="1">
                          <a:solidFill>
                            <a:srgbClr val="F3F4F1"/>
                          </a:solidFill>
                          <a:latin typeface="Consolas"/>
                        </a:rPr>
                        <a:t>Outcome</a:t>
                      </a:r>
                    </a:p>
                  </a:txBody>
                  <a:tcPr marL="73152" marR="73152" marT="18288" marB="18288" anchor="ctr">
                    <a:solidFill>
                      <a:srgbClr val="1A1F1D"/>
                    </a:solidFill>
                  </a:tcPr>
                </a:tc>
              </a:tr>
              <a:tr h="384048">
                <a:tc>
                  <a:txBody>
                    <a:bodyPr/>
                    <a:lstStyle/>
                    <a:p>
                      <a:r>
                        <a:rPr sz="1350">
                          <a:solidFill>
                            <a:srgbClr val="1A1F1D"/>
                          </a:solidFill>
                          <a:latin typeface="Consolas"/>
                        </a:rPr>
                        <a:t>Un-nesting the cache</a:t>
                      </a:r>
                    </a:p>
                  </a:txBody>
                  <a:tcPr marL="73152" marR="73152" marT="18288" marB="18288" anchor="ctr">
                    <a:solidFill>
                      <a:srgbClr val="FFFFFF"/>
                    </a:solidFill>
                  </a:tcPr>
                </a:tc>
                <a:tc>
                  <a:txBody>
                    <a:bodyPr/>
                    <a:lstStyle/>
                    <a:p>
                      <a:r>
                        <a:rPr sz="1350">
                          <a:solidFill>
                            <a:srgbClr val="1A1F1D"/>
                          </a:solidFill>
                          <a:latin typeface="Consolas"/>
                        </a:rPr>
                        <a:t>changed nothing - capacity is the real limit</a:t>
                      </a:r>
                    </a:p>
                  </a:txBody>
                  <a:tcPr marL="73152" marR="73152" marT="18288" marB="18288" anchor="ctr">
                    <a:solidFill>
                      <a:srgbClr val="FFFFFF"/>
                    </a:solidFill>
                  </a:tcPr>
                </a:tc>
              </a:tr>
              <a:tr h="384048">
                <a:tc>
                  <a:txBody>
                    <a:bodyPr/>
                    <a:lstStyle/>
                    <a:p>
                      <a:r>
                        <a:rPr sz="1350">
                          <a:solidFill>
                            <a:srgbClr val="1A1F1D"/>
                          </a:solidFill>
                          <a:latin typeface="Consolas"/>
                        </a:rPr>
                        <a:t>Real hit rate</a:t>
                      </a:r>
                    </a:p>
                  </a:txBody>
                  <a:tcPr marL="73152" marR="73152" marT="18288" marB="18288" anchor="ctr">
                    <a:solidFill>
                      <a:srgbClr val="F3F4F1"/>
                    </a:solidFill>
                  </a:tcPr>
                </a:tc>
                <a:tc>
                  <a:txBody>
                    <a:bodyPr/>
                    <a:lstStyle/>
                    <a:p>
                      <a:r>
                        <a:rPr sz="1350">
                          <a:solidFill>
                            <a:srgbClr val="1A1F1D"/>
                          </a:solidFill>
                          <a:latin typeface="Consolas"/>
                        </a:rPr>
                        <a:t>0.14-0.40%, flat by thread count</a:t>
                      </a:r>
                    </a:p>
                  </a:txBody>
                  <a:tcPr marL="73152" marR="73152" marT="18288" marB="18288" anchor="ctr">
                    <a:solidFill>
                      <a:srgbClr val="F3F4F1"/>
                    </a:solidFill>
                  </a:tcPr>
                </a:tc>
              </a:tr>
              <a:tr h="384048">
                <a:tc>
                  <a:txBody>
                    <a:bodyPr/>
                    <a:lstStyle/>
                    <a:p>
                      <a:r>
                        <a:rPr sz="1350">
                          <a:solidFill>
                            <a:srgbClr val="1A1F1D"/>
                          </a:solidFill>
                          <a:latin typeface="Consolas"/>
                        </a:rPr>
                        <a:t>Classification output vs. baseline</a:t>
                      </a:r>
                    </a:p>
                  </a:txBody>
                  <a:tcPr marL="73152" marR="73152" marT="18288" marB="18288" anchor="ctr">
                    <a:solidFill>
                      <a:srgbClr val="FFFFFF"/>
                    </a:solidFill>
                  </a:tcPr>
                </a:tc>
                <a:tc>
                  <a:txBody>
                    <a:bodyPr/>
                    <a:lstStyle/>
                    <a:p>
                      <a:r>
                        <a:rPr sz="1350">
                          <a:solidFill>
                            <a:srgbClr val="1A1F1D"/>
                          </a:solidFill>
                          <a:latin typeface="Consolas"/>
                        </a:rPr>
                        <a:t>byte-identical</a:t>
                      </a:r>
                    </a:p>
                  </a:txBody>
                  <a:tcPr marL="73152" marR="73152" marT="18288" marB="18288" anchor="ctr">
                    <a:solidFill>
                      <a:srgbClr val="FFFFFF"/>
                    </a:solidFill>
                  </a:tcPr>
                </a:tc>
              </a:tr>
              <a:tr h="384048">
                <a:tc>
                  <a:txBody>
                    <a:bodyPr/>
                    <a:lstStyle/>
                    <a:p>
                      <a:r>
                        <a:rPr sz="1350">
                          <a:solidFill>
                            <a:srgbClr val="1A1F1D"/>
                          </a:solidFill>
                          <a:latin typeface="Consolas"/>
                        </a:rPr>
                        <a:t>Eviction test (protect proven entries)</a:t>
                      </a:r>
                    </a:p>
                  </a:txBody>
                  <a:tcPr marL="73152" marR="73152" marT="18288" marB="18288" anchor="ctr">
                    <a:solidFill>
                      <a:srgbClr val="F3F4F1"/>
                    </a:solidFill>
                  </a:tcPr>
                </a:tc>
                <a:tc>
                  <a:txBody>
                    <a:bodyPr/>
                    <a:lstStyle/>
                    <a:p>
                      <a:r>
                        <a:rPr sz="1350">
                          <a:solidFill>
                            <a:srgbClr val="1A1F1D"/>
                          </a:solidFill>
                          <a:latin typeface="Consolas"/>
                        </a:rPr>
                        <a:t>+25.2% relative hit-rate gain</a:t>
                      </a:r>
                    </a:p>
                  </a:txBody>
                  <a:tcPr marL="73152" marR="73152" marT="18288" marB="18288" anchor="ctr">
                    <a:solidFill>
                      <a:srgbClr val="F3F4F1"/>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Fixing the crash, sizing the cache for real</a:t>
            </a:r>
          </a:p>
        </p:txBody>
      </p:sp>
      <p:sp>
        <p:nvSpPr>
          <p:cNvPr id="5" name="Rounded Rectangle 4"/>
          <p:cNvSpPr/>
          <p:nvPr/>
        </p:nvSpPr>
        <p:spPr>
          <a:xfrm>
            <a:off x="10421417" y="987552"/>
            <a:ext cx="1221638" cy="292608"/>
          </a:xfrm>
          <a:prstGeom prst="roundRect">
            <a:avLst>
              <a:gd name="adj" fmla="val 50000"/>
            </a:avLst>
          </a:prstGeom>
          <a:solidFill>
            <a:srgbClr val="EBF2ED"/>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3F7D4F"/>
                </a:solidFill>
                <a:latin typeface="Consolas"/>
              </a:rPr>
              <a:t>2 BUGS FIXED</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08 / 17</a:t>
            </a:r>
          </a:p>
        </p:txBody>
      </p:sp>
      <p:sp>
        <p:nvSpPr>
          <p:cNvPr id="8" name="TextBox 7"/>
          <p:cNvSpPr txBox="1"/>
          <p:nvPr/>
        </p:nvSpPr>
        <p:spPr>
          <a:xfrm>
            <a:off x="548640" y="1783080"/>
            <a:ext cx="11094415" cy="1005840"/>
          </a:xfrm>
          <a:prstGeom prst="rect">
            <a:avLst/>
          </a:prstGeom>
          <a:noFill/>
        </p:spPr>
        <p:txBody>
          <a:bodyPr wrap="square" lIns="0" rIns="0" tIns="0" bIns="0">
            <a:spAutoFit/>
          </a:bodyPr>
          <a:lstStyle/>
          <a:p>
            <a:pPr algn="l">
              <a:lnSpc>
                <a:spcPct val="130000"/>
              </a:lnSpc>
              <a:spcBef>
                <a:spcPts val="0"/>
              </a:spcBef>
              <a:spcAft>
                <a:spcPts val="0"/>
              </a:spcAft>
            </a:pPr>
            <a:r>
              <a:rPr sz="1600" b="0" i="0">
                <a:solidFill>
                  <a:srgbClr val="1A1F1D"/>
                </a:solidFill>
                <a:latin typeface="Calibri"/>
              </a:rPr>
              <a:t>A second 5-agent debate corrected an assumption first: Luna's real per-socket cache is 105MB, not the 210MB (two-socket sum) we'd been implicitly using.</a:t>
            </a:r>
          </a:p>
        </p:txBody>
      </p:sp>
      <p:graphicFrame>
        <p:nvGraphicFramePr>
          <p:cNvPr id="9" name="Table 8"/>
          <p:cNvGraphicFramePr>
            <a:graphicFrameLocks noGrp="1"/>
          </p:cNvGraphicFramePr>
          <p:nvPr/>
        </p:nvGraphicFramePr>
        <p:xfrm>
          <a:off x="548640" y="2880360"/>
          <a:ext cx="11094414" cy="2331720"/>
        </p:xfrm>
        <a:graphic>
          <a:graphicData uri="http://schemas.openxmlformats.org/drawingml/2006/table">
            <a:tbl>
              <a:tblPr firstRow="0" bandRow="0">
                <a:tableStyleId>{2D5ABB26-0587-4C30-8999-92F81FD0307C}</a:tableStyleId>
              </a:tblPr>
              <a:tblGrid>
                <a:gridCol w="5325319"/>
                <a:gridCol w="5769095"/>
              </a:tblGrid>
              <a:tr h="582930">
                <a:tc>
                  <a:txBody>
                    <a:bodyPr/>
                    <a:lstStyle/>
                    <a:p>
                      <a:r>
                        <a:rPr sz="1250" b="1">
                          <a:solidFill>
                            <a:srgbClr val="F3F4F1"/>
                          </a:solidFill>
                          <a:latin typeface="Consolas"/>
                        </a:rPr>
                        <a:t>Fix</a:t>
                      </a:r>
                    </a:p>
                  </a:txBody>
                  <a:tcPr marL="73152" marR="73152" marT="18288" marB="18288" anchor="ctr">
                    <a:solidFill>
                      <a:srgbClr val="1A1F1D"/>
                    </a:solidFill>
                  </a:tcPr>
                </a:tc>
                <a:tc>
                  <a:txBody>
                    <a:bodyPr/>
                    <a:lstStyle/>
                    <a:p>
                      <a:r>
                        <a:rPr sz="1250" b="1">
                          <a:solidFill>
                            <a:srgbClr val="F3F4F1"/>
                          </a:solidFill>
                          <a:latin typeface="Consolas"/>
                        </a:rPr>
                        <a:t>Effect</a:t>
                      </a:r>
                    </a:p>
                  </a:txBody>
                  <a:tcPr marL="73152" marR="73152" marT="18288" marB="18288" anchor="ctr">
                    <a:solidFill>
                      <a:srgbClr val="1A1F1D"/>
                    </a:solidFill>
                  </a:tcPr>
                </a:tc>
              </a:tr>
              <a:tr h="582930">
                <a:tc>
                  <a:txBody>
                    <a:bodyPr/>
                    <a:lstStyle/>
                    <a:p>
                      <a:r>
                        <a:rPr sz="1350">
                          <a:solidFill>
                            <a:srgbClr val="1A1F1D"/>
                          </a:solidFill>
                          <a:latin typeface="Consolas"/>
                        </a:rPr>
                        <a:t>Heap pointer, not a static thread-local array</a:t>
                      </a:r>
                    </a:p>
                  </a:txBody>
                  <a:tcPr marL="73152" marR="73152" marT="18288" marB="18288" anchor="ctr">
                    <a:solidFill>
                      <a:srgbClr val="FFFFFF"/>
                    </a:solidFill>
                  </a:tcPr>
                </a:tc>
                <a:tc>
                  <a:txBody>
                    <a:bodyPr/>
                    <a:lstStyle/>
                    <a:p>
                      <a:r>
                        <a:rPr sz="1350">
                          <a:solidFill>
                            <a:srgbClr val="1A1F1D"/>
                          </a:solidFill>
                          <a:latin typeface="Consolas"/>
                        </a:rPr>
                        <a:t>crash gone, 16-96T</a:t>
                      </a:r>
                    </a:p>
                  </a:txBody>
                  <a:tcPr marL="73152" marR="73152" marT="18288" marB="18288" anchor="ctr">
                    <a:solidFill>
                      <a:srgbClr val="FFFFFF"/>
                    </a:solidFill>
                  </a:tcPr>
                </a:tc>
              </a:tr>
              <a:tr h="582930">
                <a:tc>
                  <a:txBody>
                    <a:bodyPr/>
                    <a:lstStyle/>
                    <a:p>
                      <a:r>
                        <a:rPr sz="1350">
                          <a:solidFill>
                            <a:srgbClr val="1A1F1D"/>
                          </a:solidFill>
                          <a:latin typeface="Consolas"/>
                        </a:rPr>
                        <a:t>Live sizing formula off real 105MB/socket</a:t>
                      </a:r>
                    </a:p>
                  </a:txBody>
                  <a:tcPr marL="73152" marR="73152" marT="18288" marB="18288" anchor="ctr">
                    <a:solidFill>
                      <a:srgbClr val="F3F4F1"/>
                    </a:solidFill>
                  </a:tcPr>
                </a:tc>
                <a:tc>
                  <a:txBody>
                    <a:bodyPr/>
                    <a:lstStyle/>
                    <a:p>
                      <a:r>
                        <a:rPr sz="1350">
                          <a:solidFill>
                            <a:srgbClr val="1A1F1D"/>
                          </a:solidFill>
                          <a:latin typeface="Consolas"/>
                        </a:rPr>
                        <a:t>262,144 sets @T=1 -&gt; 4,096 @T=96</a:t>
                      </a:r>
                    </a:p>
                  </a:txBody>
                  <a:tcPr marL="73152" marR="73152" marT="18288" marB="18288" anchor="ctr">
                    <a:solidFill>
                      <a:srgbClr val="F3F4F1"/>
                    </a:solidFill>
                  </a:tcPr>
                </a:tc>
              </a:tr>
              <a:tr h="582930">
                <a:tc>
                  <a:txBody>
                    <a:bodyPr/>
                    <a:lstStyle/>
                    <a:p>
                      <a:r>
                        <a:rPr sz="1350">
                          <a:solidFill>
                            <a:srgbClr val="1A1F1D"/>
                          </a:solidFill>
                          <a:latin typeface="Consolas"/>
                        </a:rPr>
                        <a:t>Zero-valued sentinels + lazy allocation</a:t>
                      </a:r>
                    </a:p>
                  </a:txBody>
                  <a:tcPr marL="73152" marR="73152" marT="18288" marB="18288" anchor="ctr">
                    <a:solidFill>
                      <a:srgbClr val="FFFFFF"/>
                    </a:solidFill>
                  </a:tcPr>
                </a:tc>
                <a:tc>
                  <a:txBody>
                    <a:bodyPr/>
                    <a:lstStyle/>
                    <a:p>
                      <a:r>
                        <a:rPr sz="1350">
                          <a:solidFill>
                            <a:srgbClr val="1A1F1D"/>
                          </a:solidFill>
                          <a:latin typeface="Consolas"/>
                        </a:rPr>
                        <a:t>~2x wall-clock, ~3x cache-miss win, on top</a:t>
                      </a:r>
                    </a:p>
                  </a:txBody>
                  <a:tcPr marL="73152" marR="73152" marT="18288" marB="18288" anchor="ct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S3.4</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Full benchmark: a real, explained null result</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6" name="TextBox 5"/>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09 / 17</a:t>
            </a:r>
          </a:p>
        </p:txBody>
      </p:sp>
      <p:graphicFrame>
        <p:nvGraphicFramePr>
          <p:cNvPr id="7" name="Table 6"/>
          <p:cNvGraphicFramePr>
            <a:graphicFrameLocks noGrp="1"/>
          </p:cNvGraphicFramePr>
          <p:nvPr/>
        </p:nvGraphicFramePr>
        <p:xfrm>
          <a:off x="548640" y="1783080"/>
          <a:ext cx="8778240" cy="777240"/>
        </p:xfrm>
        <a:graphic>
          <a:graphicData uri="http://schemas.openxmlformats.org/drawingml/2006/table">
            <a:tbl>
              <a:tblPr firstRow="0" bandRow="0">
                <a:tableStyleId>{2D5ABB26-0587-4C30-8999-92F81FD0307C}</a:tableStyleId>
              </a:tblPr>
              <a:tblGrid>
                <a:gridCol w="2926080"/>
                <a:gridCol w="2926080"/>
                <a:gridCol w="2926080"/>
              </a:tblGrid>
              <a:tr h="388620">
                <a:tc>
                  <a:txBody>
                    <a:bodyPr/>
                    <a:lstStyle/>
                    <a:p>
                      <a:r>
                        <a:rPr sz="1250" b="1">
                          <a:solidFill>
                            <a:srgbClr val="F3F4F1"/>
                          </a:solidFill>
                          <a:latin typeface="Consolas"/>
                        </a:rPr>
                        <a:t>Original (pre-S3.0)</a:t>
                      </a:r>
                    </a:p>
                  </a:txBody>
                  <a:tcPr marL="73152" marR="73152" marT="18288" marB="18288" anchor="ctr">
                    <a:solidFill>
                      <a:srgbClr val="1A1F1D"/>
                    </a:solidFill>
                  </a:tcPr>
                </a:tc>
                <a:tc>
                  <a:txBody>
                    <a:bodyPr/>
                    <a:lstStyle/>
                    <a:p>
                      <a:r>
                        <a:rPr sz="1250" b="1">
                          <a:solidFill>
                            <a:srgbClr val="F3F4F1"/>
                          </a:solidFill>
                          <a:latin typeface="Consolas"/>
                        </a:rPr>
                        <a:t>S3.0 alone</a:t>
                      </a:r>
                    </a:p>
                  </a:txBody>
                  <a:tcPr marL="73152" marR="73152" marT="18288" marB="18288" anchor="ctr">
                    <a:solidFill>
                      <a:srgbClr val="1A1F1D"/>
                    </a:solidFill>
                  </a:tcPr>
                </a:tc>
                <a:tc>
                  <a:txBody>
                    <a:bodyPr/>
                    <a:lstStyle/>
                    <a:p>
                      <a:r>
                        <a:rPr sz="1250" b="1">
                          <a:solidFill>
                            <a:srgbClr val="F3F4F1"/>
                          </a:solidFill>
                          <a:latin typeface="Consolas"/>
                        </a:rPr>
                        <a:t>+ S3.3</a:t>
                      </a:r>
                    </a:p>
                  </a:txBody>
                  <a:tcPr marL="73152" marR="73152" marT="18288" marB="18288" anchor="ctr">
                    <a:solidFill>
                      <a:srgbClr val="1A1F1D"/>
                    </a:solidFill>
                  </a:tcPr>
                </a:tc>
              </a:tr>
              <a:tr h="388620">
                <a:tc>
                  <a:txBody>
                    <a:bodyPr/>
                    <a:lstStyle/>
                    <a:p>
                      <a:r>
                        <a:rPr sz="1350">
                          <a:solidFill>
                            <a:srgbClr val="1A1F1D"/>
                          </a:solidFill>
                          <a:latin typeface="Consolas"/>
                        </a:rPr>
                        <a:t>22x slower, 85% LLC-miss</a:t>
                      </a:r>
                    </a:p>
                  </a:txBody>
                  <a:tcPr marL="73152" marR="73152" marT="18288" marB="18288" anchor="ctr">
                    <a:solidFill>
                      <a:srgbClr val="FFFFFF"/>
                    </a:solidFill>
                  </a:tcPr>
                </a:tc>
                <a:tc>
                  <a:txBody>
                    <a:bodyPr/>
                    <a:lstStyle/>
                    <a:p>
                      <a:r>
                        <a:rPr sz="1350">
                          <a:solidFill>
                            <a:srgbClr val="1A1F1D"/>
                          </a:solidFill>
                          <a:latin typeface="Consolas"/>
                        </a:rPr>
                        <a:t>eliminated the vast majority</a:t>
                      </a:r>
                    </a:p>
                  </a:txBody>
                  <a:tcPr marL="73152" marR="73152" marT="18288" marB="18288" anchor="ctr">
                    <a:solidFill>
                      <a:srgbClr val="FFFFFF"/>
                    </a:solidFill>
                  </a:tcPr>
                </a:tc>
                <a:tc>
                  <a:txBody>
                    <a:bodyPr/>
                    <a:lstStyle/>
                    <a:p>
                      <a:r>
                        <a:rPr sz="1350">
                          <a:solidFill>
                            <a:srgbClr val="1A1F1D"/>
                          </a:solidFill>
                          <a:latin typeface="Consolas"/>
                        </a:rPr>
                        <a:t>~2x / ~3x more, on top</a:t>
                      </a:r>
                    </a:p>
                  </a:txBody>
                  <a:tcPr marL="73152" marR="73152" marT="18288" marB="18288" anchor="ctr">
                    <a:solidFill>
                      <a:srgbClr val="FFFFFF"/>
                    </a:solidFill>
                  </a:tcPr>
                </a:tc>
              </a:tr>
            </a:tbl>
          </a:graphicData>
        </a:graphic>
      </p:graphicFrame>
      <p:sp>
        <p:nvSpPr>
          <p:cNvPr id="8" name="TextBox 7"/>
          <p:cNvSpPr txBox="1"/>
          <p:nvPr/>
        </p:nvSpPr>
        <p:spPr>
          <a:xfrm>
            <a:off x="548640" y="2880360"/>
            <a:ext cx="10607040" cy="1188720"/>
          </a:xfrm>
          <a:prstGeom prst="rect">
            <a:avLst/>
          </a:prstGeom>
          <a:noFill/>
        </p:spPr>
        <p:txBody>
          <a:bodyPr wrap="square" lIns="0" rIns="0" tIns="0" bIns="0">
            <a:spAutoFit/>
          </a:bodyPr>
          <a:lstStyle/>
          <a:p>
            <a:pPr algn="l">
              <a:lnSpc>
                <a:spcPct val="135000"/>
              </a:lnSpc>
              <a:spcBef>
                <a:spcPts val="0"/>
              </a:spcBef>
              <a:spcAft>
                <a:spcPts val="0"/>
              </a:spcAft>
            </a:pPr>
            <a:r>
              <a:rPr sz="1550" b="1" i="0">
                <a:solidFill>
                  <a:srgbClr val="1A1F1D"/>
                </a:solidFill>
                <a:latin typeface="Calibri"/>
              </a:rPr>
              <a:t>An honest correction to our own framing: </a:t>
            </a:r>
            <a:r>
              <a:rPr sz="1550" b="0" i="0">
                <a:solidFill>
                  <a:srgbClr val="1A1F1D"/>
                </a:solidFill>
                <a:latin typeface="Calibri"/>
              </a:rPr>
              <a:t>S3.0 was the dominant fix; S3.3 is a smaller, real, additional win on top - not an independently-stacking second 22x.</a:t>
            </a:r>
          </a:p>
        </p:txBody>
      </p:sp>
      <p:sp>
        <p:nvSpPr>
          <p:cNvPr id="9" name="TextBox 8"/>
          <p:cNvSpPr txBox="1"/>
          <p:nvPr/>
        </p:nvSpPr>
        <p:spPr>
          <a:xfrm>
            <a:off x="548640" y="4114800"/>
            <a:ext cx="10607040" cy="1828800"/>
          </a:xfrm>
          <a:prstGeom prst="rect">
            <a:avLst/>
          </a:prstGeom>
          <a:noFill/>
        </p:spPr>
        <p:txBody>
          <a:bodyPr wrap="square" lIns="0" rIns="0" tIns="0" bIns="0">
            <a:spAutoFit/>
          </a:bodyPr>
          <a:lstStyle/>
          <a:p>
            <a:pPr algn="l">
              <a:lnSpc>
                <a:spcPct val="140000"/>
              </a:lnSpc>
              <a:spcBef>
                <a:spcPts val="0"/>
              </a:spcBef>
              <a:spcAft>
                <a:spcPts val="0"/>
              </a:spcAft>
            </a:pPr>
            <a:r>
              <a:rPr sz="1550" b="0" i="0">
                <a:solidFill>
                  <a:srgbClr val="57615C"/>
                </a:solidFill>
                <a:latin typeface="Calibri"/>
              </a:rPr>
              <a:t>Full 3-database x 6-thread-count benchmark: no measurable wall-clock difference anywhere (CV mostly under 1%). The sizing formula stays conservative at realistic thread counts (32-96T) - it never reaches the sizes where S3.0/S3.3's bugs lived. Necessary correctness work, not a performance lever, and now we know exactly why. S3 is complete.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A real hashing bug, an 8.9x fix</a:t>
            </a:r>
          </a:p>
        </p:txBody>
      </p:sp>
      <p:sp>
        <p:nvSpPr>
          <p:cNvPr id="5" name="Rounded Rectangle 4"/>
          <p:cNvSpPr/>
          <p:nvPr/>
        </p:nvSpPr>
        <p:spPr>
          <a:xfrm>
            <a:off x="10779862" y="987552"/>
            <a:ext cx="863193" cy="292608"/>
          </a:xfrm>
          <a:prstGeom prst="roundRect">
            <a:avLst>
              <a:gd name="adj" fmla="val 50000"/>
            </a:avLst>
          </a:prstGeom>
          <a:solidFill>
            <a:srgbClr val="F7EC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B8452E"/>
                </a:solidFill>
                <a:latin typeface="Consolas"/>
              </a:rPr>
              <a:t>REVERSAL</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10 / 17</a:t>
            </a:r>
          </a:p>
        </p:txBody>
      </p:sp>
      <p:sp>
        <p:nvSpPr>
          <p:cNvPr id="8" name="TextBox 7"/>
          <p:cNvSpPr txBox="1"/>
          <p:nvPr/>
        </p:nvSpPr>
        <p:spPr>
          <a:xfrm>
            <a:off x="548640" y="1783080"/>
            <a:ext cx="11094415" cy="1051560"/>
          </a:xfrm>
          <a:prstGeom prst="rect">
            <a:avLst/>
          </a:prstGeom>
          <a:noFill/>
        </p:spPr>
        <p:txBody>
          <a:bodyPr wrap="square" lIns="0" rIns="0" tIns="0" bIns="0">
            <a:spAutoFit/>
          </a:bodyPr>
          <a:lstStyle/>
          <a:p>
            <a:pPr algn="l">
              <a:lnSpc>
                <a:spcPct val="130000"/>
              </a:lnSpc>
              <a:spcBef>
                <a:spcPts val="0"/>
              </a:spcBef>
              <a:spcAft>
                <a:spcPts val="0"/>
              </a:spcAft>
            </a:pPr>
            <a:r>
              <a:rPr sz="1600" b="0" i="0">
                <a:solidFill>
                  <a:srgbClr val="1A1F1D"/>
                </a:solidFill>
                <a:latin typeface="Calibri"/>
              </a:rPr>
              <a:t>A diagnostic found the cache's set-selection logic used a raw bit-mask with zero mixing - one set absorbed 225x the average load. One line, reusing Kraken2's own hash function, fixed it.</a:t>
            </a:r>
          </a:p>
        </p:txBody>
      </p:sp>
      <p:graphicFrame>
        <p:nvGraphicFramePr>
          <p:cNvPr id="9" name="Table 8"/>
          <p:cNvGraphicFramePr>
            <a:graphicFrameLocks noGrp="1"/>
          </p:cNvGraphicFramePr>
          <p:nvPr/>
        </p:nvGraphicFramePr>
        <p:xfrm>
          <a:off x="548640" y="2971800"/>
          <a:ext cx="8229600" cy="914400"/>
        </p:xfrm>
        <a:graphic>
          <a:graphicData uri="http://schemas.openxmlformats.org/drawingml/2006/table">
            <a:tbl>
              <a:tblPr firstRow="0" bandRow="0">
                <a:tableStyleId>{2D5ABB26-0587-4C30-8999-92F81FD0307C}</a:tableStyleId>
              </a:tblPr>
              <a:tblGrid>
                <a:gridCol w="2743200"/>
                <a:gridCol w="2743200"/>
                <a:gridCol w="2743200"/>
              </a:tblGrid>
              <a:tr h="457200">
                <a:tc>
                  <a:txBody>
                    <a:bodyPr/>
                    <a:lstStyle/>
                    <a:p>
                      <a:r>
                        <a:rPr sz="1300" b="1">
                          <a:solidFill>
                            <a:srgbClr val="F3F4F1"/>
                          </a:solidFill>
                          <a:latin typeface="Consolas"/>
                        </a:rPr>
                        <a:t> </a:t>
                      </a:r>
                    </a:p>
                  </a:txBody>
                  <a:tcPr marL="73152" marR="73152" marT="18288" marB="18288" anchor="ctr">
                    <a:solidFill>
                      <a:srgbClr val="1A1F1D"/>
                    </a:solidFill>
                  </a:tcPr>
                </a:tc>
                <a:tc>
                  <a:txBody>
                    <a:bodyPr/>
                    <a:lstStyle/>
                    <a:p>
                      <a:r>
                        <a:rPr sz="1300" b="1">
                          <a:solidFill>
                            <a:srgbClr val="F3F4F1"/>
                          </a:solidFill>
                          <a:latin typeface="Consolas"/>
                        </a:rPr>
                        <a:t>Old hash (raw mask)</a:t>
                      </a:r>
                    </a:p>
                  </a:txBody>
                  <a:tcPr marL="73152" marR="73152" marT="18288" marB="18288" anchor="ctr">
                    <a:solidFill>
                      <a:srgbClr val="1A1F1D"/>
                    </a:solidFill>
                  </a:tcPr>
                </a:tc>
                <a:tc>
                  <a:txBody>
                    <a:bodyPr/>
                    <a:lstStyle/>
                    <a:p>
                      <a:r>
                        <a:rPr sz="1300" b="1">
                          <a:solidFill>
                            <a:srgbClr val="F3F4F1"/>
                          </a:solidFill>
                          <a:latin typeface="Consolas"/>
                        </a:rPr>
                        <a:t>Fixed hash (MurmurHash3)</a:t>
                      </a:r>
                    </a:p>
                  </a:txBody>
                  <a:tcPr marL="73152" marR="73152" marT="18288" marB="18288" anchor="ctr">
                    <a:solidFill>
                      <a:srgbClr val="1A1F1D"/>
                    </a:solidFill>
                  </a:tcPr>
                </a:tc>
              </a:tr>
              <a:tr h="457200">
                <a:tc>
                  <a:txBody>
                    <a:bodyPr/>
                    <a:lstStyle/>
                    <a:p>
                      <a:r>
                        <a:rPr sz="1450">
                          <a:solidFill>
                            <a:srgbClr val="1A1F1D"/>
                          </a:solidFill>
                          <a:latin typeface="Consolas"/>
                        </a:rPr>
                        <a:t>Hit rate, 4,096 sets</a:t>
                      </a:r>
                    </a:p>
                  </a:txBody>
                  <a:tcPr marL="73152" marR="73152" marT="18288" marB="18288" anchor="ctr">
                    <a:solidFill>
                      <a:srgbClr val="FFFFFF"/>
                    </a:solidFill>
                  </a:tcPr>
                </a:tc>
                <a:tc>
                  <a:txBody>
                    <a:bodyPr/>
                    <a:lstStyle/>
                    <a:p>
                      <a:r>
                        <a:rPr sz="1450">
                          <a:solidFill>
                            <a:srgbClr val="1A1F1D"/>
                          </a:solidFill>
                          <a:latin typeface="Consolas"/>
                        </a:rPr>
                        <a:t>0.4035%</a:t>
                      </a:r>
                    </a:p>
                  </a:txBody>
                  <a:tcPr marL="73152" marR="73152" marT="18288" marB="18288" anchor="ctr">
                    <a:solidFill>
                      <a:srgbClr val="FFFFFF"/>
                    </a:solidFill>
                  </a:tcPr>
                </a:tc>
                <a:tc>
                  <a:txBody>
                    <a:bodyPr/>
                    <a:lstStyle/>
                    <a:p>
                      <a:r>
                        <a:rPr sz="1450">
                          <a:solidFill>
                            <a:srgbClr val="1A1F1D"/>
                          </a:solidFill>
                          <a:latin typeface="Consolas"/>
                        </a:rPr>
                        <a:t>3.5758%  (8.9x)</a:t>
                      </a:r>
                    </a:p>
                  </a:txBody>
                  <a:tcPr marL="73152" marR="73152" marT="18288" marB="18288" anchor="ctr">
                    <a:solidFill>
                      <a:srgbClr val="FFFFFF"/>
                    </a:solidFill>
                  </a:tcPr>
                </a:tc>
              </a:tr>
            </a:tbl>
          </a:graphicData>
        </a:graphic>
      </p:graphicFrame>
      <p:sp>
        <p:nvSpPr>
          <p:cNvPr id="10" name="TextBox 9"/>
          <p:cNvSpPr txBox="1"/>
          <p:nvPr/>
        </p:nvSpPr>
        <p:spPr>
          <a:xfrm>
            <a:off x="548640" y="4160520"/>
            <a:ext cx="10607040" cy="1371600"/>
          </a:xfrm>
          <a:prstGeom prst="rect">
            <a:avLst/>
          </a:prstGeom>
          <a:noFill/>
        </p:spPr>
        <p:txBody>
          <a:bodyPr wrap="square" lIns="0" rIns="0" tIns="0" bIns="0">
            <a:spAutoFit/>
          </a:bodyPr>
          <a:lstStyle/>
          <a:p>
            <a:pPr algn="l">
              <a:lnSpc>
                <a:spcPct val="135000"/>
              </a:lnSpc>
              <a:spcBef>
                <a:spcPts val="0"/>
              </a:spcBef>
              <a:spcAft>
                <a:spcPts val="0"/>
              </a:spcAft>
            </a:pPr>
            <a:r>
              <a:rPr sz="1500" b="0" i="0">
                <a:solidFill>
                  <a:srgbClr val="57615C"/>
                </a:solidFill>
                <a:latin typeface="Calibri"/>
              </a:rPr>
              <a:t>Ported into the real tree, byte-identical correctness, crash-free at 16T/32T/96T. Still no wall-clock win - the extra hits are still under 3.2% of the lookup stream, under the noise floor.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S4</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The reversal</a:t>
            </a:r>
          </a:p>
        </p:txBody>
      </p:sp>
      <p:sp>
        <p:nvSpPr>
          <p:cNvPr id="5" name="Rounded Rectangle 4"/>
          <p:cNvSpPr/>
          <p:nvPr/>
        </p:nvSpPr>
        <p:spPr>
          <a:xfrm>
            <a:off x="9435694" y="987552"/>
            <a:ext cx="2207361" cy="292608"/>
          </a:xfrm>
          <a:prstGeom prst="roundRect">
            <a:avLst>
              <a:gd name="adj" fmla="val 50000"/>
            </a:avLst>
          </a:prstGeom>
          <a:solidFill>
            <a:srgbClr val="F7ECE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B8452E"/>
                </a:solidFill>
                <a:latin typeface="Consolas"/>
              </a:rPr>
              <a:t>CAUGHT BEFORE MORE WORK</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11 / 17</a:t>
            </a:r>
          </a:p>
        </p:txBody>
      </p:sp>
      <p:graphicFrame>
        <p:nvGraphicFramePr>
          <p:cNvPr id="8" name="Table 7"/>
          <p:cNvGraphicFramePr>
            <a:graphicFrameLocks noGrp="1"/>
          </p:cNvGraphicFramePr>
          <p:nvPr/>
        </p:nvGraphicFramePr>
        <p:xfrm>
          <a:off x="548640" y="1600200"/>
          <a:ext cx="8595360" cy="1188720"/>
        </p:xfrm>
        <a:graphic>
          <a:graphicData uri="http://schemas.openxmlformats.org/drawingml/2006/table">
            <a:tbl>
              <a:tblPr firstRow="0" bandRow="0">
                <a:tableStyleId>{2D5ABB26-0587-4C30-8999-92F81FD0307C}</a:tableStyleId>
              </a:tblPr>
              <a:tblGrid>
                <a:gridCol w="2865120"/>
                <a:gridCol w="2865120"/>
                <a:gridCol w="2865120"/>
              </a:tblGrid>
              <a:tr h="396240">
                <a:tc>
                  <a:txBody>
                    <a:bodyPr/>
                    <a:lstStyle/>
                    <a:p>
                      <a:r>
                        <a:rPr sz="1300" b="1">
                          <a:solidFill>
                            <a:srgbClr val="F3F4F1"/>
                          </a:solidFill>
                          <a:latin typeface="Consolas"/>
                        </a:rPr>
                        <a:t> </a:t>
                      </a:r>
                    </a:p>
                  </a:txBody>
                  <a:tcPr marL="73152" marR="73152" marT="18288" marB="18288" anchor="ctr">
                    <a:solidFill>
                      <a:srgbClr val="1A1F1D"/>
                    </a:solidFill>
                  </a:tcPr>
                </a:tc>
                <a:tc>
                  <a:txBody>
                    <a:bodyPr/>
                    <a:lstStyle/>
                    <a:p>
                      <a:r>
                        <a:rPr sz="1300" b="1">
                          <a:solidFill>
                            <a:srgbClr val="F3F4F1"/>
                          </a:solidFill>
                          <a:latin typeface="Consolas"/>
                        </a:rPr>
                        <a:t>Old hash</a:t>
                      </a:r>
                    </a:p>
                  </a:txBody>
                  <a:tcPr marL="73152" marR="73152" marT="18288" marB="18288" anchor="ctr">
                    <a:solidFill>
                      <a:srgbClr val="1A1F1D"/>
                    </a:solidFill>
                  </a:tcPr>
                </a:tc>
                <a:tc>
                  <a:txBody>
                    <a:bodyPr/>
                    <a:lstStyle/>
                    <a:p>
                      <a:r>
                        <a:rPr sz="1300" b="1">
                          <a:solidFill>
                            <a:srgbClr val="F3F4F1"/>
                          </a:solidFill>
                          <a:latin typeface="Consolas"/>
                        </a:rPr>
                        <a:t>Fixed hash</a:t>
                      </a:r>
                    </a:p>
                  </a:txBody>
                  <a:tcPr marL="73152" marR="73152" marT="18288" marB="18288" anchor="ctr">
                    <a:solidFill>
                      <a:srgbClr val="1A1F1D"/>
                    </a:solidFill>
                  </a:tcPr>
                </a:tc>
              </a:tr>
              <a:tr h="396240">
                <a:tc>
                  <a:txBody>
                    <a:bodyPr/>
                    <a:lstStyle/>
                    <a:p>
                      <a:r>
                        <a:rPr sz="1450">
                          <a:solidFill>
                            <a:srgbClr val="1A1F1D"/>
                          </a:solidFill>
                          <a:latin typeface="Consolas"/>
                        </a:rPr>
                        <a:t>Round-robin</a:t>
                      </a:r>
                    </a:p>
                  </a:txBody>
                  <a:tcPr marL="73152" marR="73152" marT="18288" marB="18288" anchor="ctr">
                    <a:solidFill>
                      <a:srgbClr val="FFFFFF"/>
                    </a:solidFill>
                  </a:tcPr>
                </a:tc>
                <a:tc>
                  <a:txBody>
                    <a:bodyPr/>
                    <a:lstStyle/>
                    <a:p>
                      <a:r>
                        <a:rPr sz="1450">
                          <a:solidFill>
                            <a:srgbClr val="1A1F1D"/>
                          </a:solidFill>
                          <a:latin typeface="Consolas"/>
                        </a:rPr>
                        <a:t>0.4035%</a:t>
                      </a:r>
                    </a:p>
                  </a:txBody>
                  <a:tcPr marL="73152" marR="73152" marT="18288" marB="18288" anchor="ctr">
                    <a:solidFill>
                      <a:srgbClr val="FFFFFF"/>
                    </a:solidFill>
                  </a:tcPr>
                </a:tc>
                <a:tc>
                  <a:txBody>
                    <a:bodyPr/>
                    <a:lstStyle/>
                    <a:p>
                      <a:r>
                        <a:rPr sz="1450">
                          <a:solidFill>
                            <a:srgbClr val="1A1F1D"/>
                          </a:solidFill>
                          <a:latin typeface="Consolas"/>
                        </a:rPr>
                        <a:t>3.5758%</a:t>
                      </a:r>
                    </a:p>
                  </a:txBody>
                  <a:tcPr marL="73152" marR="73152" marT="18288" marB="18288" anchor="ctr">
                    <a:solidFill>
                      <a:srgbClr val="FFFFFF"/>
                    </a:solidFill>
                  </a:tcPr>
                </a:tc>
              </a:tr>
              <a:tr h="396240">
                <a:tc>
                  <a:txBody>
                    <a:bodyPr/>
                    <a:lstStyle/>
                    <a:p>
                      <a:r>
                        <a:rPr sz="1450">
                          <a:solidFill>
                            <a:srgbClr val="1A1F1D"/>
                          </a:solidFill>
                          <a:latin typeface="Consolas"/>
                        </a:rPr>
                        <a:t>Pinned ("protect on first hit")</a:t>
                      </a:r>
                    </a:p>
                  </a:txBody>
                  <a:tcPr marL="73152" marR="73152" marT="18288" marB="18288" anchor="ctr">
                    <a:solidFill>
                      <a:srgbClr val="F3F4F1"/>
                    </a:solidFill>
                  </a:tcPr>
                </a:tc>
                <a:tc>
                  <a:txBody>
                    <a:bodyPr/>
                    <a:lstStyle/>
                    <a:p>
                      <a:r>
                        <a:rPr sz="1450">
                          <a:solidFill>
                            <a:srgbClr val="1A1F1D"/>
                          </a:solidFill>
                          <a:latin typeface="Consolas"/>
                        </a:rPr>
                        <a:t>+25.2% relative</a:t>
                      </a:r>
                    </a:p>
                  </a:txBody>
                  <a:tcPr marL="73152" marR="73152" marT="18288" marB="18288" anchor="ctr">
                    <a:solidFill>
                      <a:srgbClr val="F3F4F1"/>
                    </a:solidFill>
                  </a:tcPr>
                </a:tc>
                <a:tc>
                  <a:txBody>
                    <a:bodyPr/>
                    <a:lstStyle/>
                    <a:p>
                      <a:r>
                        <a:rPr sz="1450">
                          <a:solidFill>
                            <a:srgbClr val="1A1F1D"/>
                          </a:solidFill>
                          <a:latin typeface="Consolas"/>
                        </a:rPr>
                        <a:t>-3.9% relative</a:t>
                      </a:r>
                    </a:p>
                  </a:txBody>
                  <a:tcPr marL="73152" marR="73152" marT="18288" marB="18288" anchor="ctr">
                    <a:solidFill>
                      <a:srgbClr val="F3F4F1"/>
                    </a:solidFill>
                  </a:tcPr>
                </a:tc>
              </a:tr>
            </a:tbl>
          </a:graphicData>
        </a:graphic>
      </p:graphicFrame>
      <p:sp>
        <p:nvSpPr>
          <p:cNvPr id="9" name="TextBox 8"/>
          <p:cNvSpPr txBox="1"/>
          <p:nvPr/>
        </p:nvSpPr>
        <p:spPr>
          <a:xfrm>
            <a:off x="548640" y="3063240"/>
            <a:ext cx="10607040" cy="1005840"/>
          </a:xfrm>
          <a:prstGeom prst="rect">
            <a:avLst/>
          </a:prstGeom>
          <a:noFill/>
        </p:spPr>
        <p:txBody>
          <a:bodyPr wrap="square" lIns="0" rIns="0" tIns="0" bIns="0">
            <a:spAutoFit/>
          </a:bodyPr>
          <a:lstStyle/>
          <a:p>
            <a:pPr algn="l">
              <a:lnSpc>
                <a:spcPct val="135000"/>
              </a:lnSpc>
              <a:spcBef>
                <a:spcPts val="0"/>
              </a:spcBef>
              <a:spcAft>
                <a:spcPts val="0"/>
              </a:spcAft>
            </a:pPr>
            <a:r>
              <a:rPr sz="1550" b="0" i="0">
                <a:solidFill>
                  <a:srgbClr val="1A1F1D"/>
                </a:solidFill>
                <a:latin typeface="Calibri"/>
              </a:rPr>
              <a:t>The earlier win was the eviction rule rescuing a broken hash, not a real property of eviction. We caught it before sinking more time into a saturating-counter design built on that basis.</a:t>
            </a:r>
          </a:p>
        </p:txBody>
      </p:sp>
      <p:sp>
        <p:nvSpPr>
          <p:cNvPr id="10" name="TextBox 9"/>
          <p:cNvSpPr txBox="1"/>
          <p:nvPr/>
        </p:nvSpPr>
        <p:spPr>
          <a:xfrm>
            <a:off x="548640" y="4160520"/>
            <a:ext cx="11094415" cy="777240"/>
          </a:xfrm>
          <a:prstGeom prst="rect">
            <a:avLst/>
          </a:prstGeom>
          <a:noFill/>
        </p:spPr>
        <p:txBody>
          <a:bodyPr wrap="square" lIns="0" rIns="0" tIns="0" bIns="0">
            <a:spAutoFit/>
          </a:bodyPr>
          <a:lstStyle/>
          <a:p>
            <a:pPr algn="l">
              <a:lnSpc>
                <a:spcPct val="128000"/>
              </a:lnSpc>
              <a:spcBef>
                <a:spcPts val="0"/>
              </a:spcBef>
              <a:spcAft>
                <a:spcPts val="0"/>
              </a:spcAft>
            </a:pPr>
            <a:r>
              <a:rPr sz="1450" b="1" i="0">
                <a:solidFill>
                  <a:srgbClr val="0E7C68"/>
                </a:solidFill>
                <a:latin typeface="Consolas"/>
              </a:rPr>
              <a:t>→  </a:t>
            </a:r>
            <a:r>
              <a:rPr sz="1450" b="1" i="0">
                <a:solidFill>
                  <a:srgbClr val="1A1F1D"/>
                </a:solidFill>
                <a:latin typeface="Calibri"/>
              </a:rPr>
              <a:t>7-agent pivot debate, if eviction continues:</a:t>
            </a:r>
            <a:r>
              <a:rPr sz="1450" b="0" i="0">
                <a:solidFill>
                  <a:srgbClr val="1A1F1D"/>
                </a:solidFill>
                <a:latin typeface="Calibri"/>
              </a:rPr>
              <a:t> pseudo-LRU and admission control are the two genuinely new candidates worth trying.</a:t>
            </a:r>
          </a:p>
        </p:txBody>
      </p:sp>
      <p:sp>
        <p:nvSpPr>
          <p:cNvPr id="11" name="TextBox 10"/>
          <p:cNvSpPr txBox="1"/>
          <p:nvPr/>
        </p:nvSpPr>
        <p:spPr>
          <a:xfrm>
            <a:off x="548640" y="4946904"/>
            <a:ext cx="11094415" cy="777240"/>
          </a:xfrm>
          <a:prstGeom prst="rect">
            <a:avLst/>
          </a:prstGeom>
          <a:noFill/>
        </p:spPr>
        <p:txBody>
          <a:bodyPr wrap="square" lIns="0" rIns="0" tIns="0" bIns="0">
            <a:spAutoFit/>
          </a:bodyPr>
          <a:lstStyle/>
          <a:p>
            <a:pPr algn="l">
              <a:lnSpc>
                <a:spcPct val="128000"/>
              </a:lnSpc>
              <a:spcBef>
                <a:spcPts val="0"/>
              </a:spcBef>
              <a:spcAft>
                <a:spcPts val="0"/>
              </a:spcAft>
            </a:pPr>
            <a:r>
              <a:rPr sz="1450" b="1" i="0">
                <a:solidFill>
                  <a:srgbClr val="0E7C68"/>
                </a:solidFill>
                <a:latin typeface="Consolas"/>
              </a:rPr>
              <a:t>→  </a:t>
            </a:r>
            <a:r>
              <a:rPr sz="1450" b="1" i="0">
                <a:solidFill>
                  <a:srgbClr val="1A1F1D"/>
                </a:solidFill>
                <a:latin typeface="Calibri"/>
              </a:rPr>
              <a:t>Real, unresolved disagreement</a:t>
            </a:r>
            <a:r>
              <a:rPr sz="1450" b="0" i="0">
                <a:solidFill>
                  <a:srgbClr val="1A1F1D"/>
                </a:solidFill>
                <a:latin typeface="Calibri"/>
              </a:rPr>
              <a:t> on how fast to close Track A (1-2 days / ~3 days / no forced pivot) - a call for you, not more research.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S5</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Prefetch-batching - ported, not yet measured</a:t>
            </a:r>
          </a:p>
        </p:txBody>
      </p:sp>
      <p:sp>
        <p:nvSpPr>
          <p:cNvPr id="5" name="Rounded Rectangle 4"/>
          <p:cNvSpPr/>
          <p:nvPr/>
        </p:nvSpPr>
        <p:spPr>
          <a:xfrm>
            <a:off x="9973361" y="987552"/>
            <a:ext cx="1669694" cy="292608"/>
          </a:xfrm>
          <a:prstGeom prst="roundRect">
            <a:avLst>
              <a:gd name="adj" fmla="val 50000"/>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9C7A1E"/>
                </a:solidFill>
                <a:latin typeface="Consolas"/>
              </a:rPr>
              <a:t>ZERO LUNA NUMBERS</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12 / 17</a:t>
            </a:r>
          </a:p>
        </p:txBody>
      </p:sp>
      <p:sp>
        <p:nvSpPr>
          <p:cNvPr id="8" name="TextBox 7"/>
          <p:cNvSpPr txBox="1"/>
          <p:nvPr/>
        </p:nvSpPr>
        <p:spPr>
          <a:xfrm>
            <a:off x="548640" y="1783080"/>
            <a:ext cx="11094415" cy="1371600"/>
          </a:xfrm>
          <a:prstGeom prst="rect">
            <a:avLst/>
          </a:prstGeom>
          <a:noFill/>
        </p:spPr>
        <p:txBody>
          <a:bodyPr wrap="square" lIns="0" rIns="0" tIns="0" bIns="0">
            <a:spAutoFit/>
          </a:bodyPr>
          <a:lstStyle/>
          <a:p>
            <a:pPr algn="l">
              <a:lnSpc>
                <a:spcPct val="130000"/>
              </a:lnSpc>
              <a:spcBef>
                <a:spcPts val="0"/>
              </a:spcBef>
              <a:spcAft>
                <a:spcPts val="0"/>
              </a:spcAft>
            </a:pPr>
            <a:r>
              <a:rPr sz="1600" b="0" i="0">
                <a:solidFill>
                  <a:srgbClr val="1A1F1D"/>
                </a:solidFill>
                <a:latin typeface="Calibri"/>
              </a:rPr>
              <a:t>A collaborator (Chirag Suthar) independently built software prefetching on Get() itself. We adapted his patch onto our tree - a real merge, not a flag-flip, since his version would have silently undone S1's fix if applied blindly.</a:t>
            </a:r>
          </a:p>
        </p:txBody>
      </p:sp>
      <p:sp>
        <p:nvSpPr>
          <p:cNvPr id="9" name="TextBox 8"/>
          <p:cNvSpPr txBox="1"/>
          <p:nvPr/>
        </p:nvSpPr>
        <p:spPr>
          <a:xfrm>
            <a:off x="548640" y="3383280"/>
            <a:ext cx="10607040" cy="1645920"/>
          </a:xfrm>
          <a:prstGeom prst="rect">
            <a:avLst/>
          </a:prstGeom>
          <a:noFill/>
        </p:spPr>
        <p:txBody>
          <a:bodyPr wrap="square" lIns="0" rIns="0" tIns="0" bIns="0">
            <a:spAutoFit/>
          </a:bodyPr>
          <a:lstStyle/>
          <a:p>
            <a:pPr algn="l">
              <a:lnSpc>
                <a:spcPct val="140000"/>
              </a:lnSpc>
              <a:spcBef>
                <a:spcPts val="0"/>
              </a:spcBef>
              <a:spcAft>
                <a:spcPts val="0"/>
              </a:spcAft>
            </a:pPr>
            <a:r>
              <a:rPr sz="1550" b="1" i="0">
                <a:solidFill>
                  <a:srgbClr val="57615C"/>
                </a:solidFill>
                <a:latin typeface="Calibri"/>
              </a:rPr>
              <a:t>Deliberately not citing his numbers as ours: </a:t>
            </a:r>
            <a:r>
              <a:rPr sz="1550" b="0" i="0">
                <a:solidFill>
                  <a:srgbClr val="57615C"/>
                </a:solidFill>
                <a:latin typeface="Calibri"/>
              </a:rPr>
              <a:t>his own machine, database, and codebase all differ from Luna's in ways that compound. The patch and a full sweep script are committed. Zero numbers exist yet - the top item for the next Luna session.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THE RIGOR BEHIND IT</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Four structured reviews, each caught something real</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6" name="TextBox 5"/>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13 / 17</a:t>
            </a:r>
          </a:p>
        </p:txBody>
      </p:sp>
      <p:graphicFrame>
        <p:nvGraphicFramePr>
          <p:cNvPr id="7" name="Table 6"/>
          <p:cNvGraphicFramePr>
            <a:graphicFrameLocks noGrp="1"/>
          </p:cNvGraphicFramePr>
          <p:nvPr/>
        </p:nvGraphicFramePr>
        <p:xfrm>
          <a:off x="548640" y="1691640"/>
          <a:ext cx="11094414" cy="2926080"/>
        </p:xfrm>
        <a:graphic>
          <a:graphicData uri="http://schemas.openxmlformats.org/drawingml/2006/table">
            <a:tbl>
              <a:tblPr firstRow="0" bandRow="0">
                <a:tableStyleId>{2D5ABB26-0587-4C30-8999-92F81FD0307C}</a:tableStyleId>
              </a:tblPr>
              <a:tblGrid>
                <a:gridCol w="3106436"/>
                <a:gridCol w="2440771"/>
                <a:gridCol w="5547207"/>
              </a:tblGrid>
              <a:tr h="585216">
                <a:tc>
                  <a:txBody>
                    <a:bodyPr/>
                    <a:lstStyle/>
                    <a:p>
                      <a:r>
                        <a:rPr sz="1250" b="1">
                          <a:solidFill>
                            <a:srgbClr val="F3F4F1"/>
                          </a:solidFill>
                          <a:latin typeface="Consolas"/>
                        </a:rPr>
                        <a:t>Review</a:t>
                      </a:r>
                    </a:p>
                  </a:txBody>
                  <a:tcPr marL="73152" marR="73152" marT="18288" marB="18288" anchor="ctr">
                    <a:solidFill>
                      <a:srgbClr val="1A1F1D"/>
                    </a:solidFill>
                  </a:tcPr>
                </a:tc>
                <a:tc>
                  <a:txBody>
                    <a:bodyPr/>
                    <a:lstStyle/>
                    <a:p>
                      <a:r>
                        <a:rPr sz="1250" b="1">
                          <a:solidFill>
                            <a:srgbClr val="F3F4F1"/>
                          </a:solidFill>
                          <a:latin typeface="Consolas"/>
                        </a:rPr>
                        <a:t>Format</a:t>
                      </a:r>
                    </a:p>
                  </a:txBody>
                  <a:tcPr marL="73152" marR="73152" marT="18288" marB="18288" anchor="ctr">
                    <a:solidFill>
                      <a:srgbClr val="1A1F1D"/>
                    </a:solidFill>
                  </a:tcPr>
                </a:tc>
                <a:tc>
                  <a:txBody>
                    <a:bodyPr/>
                    <a:lstStyle/>
                    <a:p>
                      <a:r>
                        <a:rPr sz="1250" b="1">
                          <a:solidFill>
                            <a:srgbClr val="F3F4F1"/>
                          </a:solidFill>
                          <a:latin typeface="Consolas"/>
                        </a:rPr>
                        <a:t>What it caught</a:t>
                      </a:r>
                    </a:p>
                  </a:txBody>
                  <a:tcPr marL="73152" marR="73152" marT="18288" marB="18288" anchor="ctr">
                    <a:solidFill>
                      <a:srgbClr val="1A1F1D"/>
                    </a:solidFill>
                  </a:tcPr>
                </a:tc>
              </a:tr>
              <a:tr h="585216">
                <a:tc>
                  <a:txBody>
                    <a:bodyPr/>
                    <a:lstStyle/>
                    <a:p>
                      <a:r>
                        <a:rPr sz="1300">
                          <a:solidFill>
                            <a:srgbClr val="1A1F1D"/>
                          </a:solidFill>
                          <a:latin typeface="Consolas"/>
                        </a:rPr>
                        <a:t>S1/S2 verification audit</a:t>
                      </a:r>
                    </a:p>
                  </a:txBody>
                  <a:tcPr marL="73152" marR="73152" marT="18288" marB="18288" anchor="ctr">
                    <a:solidFill>
                      <a:srgbClr val="FFFFFF"/>
                    </a:solidFill>
                  </a:tcPr>
                </a:tc>
                <a:tc>
                  <a:txBody>
                    <a:bodyPr/>
                    <a:lstStyle/>
                    <a:p>
                      <a:r>
                        <a:rPr sz="1300">
                          <a:solidFill>
                            <a:srgbClr val="1A1F1D"/>
                          </a:solidFill>
                          <a:latin typeface="Consolas"/>
                        </a:rPr>
                        <a:t>5 agents, 3 rounds</a:t>
                      </a:r>
                    </a:p>
                  </a:txBody>
                  <a:tcPr marL="73152" marR="73152" marT="18288" marB="18288" anchor="ctr">
                    <a:solidFill>
                      <a:srgbClr val="FFFFFF"/>
                    </a:solidFill>
                  </a:tcPr>
                </a:tc>
                <a:tc>
                  <a:txBody>
                    <a:bodyPr/>
                    <a:lstStyle/>
                    <a:p>
                      <a:r>
                        <a:rPr sz="1300">
                          <a:solidFill>
                            <a:srgbClr val="1A1F1D"/>
                          </a:solidFill>
                          <a:latin typeface="Consolas"/>
                        </a:rPr>
                        <a:t>The S2 nesting bug, missing checks/instrumentation</a:t>
                      </a:r>
                    </a:p>
                  </a:txBody>
                  <a:tcPr marL="73152" marR="73152" marT="18288" marB="18288" anchor="ctr">
                    <a:solidFill>
                      <a:srgbClr val="FFFFFF"/>
                    </a:solidFill>
                  </a:tcPr>
                </a:tc>
              </a:tr>
              <a:tr h="585216">
                <a:tc>
                  <a:txBody>
                    <a:bodyPr/>
                    <a:lstStyle/>
                    <a:p>
                      <a:r>
                        <a:rPr sz="1300">
                          <a:solidFill>
                            <a:srgbClr val="1A1F1D"/>
                          </a:solidFill>
                          <a:latin typeface="Consolas"/>
                        </a:rPr>
                        <a:t>S3/S4 design debate</a:t>
                      </a:r>
                    </a:p>
                  </a:txBody>
                  <a:tcPr marL="73152" marR="73152" marT="18288" marB="18288" anchor="ctr">
                    <a:solidFill>
                      <a:srgbClr val="F3F4F1"/>
                    </a:solidFill>
                  </a:tcPr>
                </a:tc>
                <a:tc>
                  <a:txBody>
                    <a:bodyPr/>
                    <a:lstStyle/>
                    <a:p>
                      <a:r>
                        <a:rPr sz="1300">
                          <a:solidFill>
                            <a:srgbClr val="1A1F1D"/>
                          </a:solidFill>
                          <a:latin typeface="Consolas"/>
                        </a:rPr>
                        <a:t>5 agents, 3 rounds</a:t>
                      </a:r>
                    </a:p>
                  </a:txBody>
                  <a:tcPr marL="73152" marR="73152" marT="18288" marB="18288" anchor="ctr">
                    <a:solidFill>
                      <a:srgbClr val="F3F4F1"/>
                    </a:solidFill>
                  </a:tcPr>
                </a:tc>
                <a:tc>
                  <a:txBody>
                    <a:bodyPr/>
                    <a:lstStyle/>
                    <a:p>
                      <a:r>
                        <a:rPr sz="1300">
                          <a:solidFill>
                            <a:srgbClr val="1A1F1D"/>
                          </a:solidFill>
                          <a:latin typeface="Consolas"/>
                        </a:rPr>
                        <a:t>210MB-&gt;105MB/socket correction; flagged hash-mixing pre-req</a:t>
                      </a:r>
                    </a:p>
                  </a:txBody>
                  <a:tcPr marL="73152" marR="73152" marT="18288" marB="18288" anchor="ctr">
                    <a:solidFill>
                      <a:srgbClr val="F3F4F1"/>
                    </a:solidFill>
                  </a:tcPr>
                </a:tc>
              </a:tr>
              <a:tr h="585216">
                <a:tc>
                  <a:txBody>
                    <a:bodyPr/>
                    <a:lstStyle/>
                    <a:p>
                      <a:r>
                        <a:rPr sz="1300">
                          <a:solidFill>
                            <a:srgbClr val="1A1F1D"/>
                          </a:solidFill>
                          <a:latin typeface="Consolas"/>
                        </a:rPr>
                        <a:t>Two-thesis strategy debate</a:t>
                      </a:r>
                    </a:p>
                  </a:txBody>
                  <a:tcPr marL="73152" marR="73152" marT="18288" marB="18288" anchor="ctr">
                    <a:solidFill>
                      <a:srgbClr val="FFFFFF"/>
                    </a:solidFill>
                  </a:tcPr>
                </a:tc>
                <a:tc>
                  <a:txBody>
                    <a:bodyPr/>
                    <a:lstStyle/>
                    <a:p>
                      <a:r>
                        <a:rPr sz="1300">
                          <a:solidFill>
                            <a:srgbClr val="1A1F1D"/>
                          </a:solidFill>
                          <a:latin typeface="Consolas"/>
                        </a:rPr>
                        <a:t>5 agents, 3 rounds</a:t>
                      </a:r>
                    </a:p>
                  </a:txBody>
                  <a:tcPr marL="73152" marR="73152" marT="18288" marB="18288" anchor="ctr">
                    <a:solidFill>
                      <a:srgbClr val="FFFFFF"/>
                    </a:solidFill>
                  </a:tcPr>
                </a:tc>
                <a:tc>
                  <a:txBody>
                    <a:bodyPr/>
                    <a:lstStyle/>
                    <a:p>
                      <a:r>
                        <a:rPr sz="1300">
                          <a:solidFill>
                            <a:srgbClr val="1A1F1D"/>
                          </a:solidFill>
                          <a:latin typeface="Consolas"/>
                        </a:rPr>
                        <a:t>B2 doesn't need B1; ESKAPE ceiling is structural</a:t>
                      </a:r>
                    </a:p>
                  </a:txBody>
                  <a:tcPr marL="73152" marR="73152" marT="18288" marB="18288" anchor="ctr">
                    <a:solidFill>
                      <a:srgbClr val="FFFFFF"/>
                    </a:solidFill>
                  </a:tcPr>
                </a:tc>
              </a:tr>
              <a:tr h="585216">
                <a:tc>
                  <a:txBody>
                    <a:bodyPr/>
                    <a:lstStyle/>
                    <a:p>
                      <a:r>
                        <a:rPr sz="1300">
                          <a:solidFill>
                            <a:srgbClr val="1A1F1D"/>
                          </a:solidFill>
                          <a:latin typeface="Consolas"/>
                        </a:rPr>
                        <a:t>Track A pivot debate</a:t>
                      </a:r>
                    </a:p>
                  </a:txBody>
                  <a:tcPr marL="73152" marR="73152" marT="18288" marB="18288" anchor="ctr">
                    <a:solidFill>
                      <a:srgbClr val="F3F4F1"/>
                    </a:solidFill>
                  </a:tcPr>
                </a:tc>
                <a:tc>
                  <a:txBody>
                    <a:bodyPr/>
                    <a:lstStyle/>
                    <a:p>
                      <a:r>
                        <a:rPr sz="1300">
                          <a:solidFill>
                            <a:srgbClr val="1A1F1D"/>
                          </a:solidFill>
                          <a:latin typeface="Consolas"/>
                        </a:rPr>
                        <a:t>7 agents + coordinator</a:t>
                      </a:r>
                    </a:p>
                  </a:txBody>
                  <a:tcPr marL="73152" marR="73152" marT="18288" marB="18288" anchor="ctr">
                    <a:solidFill>
                      <a:srgbClr val="F3F4F1"/>
                    </a:solidFill>
                  </a:tcPr>
                </a:tc>
                <a:tc>
                  <a:txBody>
                    <a:bodyPr/>
                    <a:lstStyle/>
                    <a:p>
                      <a:r>
                        <a:rPr sz="1300">
                          <a:solidFill>
                            <a:srgbClr val="1A1F1D"/>
                          </a:solidFill>
                          <a:latin typeface="Consolas"/>
                        </a:rPr>
                        <a:t>S4.1 basis reversal; prefetch recommendation</a:t>
                      </a:r>
                    </a:p>
                  </a:txBody>
                  <a:tcPr marL="73152" marR="73152" marT="18288" marB="18288" anchor="ctr">
                    <a:solidFill>
                      <a:srgbClr val="F3F4F1"/>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B</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Where it actually stands</a:t>
            </a:r>
          </a:p>
        </p:txBody>
      </p:sp>
      <p:sp>
        <p:nvSpPr>
          <p:cNvPr id="5" name="Rounded Rectangle 4"/>
          <p:cNvSpPr/>
          <p:nvPr/>
        </p:nvSpPr>
        <p:spPr>
          <a:xfrm>
            <a:off x="9614916" y="987552"/>
            <a:ext cx="2028139" cy="292608"/>
          </a:xfrm>
          <a:prstGeom prst="roundRect">
            <a:avLst>
              <a:gd name="adj" fmla="val 50000"/>
            </a:avLst>
          </a:prstGeom>
          <a:solidFill>
            <a:srgbClr val="F5F1E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100" b="1">
                <a:solidFill>
                  <a:srgbClr val="9C7A1E"/>
                </a:solidFill>
                <a:latin typeface="Consolas"/>
              </a:rPr>
              <a:t>0 COMMITS - BY DESIGN</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14 / 17</a:t>
            </a:r>
          </a:p>
        </p:txBody>
      </p:sp>
      <p:sp>
        <p:nvSpPr>
          <p:cNvPr id="8" name="TextBox 7"/>
          <p:cNvSpPr txBox="1"/>
          <p:nvPr/>
        </p:nvSpPr>
        <p:spPr>
          <a:xfrm>
            <a:off x="548640" y="1828800"/>
            <a:ext cx="11094415" cy="777240"/>
          </a:xfrm>
          <a:prstGeom prst="rect">
            <a:avLst/>
          </a:prstGeom>
          <a:noFill/>
        </p:spPr>
        <p:txBody>
          <a:bodyPr wrap="square" lIns="0" rIns="0" tIns="0" bIns="0">
            <a:spAutoFit/>
          </a:bodyPr>
          <a:lstStyle/>
          <a:p>
            <a:pPr algn="l">
              <a:lnSpc>
                <a:spcPct val="128000"/>
              </a:lnSpc>
              <a:spcBef>
                <a:spcPts val="0"/>
              </a:spcBef>
              <a:spcAft>
                <a:spcPts val="0"/>
              </a:spcAft>
            </a:pPr>
            <a:r>
              <a:rPr sz="1700" b="1" i="0">
                <a:solidFill>
                  <a:srgbClr val="0E7C68"/>
                </a:solidFill>
                <a:latin typeface="Consolas"/>
              </a:rPr>
              <a:t>→  </a:t>
            </a:r>
            <a:r>
              <a:rPr sz="1700" b="1" i="0">
                <a:solidFill>
                  <a:srgbClr val="1A1F1D"/>
                </a:solidFill>
                <a:latin typeface="Calibri"/>
              </a:rPr>
              <a:t>B2 (bitmask) doesn't need B1 (double hashing) first</a:t>
            </a:r>
            <a:r>
              <a:rPr sz="1700" b="0" i="0">
                <a:solidFill>
                  <a:srgbClr val="1A1F1D"/>
                </a:solidFill>
                <a:latin typeface="Calibri"/>
              </a:rPr>
              <a:t> - confirmed at source level. B2 was also your literal Meeting 11 ask.</a:t>
            </a:r>
          </a:p>
        </p:txBody>
      </p:sp>
      <p:sp>
        <p:nvSpPr>
          <p:cNvPr id="9" name="TextBox 8"/>
          <p:cNvSpPr txBox="1"/>
          <p:nvPr/>
        </p:nvSpPr>
        <p:spPr>
          <a:xfrm>
            <a:off x="548640" y="2615184"/>
            <a:ext cx="11094415" cy="777240"/>
          </a:xfrm>
          <a:prstGeom prst="rect">
            <a:avLst/>
          </a:prstGeom>
          <a:noFill/>
        </p:spPr>
        <p:txBody>
          <a:bodyPr wrap="square" lIns="0" rIns="0" tIns="0" bIns="0">
            <a:spAutoFit/>
          </a:bodyPr>
          <a:lstStyle/>
          <a:p>
            <a:pPr algn="l">
              <a:lnSpc>
                <a:spcPct val="128000"/>
              </a:lnSpc>
              <a:spcBef>
                <a:spcPts val="0"/>
              </a:spcBef>
              <a:spcAft>
                <a:spcPts val="0"/>
              </a:spcAft>
            </a:pPr>
            <a:r>
              <a:rPr sz="1700" b="1" i="0">
                <a:solidFill>
                  <a:srgbClr val="0E7C68"/>
                </a:solidFill>
                <a:latin typeface="Consolas"/>
              </a:rPr>
              <a:t>→  </a:t>
            </a:r>
            <a:r>
              <a:rPr sz="1700" b="1" i="0">
                <a:solidFill>
                  <a:srgbClr val="1A1F1D"/>
                </a:solidFill>
                <a:latin typeface="Calibri"/>
              </a:rPr>
              <a:t>B1 is real work, not a flag flip</a:t>
            </a:r>
            <a:r>
              <a:rPr sz="1700" b="0" i="0">
                <a:solidFill>
                  <a:srgbClr val="1A1F1D"/>
                </a:solidFill>
                <a:latin typeface="Calibri"/>
              </a:rPr>
              <a:t> - second_hash() is a stub hardcoded to return 1, plus testing needs a full DB rebuild.</a:t>
            </a:r>
          </a:p>
        </p:txBody>
      </p:sp>
      <p:sp>
        <p:nvSpPr>
          <p:cNvPr id="10" name="TextBox 9"/>
          <p:cNvSpPr txBox="1"/>
          <p:nvPr/>
        </p:nvSpPr>
        <p:spPr>
          <a:xfrm>
            <a:off x="548640" y="3401568"/>
            <a:ext cx="11094415" cy="777240"/>
          </a:xfrm>
          <a:prstGeom prst="rect">
            <a:avLst/>
          </a:prstGeom>
          <a:noFill/>
        </p:spPr>
        <p:txBody>
          <a:bodyPr wrap="square" lIns="0" rIns="0" tIns="0" bIns="0">
            <a:spAutoFit/>
          </a:bodyPr>
          <a:lstStyle/>
          <a:p>
            <a:pPr algn="l">
              <a:lnSpc>
                <a:spcPct val="128000"/>
              </a:lnSpc>
              <a:spcBef>
                <a:spcPts val="0"/>
              </a:spcBef>
              <a:spcAft>
                <a:spcPts val="0"/>
              </a:spcAft>
            </a:pPr>
            <a:r>
              <a:rPr sz="1700" b="1" i="0">
                <a:solidFill>
                  <a:srgbClr val="0E7C68"/>
                </a:solidFill>
                <a:latin typeface="Consolas"/>
              </a:rPr>
              <a:t>→  </a:t>
            </a:r>
            <a:r>
              <a:rPr sz="1700" b="1" i="0">
                <a:solidFill>
                  <a:srgbClr val="1A1F1D"/>
                </a:solidFill>
                <a:latin typeface="Calibri"/>
              </a:rPr>
              <a:t>ESKAPE panel capped at 4 of 6 species</a:t>
            </a:r>
            <a:r>
              <a:rPr sz="1700" b="0" i="0">
                <a:solidFill>
                  <a:srgbClr val="1A1F1D"/>
                </a:solidFill>
                <a:latin typeface="Calibri"/>
              </a:rPr>
              <a:t>, structurally - two were never sourced.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WHAT'S NEXT</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Running now, and immediately after</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6" name="TextBox 5"/>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15 / 17</a:t>
            </a:r>
          </a:p>
        </p:txBody>
      </p:sp>
      <p:sp>
        <p:nvSpPr>
          <p:cNvPr id="7" name="TextBox 6"/>
          <p:cNvSpPr txBox="1"/>
          <p:nvPr/>
        </p:nvSpPr>
        <p:spPr>
          <a:xfrm>
            <a:off x="548640" y="1783080"/>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700" b="1" i="0">
                <a:solidFill>
                  <a:srgbClr val="0E7C68"/>
                </a:solidFill>
                <a:latin typeface="Consolas"/>
              </a:rPr>
              <a:t>1</a:t>
            </a:r>
          </a:p>
        </p:txBody>
      </p:sp>
      <p:sp>
        <p:nvSpPr>
          <p:cNvPr id="8" name="TextBox 7"/>
          <p:cNvSpPr txBox="1"/>
          <p:nvPr/>
        </p:nvSpPr>
        <p:spPr>
          <a:xfrm>
            <a:off x="1051560" y="1783080"/>
            <a:ext cx="10058400" cy="548640"/>
          </a:xfrm>
          <a:prstGeom prst="rect">
            <a:avLst/>
          </a:prstGeom>
          <a:noFill/>
        </p:spPr>
        <p:txBody>
          <a:bodyPr wrap="square" lIns="0" rIns="0" tIns="0" bIns="0">
            <a:spAutoFit/>
          </a:bodyPr>
          <a:lstStyle/>
          <a:p>
            <a:pPr algn="l">
              <a:lnSpc>
                <a:spcPct val="125000"/>
              </a:lnSpc>
              <a:spcBef>
                <a:spcPts val="0"/>
              </a:spcBef>
              <a:spcAft>
                <a:spcPts val="0"/>
              </a:spcAft>
            </a:pPr>
            <a:r>
              <a:rPr sz="1600" b="0" i="0">
                <a:solidFill>
                  <a:srgbClr val="1A1F1D"/>
                </a:solidFill>
                <a:latin typeface="Calibri"/>
              </a:rPr>
              <a:t>Run the S5.0 prefetch sweep on Luna - built, not yet measured</a:t>
            </a:r>
          </a:p>
        </p:txBody>
      </p:sp>
      <p:sp>
        <p:nvSpPr>
          <p:cNvPr id="9" name="TextBox 8"/>
          <p:cNvSpPr txBox="1"/>
          <p:nvPr/>
        </p:nvSpPr>
        <p:spPr>
          <a:xfrm>
            <a:off x="548640" y="2468880"/>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700" b="1" i="0">
                <a:solidFill>
                  <a:srgbClr val="0E7C68"/>
                </a:solidFill>
                <a:latin typeface="Consolas"/>
              </a:rPr>
              <a:t>2</a:t>
            </a:r>
          </a:p>
        </p:txBody>
      </p:sp>
      <p:sp>
        <p:nvSpPr>
          <p:cNvPr id="10" name="TextBox 9"/>
          <p:cNvSpPr txBox="1"/>
          <p:nvPr/>
        </p:nvSpPr>
        <p:spPr>
          <a:xfrm>
            <a:off x="1051560" y="2468880"/>
            <a:ext cx="10058400" cy="548640"/>
          </a:xfrm>
          <a:prstGeom prst="rect">
            <a:avLst/>
          </a:prstGeom>
          <a:noFill/>
        </p:spPr>
        <p:txBody>
          <a:bodyPr wrap="square" lIns="0" rIns="0" tIns="0" bIns="0">
            <a:spAutoFit/>
          </a:bodyPr>
          <a:lstStyle/>
          <a:p>
            <a:pPr algn="l">
              <a:lnSpc>
                <a:spcPct val="125000"/>
              </a:lnSpc>
              <a:spcBef>
                <a:spcPts val="0"/>
              </a:spcBef>
              <a:spcAft>
                <a:spcPts val="0"/>
              </a:spcAft>
            </a:pPr>
            <a:r>
              <a:rPr sz="1600" b="0" i="0">
                <a:solidFill>
                  <a:srgbClr val="1A1F1D"/>
                </a:solidFill>
                <a:latin typeface="Calibri"/>
              </a:rPr>
              <a:t>The Q2 capacity re-sweep (fixed hash, raised clamp) - half a day to a day</a:t>
            </a:r>
          </a:p>
        </p:txBody>
      </p:sp>
      <p:sp>
        <p:nvSpPr>
          <p:cNvPr id="11" name="TextBox 10"/>
          <p:cNvSpPr txBox="1"/>
          <p:nvPr/>
        </p:nvSpPr>
        <p:spPr>
          <a:xfrm>
            <a:off x="548640" y="3154680"/>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700" b="1" i="0">
                <a:solidFill>
                  <a:srgbClr val="0E7C68"/>
                </a:solidFill>
                <a:latin typeface="Consolas"/>
              </a:rPr>
              <a:t>3</a:t>
            </a:r>
          </a:p>
        </p:txBody>
      </p:sp>
      <p:sp>
        <p:nvSpPr>
          <p:cNvPr id="12" name="TextBox 11"/>
          <p:cNvSpPr txBox="1"/>
          <p:nvPr/>
        </p:nvSpPr>
        <p:spPr>
          <a:xfrm>
            <a:off x="1051560" y="3154680"/>
            <a:ext cx="10058400" cy="548640"/>
          </a:xfrm>
          <a:prstGeom prst="rect">
            <a:avLst/>
          </a:prstGeom>
          <a:noFill/>
        </p:spPr>
        <p:txBody>
          <a:bodyPr wrap="square" lIns="0" rIns="0" tIns="0" bIns="0">
            <a:spAutoFit/>
          </a:bodyPr>
          <a:lstStyle/>
          <a:p>
            <a:pPr algn="l">
              <a:lnSpc>
                <a:spcPct val="125000"/>
              </a:lnSpc>
              <a:spcBef>
                <a:spcPts val="0"/>
              </a:spcBef>
              <a:spcAft>
                <a:spcPts val="0"/>
              </a:spcAft>
            </a:pPr>
            <a:r>
              <a:rPr sz="1600" b="0" i="0">
                <a:solidFill>
                  <a:srgbClr val="1A1F1D"/>
                </a:solidFill>
                <a:latin typeface="Calibri"/>
              </a:rPr>
              <a:t>Commit the pivot debate record (done)</a:t>
            </a:r>
          </a:p>
        </p:txBody>
      </p:sp>
      <p:sp>
        <p:nvSpPr>
          <p:cNvPr id="13" name="TextBox 12"/>
          <p:cNvSpPr txBox="1"/>
          <p:nvPr/>
        </p:nvSpPr>
        <p:spPr>
          <a:xfrm>
            <a:off x="548640" y="3840480"/>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700" b="1" i="0">
                <a:solidFill>
                  <a:srgbClr val="0E7C68"/>
                </a:solidFill>
                <a:latin typeface="Consolas"/>
              </a:rPr>
              <a:t>4</a:t>
            </a:r>
          </a:p>
        </p:txBody>
      </p:sp>
      <p:sp>
        <p:nvSpPr>
          <p:cNvPr id="14" name="TextBox 13"/>
          <p:cNvSpPr txBox="1"/>
          <p:nvPr/>
        </p:nvSpPr>
        <p:spPr>
          <a:xfrm>
            <a:off x="1051560" y="3840480"/>
            <a:ext cx="10058400" cy="548640"/>
          </a:xfrm>
          <a:prstGeom prst="rect">
            <a:avLst/>
          </a:prstGeom>
          <a:noFill/>
        </p:spPr>
        <p:txBody>
          <a:bodyPr wrap="square" lIns="0" rIns="0" tIns="0" bIns="0">
            <a:spAutoFit/>
          </a:bodyPr>
          <a:lstStyle/>
          <a:p>
            <a:pPr algn="l">
              <a:lnSpc>
                <a:spcPct val="125000"/>
              </a:lnSpc>
              <a:spcBef>
                <a:spcPts val="0"/>
              </a:spcBef>
              <a:spcAft>
                <a:spcPts val="0"/>
              </a:spcAft>
            </a:pPr>
            <a:r>
              <a:rPr sz="1600" b="0" i="0">
                <a:solidFill>
                  <a:srgbClr val="1A1F1D"/>
                </a:solidFill>
                <a:latin typeface="Calibri"/>
              </a:rPr>
              <a:t>Fix the stale kraken2_opt_v1.patch line in CLAUDE.md:151</a:t>
            </a:r>
          </a:p>
        </p:txBody>
      </p:sp>
      <p:sp>
        <p:nvSpPr>
          <p:cNvPr id="15" name="TextBox 14"/>
          <p:cNvSpPr txBox="1"/>
          <p:nvPr/>
        </p:nvSpPr>
        <p:spPr>
          <a:xfrm>
            <a:off x="548640" y="4526280"/>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700" b="1" i="0">
                <a:solidFill>
                  <a:srgbClr val="0E7C68"/>
                </a:solidFill>
                <a:latin typeface="Consolas"/>
              </a:rPr>
              <a:t>5</a:t>
            </a:r>
          </a:p>
        </p:txBody>
      </p:sp>
      <p:sp>
        <p:nvSpPr>
          <p:cNvPr id="16" name="TextBox 15"/>
          <p:cNvSpPr txBox="1"/>
          <p:nvPr/>
        </p:nvSpPr>
        <p:spPr>
          <a:xfrm>
            <a:off x="1051560" y="4526280"/>
            <a:ext cx="10058400" cy="548640"/>
          </a:xfrm>
          <a:prstGeom prst="rect">
            <a:avLst/>
          </a:prstGeom>
          <a:noFill/>
        </p:spPr>
        <p:txBody>
          <a:bodyPr wrap="square" lIns="0" rIns="0" tIns="0" bIns="0">
            <a:spAutoFit/>
          </a:bodyPr>
          <a:lstStyle/>
          <a:p>
            <a:pPr algn="l">
              <a:lnSpc>
                <a:spcPct val="125000"/>
              </a:lnSpc>
              <a:spcBef>
                <a:spcPts val="0"/>
              </a:spcBef>
              <a:spcAft>
                <a:spcPts val="0"/>
              </a:spcAft>
            </a:pPr>
            <a:r>
              <a:rPr sz="1600" b="0" i="0">
                <a:solidFill>
                  <a:srgbClr val="1A1F1D"/>
                </a:solidFill>
                <a:latin typeface="Calibri"/>
              </a:rPr>
              <a:t>B2.1 (bitmask math) can start in parallel - zero Luna dependency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54406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50292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DECISIONS NEEDED</a:t>
            </a:r>
          </a:p>
        </p:txBody>
      </p:sp>
      <p:sp>
        <p:nvSpPr>
          <p:cNvPr id="4" name="TextBox 3"/>
          <p:cNvSpPr txBox="1"/>
          <p:nvPr/>
        </p:nvSpPr>
        <p:spPr>
          <a:xfrm>
            <a:off x="548640" y="868680"/>
            <a:ext cx="9082735" cy="822960"/>
          </a:xfrm>
          <a:prstGeom prst="rect">
            <a:avLst/>
          </a:prstGeom>
          <a:noFill/>
        </p:spPr>
        <p:txBody>
          <a:bodyPr wrap="square" lIns="0" rIns="0" tIns="0" bIns="0">
            <a:spAutoFit/>
          </a:bodyPr>
          <a:lstStyle/>
          <a:p>
            <a:pPr algn="l">
              <a:lnSpc>
                <a:spcPct val="105000"/>
              </a:lnSpc>
              <a:spcBef>
                <a:spcPts val="0"/>
              </a:spcBef>
              <a:spcAft>
                <a:spcPts val="0"/>
              </a:spcAft>
            </a:pPr>
            <a:r>
              <a:rPr sz="2800" b="1" i="0">
                <a:solidFill>
                  <a:srgbClr val="1A1F1D"/>
                </a:solidFill>
                <a:latin typeface="Cambria"/>
              </a:rPr>
              <a:t>What we're asking you to decide, sir</a:t>
            </a:r>
          </a:p>
        </p:txBody>
      </p:sp>
      <p:sp>
        <p:nvSpPr>
          <p:cNvPr id="5" name="TextBox 4"/>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6" name="TextBox 5"/>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16 / 17</a:t>
            </a:r>
          </a:p>
        </p:txBody>
      </p:sp>
      <p:sp>
        <p:nvSpPr>
          <p:cNvPr id="7" name="TextBox 6"/>
          <p:cNvSpPr txBox="1"/>
          <p:nvPr/>
        </p:nvSpPr>
        <p:spPr>
          <a:xfrm>
            <a:off x="548640" y="1783080"/>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800" b="1" i="0">
                <a:solidFill>
                  <a:srgbClr val="0E7C68"/>
                </a:solidFill>
                <a:latin typeface="Consolas"/>
              </a:rPr>
              <a:t>01</a:t>
            </a:r>
          </a:p>
        </p:txBody>
      </p:sp>
      <p:sp>
        <p:nvSpPr>
          <p:cNvPr id="8" name="TextBox 7"/>
          <p:cNvSpPr txBox="1"/>
          <p:nvPr/>
        </p:nvSpPr>
        <p:spPr>
          <a:xfrm>
            <a:off x="1097280" y="1783080"/>
            <a:ext cx="9875520"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1A1F1D"/>
                </a:solidFill>
                <a:latin typeface="Consolas"/>
              </a:rPr>
              <a:t>PACE</a:t>
            </a:r>
          </a:p>
        </p:txBody>
      </p:sp>
      <p:sp>
        <p:nvSpPr>
          <p:cNvPr id="9" name="TextBox 8"/>
          <p:cNvSpPr txBox="1"/>
          <p:nvPr/>
        </p:nvSpPr>
        <p:spPr>
          <a:xfrm>
            <a:off x="1097280" y="2148840"/>
            <a:ext cx="10058400" cy="457200"/>
          </a:xfrm>
          <a:prstGeom prst="rect">
            <a:avLst/>
          </a:prstGeom>
          <a:noFill/>
        </p:spPr>
        <p:txBody>
          <a:bodyPr wrap="square" lIns="0" rIns="0" tIns="0" bIns="0">
            <a:spAutoFit/>
          </a:bodyPr>
          <a:lstStyle/>
          <a:p>
            <a:pPr algn="l">
              <a:lnSpc>
                <a:spcPct val="125000"/>
              </a:lnSpc>
              <a:spcBef>
                <a:spcPts val="0"/>
              </a:spcBef>
              <a:spcAft>
                <a:spcPts val="0"/>
              </a:spcAft>
            </a:pPr>
            <a:r>
              <a:rPr sz="1450" b="0" i="0">
                <a:solidFill>
                  <a:srgbClr val="57615C"/>
                </a:solidFill>
                <a:latin typeface="Calibri"/>
              </a:rPr>
              <a:t>How much more Track A time before we shift fully to Track B, ~12 days left?</a:t>
            </a:r>
          </a:p>
        </p:txBody>
      </p:sp>
      <p:sp>
        <p:nvSpPr>
          <p:cNvPr id="10" name="TextBox 9"/>
          <p:cNvSpPr txBox="1"/>
          <p:nvPr/>
        </p:nvSpPr>
        <p:spPr>
          <a:xfrm>
            <a:off x="548640" y="2679192"/>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800" b="1" i="0">
                <a:solidFill>
                  <a:srgbClr val="0E7C68"/>
                </a:solidFill>
                <a:latin typeface="Consolas"/>
              </a:rPr>
              <a:t>02</a:t>
            </a:r>
          </a:p>
        </p:txBody>
      </p:sp>
      <p:sp>
        <p:nvSpPr>
          <p:cNvPr id="11" name="TextBox 10"/>
          <p:cNvSpPr txBox="1"/>
          <p:nvPr/>
        </p:nvSpPr>
        <p:spPr>
          <a:xfrm>
            <a:off x="1097280" y="2679192"/>
            <a:ext cx="9875520"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1A1F1D"/>
                </a:solidFill>
                <a:latin typeface="Consolas"/>
              </a:rPr>
              <a:t>SCOPE</a:t>
            </a:r>
          </a:p>
        </p:txBody>
      </p:sp>
      <p:sp>
        <p:nvSpPr>
          <p:cNvPr id="12" name="TextBox 11"/>
          <p:cNvSpPr txBox="1"/>
          <p:nvPr/>
        </p:nvSpPr>
        <p:spPr>
          <a:xfrm>
            <a:off x="1097280" y="3044952"/>
            <a:ext cx="10058400" cy="457200"/>
          </a:xfrm>
          <a:prstGeom prst="rect">
            <a:avLst/>
          </a:prstGeom>
          <a:noFill/>
        </p:spPr>
        <p:txBody>
          <a:bodyPr wrap="square" lIns="0" rIns="0" tIns="0" bIns="0">
            <a:spAutoFit/>
          </a:bodyPr>
          <a:lstStyle/>
          <a:p>
            <a:pPr algn="l">
              <a:lnSpc>
                <a:spcPct val="125000"/>
              </a:lnSpc>
              <a:spcBef>
                <a:spcPts val="0"/>
              </a:spcBef>
              <a:spcAft>
                <a:spcPts val="0"/>
              </a:spcAft>
            </a:pPr>
            <a:r>
              <a:rPr sz="1450" b="0" i="0">
                <a:solidFill>
                  <a:srgbClr val="57615C"/>
                </a:solidFill>
                <a:latin typeface="Calibri"/>
              </a:rPr>
              <a:t>Is double hashing required, or a stretch goal?</a:t>
            </a:r>
          </a:p>
        </p:txBody>
      </p:sp>
      <p:sp>
        <p:nvSpPr>
          <p:cNvPr id="13" name="TextBox 12"/>
          <p:cNvSpPr txBox="1"/>
          <p:nvPr/>
        </p:nvSpPr>
        <p:spPr>
          <a:xfrm>
            <a:off x="548640" y="3575304"/>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800" b="1" i="0">
                <a:solidFill>
                  <a:srgbClr val="0E7C68"/>
                </a:solidFill>
                <a:latin typeface="Consolas"/>
              </a:rPr>
              <a:t>03</a:t>
            </a:r>
          </a:p>
        </p:txBody>
      </p:sp>
      <p:sp>
        <p:nvSpPr>
          <p:cNvPr id="14" name="TextBox 13"/>
          <p:cNvSpPr txBox="1"/>
          <p:nvPr/>
        </p:nvSpPr>
        <p:spPr>
          <a:xfrm>
            <a:off x="1097280" y="3575304"/>
            <a:ext cx="9875520"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1A1F1D"/>
                </a:solidFill>
                <a:latin typeface="Consolas"/>
              </a:rPr>
              <a:t>ESKAPE</a:t>
            </a:r>
          </a:p>
        </p:txBody>
      </p:sp>
      <p:sp>
        <p:nvSpPr>
          <p:cNvPr id="15" name="TextBox 14"/>
          <p:cNvSpPr txBox="1"/>
          <p:nvPr/>
        </p:nvSpPr>
        <p:spPr>
          <a:xfrm>
            <a:off x="1097280" y="3941064"/>
            <a:ext cx="10058400" cy="457200"/>
          </a:xfrm>
          <a:prstGeom prst="rect">
            <a:avLst/>
          </a:prstGeom>
          <a:noFill/>
        </p:spPr>
        <p:txBody>
          <a:bodyPr wrap="square" lIns="0" rIns="0" tIns="0" bIns="0">
            <a:spAutoFit/>
          </a:bodyPr>
          <a:lstStyle/>
          <a:p>
            <a:pPr algn="l">
              <a:lnSpc>
                <a:spcPct val="125000"/>
              </a:lnSpc>
              <a:spcBef>
                <a:spcPts val="0"/>
              </a:spcBef>
              <a:spcAft>
                <a:spcPts val="0"/>
              </a:spcAft>
            </a:pPr>
            <a:r>
              <a:rPr sz="1450" b="0" i="0">
                <a:solidFill>
                  <a:srgbClr val="57615C"/>
                </a:solidFill>
                <a:latin typeface="Calibri"/>
              </a:rPr>
              <a:t>4-organism result, or spend time sourcing the other 2?</a:t>
            </a:r>
          </a:p>
        </p:txBody>
      </p:sp>
      <p:sp>
        <p:nvSpPr>
          <p:cNvPr id="16" name="TextBox 15"/>
          <p:cNvSpPr txBox="1"/>
          <p:nvPr/>
        </p:nvSpPr>
        <p:spPr>
          <a:xfrm>
            <a:off x="548640" y="4471416"/>
            <a:ext cx="457200" cy="457200"/>
          </a:xfrm>
          <a:prstGeom prst="rect">
            <a:avLst/>
          </a:prstGeom>
          <a:noFill/>
        </p:spPr>
        <p:txBody>
          <a:bodyPr wrap="square" lIns="0" rIns="0" tIns="0" bIns="0">
            <a:spAutoFit/>
          </a:bodyPr>
          <a:lstStyle/>
          <a:p>
            <a:pPr algn="l">
              <a:lnSpc>
                <a:spcPct val="115000"/>
              </a:lnSpc>
              <a:spcBef>
                <a:spcPts val="0"/>
              </a:spcBef>
              <a:spcAft>
                <a:spcPts val="0"/>
              </a:spcAft>
            </a:pPr>
            <a:r>
              <a:rPr sz="1800" b="1" i="0">
                <a:solidFill>
                  <a:srgbClr val="0E7C68"/>
                </a:solidFill>
                <a:latin typeface="Consolas"/>
              </a:rPr>
              <a:t>04</a:t>
            </a:r>
          </a:p>
        </p:txBody>
      </p:sp>
      <p:sp>
        <p:nvSpPr>
          <p:cNvPr id="17" name="TextBox 16"/>
          <p:cNvSpPr txBox="1"/>
          <p:nvPr/>
        </p:nvSpPr>
        <p:spPr>
          <a:xfrm>
            <a:off x="1097280" y="4471416"/>
            <a:ext cx="9875520" cy="365760"/>
          </a:xfrm>
          <a:prstGeom prst="rect">
            <a:avLst/>
          </a:prstGeom>
          <a:noFill/>
        </p:spPr>
        <p:txBody>
          <a:bodyPr wrap="square" lIns="0" rIns="0" tIns="0" bIns="0">
            <a:spAutoFit/>
          </a:bodyPr>
          <a:lstStyle/>
          <a:p>
            <a:pPr algn="l">
              <a:lnSpc>
                <a:spcPct val="115000"/>
              </a:lnSpc>
              <a:spcBef>
                <a:spcPts val="0"/>
              </a:spcBef>
              <a:spcAft>
                <a:spcPts val="0"/>
              </a:spcAft>
            </a:pPr>
            <a:r>
              <a:rPr sz="1350" b="1" i="0">
                <a:solidFill>
                  <a:srgbClr val="1A1F1D"/>
                </a:solidFill>
                <a:latin typeface="Consolas"/>
              </a:rPr>
              <a:t>PREFETCH SPIKE</a:t>
            </a:r>
          </a:p>
        </p:txBody>
      </p:sp>
      <p:sp>
        <p:nvSpPr>
          <p:cNvPr id="18" name="TextBox 17"/>
          <p:cNvSpPr txBox="1"/>
          <p:nvPr/>
        </p:nvSpPr>
        <p:spPr>
          <a:xfrm>
            <a:off x="1097280" y="4837176"/>
            <a:ext cx="10058400" cy="457200"/>
          </a:xfrm>
          <a:prstGeom prst="rect">
            <a:avLst/>
          </a:prstGeom>
          <a:noFill/>
        </p:spPr>
        <p:txBody>
          <a:bodyPr wrap="square" lIns="0" rIns="0" tIns="0" bIns="0">
            <a:spAutoFit/>
          </a:bodyPr>
          <a:lstStyle/>
          <a:p>
            <a:pPr algn="l">
              <a:lnSpc>
                <a:spcPct val="125000"/>
              </a:lnSpc>
              <a:spcBef>
                <a:spcPts val="0"/>
              </a:spcBef>
              <a:spcAft>
                <a:spcPts val="0"/>
              </a:spcAft>
            </a:pPr>
            <a:r>
              <a:rPr sz="1450" b="0" i="0">
                <a:solidFill>
                  <a:srgbClr val="57615C"/>
                </a:solidFill>
                <a:latin typeface="Calibri"/>
              </a:rPr>
              <a:t>Spend 2-3 Luna days getting S5.0 a real number?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4F1"/>
        </a:solidFill>
        <a:effectLst/>
      </p:bgPr>
    </p:bg>
    <p:spTree>
      <p:nvGrpSpPr>
        <p:cNvPr id="1" name=""/>
        <p:cNvGrpSpPr/>
        <p:nvPr/>
      </p:nvGrpSpPr>
      <p:grpSpPr/>
      <p:sp>
        <p:nvSpPr>
          <p:cNvPr id="2" name="Diamond 1"/>
          <p:cNvSpPr/>
          <p:nvPr/>
        </p:nvSpPr>
        <p:spPr>
          <a:xfrm>
            <a:off x="548640" y="2784348"/>
            <a:ext cx="82296" cy="82296"/>
          </a:xfrm>
          <a:prstGeom prst="diamond">
            <a:avLst/>
          </a:prstGeom>
          <a:solidFill>
            <a:srgbClr val="0E7C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743200"/>
            <a:ext cx="10893247" cy="292608"/>
          </a:xfrm>
          <a:prstGeom prst="rect">
            <a:avLst/>
          </a:prstGeom>
          <a:noFill/>
        </p:spPr>
        <p:txBody>
          <a:bodyPr wrap="square" lIns="0" rIns="0" tIns="0" bIns="0">
            <a:spAutoFit/>
          </a:bodyPr>
          <a:lstStyle/>
          <a:p>
            <a:pPr algn="l">
              <a:lnSpc>
                <a:spcPct val="115000"/>
              </a:lnSpc>
              <a:spcBef>
                <a:spcPts val="0"/>
              </a:spcBef>
              <a:spcAft>
                <a:spcPts val="0"/>
              </a:spcAft>
            </a:pPr>
            <a:r>
              <a:rPr sz="1300" b="1" i="0">
                <a:solidFill>
                  <a:srgbClr val="0E7C68"/>
                </a:solidFill>
                <a:latin typeface="Consolas"/>
              </a:rPr>
              <a:t>TRACK A - BRIEFING FOR SIR</a:t>
            </a:r>
          </a:p>
        </p:txBody>
      </p:sp>
      <p:sp>
        <p:nvSpPr>
          <p:cNvPr id="4" name="TextBox 3"/>
          <p:cNvSpPr txBox="1"/>
          <p:nvPr/>
        </p:nvSpPr>
        <p:spPr>
          <a:xfrm>
            <a:off x="548640" y="3154680"/>
            <a:ext cx="11094415" cy="1097280"/>
          </a:xfrm>
          <a:prstGeom prst="rect">
            <a:avLst/>
          </a:prstGeom>
          <a:noFill/>
        </p:spPr>
        <p:txBody>
          <a:bodyPr wrap="square" lIns="0" rIns="0" tIns="0" bIns="0">
            <a:spAutoFit/>
          </a:bodyPr>
          <a:lstStyle/>
          <a:p>
            <a:pPr algn="l">
              <a:lnSpc>
                <a:spcPct val="115000"/>
              </a:lnSpc>
              <a:spcBef>
                <a:spcPts val="0"/>
              </a:spcBef>
              <a:spcAft>
                <a:spcPts val="0"/>
              </a:spcAft>
            </a:pPr>
            <a:r>
              <a:rPr sz="3800" b="1" i="0">
                <a:solidFill>
                  <a:srgbClr val="1A1F1D"/>
                </a:solidFill>
                <a:latin typeface="Cambria"/>
              </a:rPr>
              <a:t>Thank you</a:t>
            </a:r>
          </a:p>
        </p:txBody>
      </p:sp>
      <p:sp>
        <p:nvSpPr>
          <p:cNvPr id="5" name="TextBox 4"/>
          <p:cNvSpPr txBox="1"/>
          <p:nvPr/>
        </p:nvSpPr>
        <p:spPr>
          <a:xfrm>
            <a:off x="548640" y="3977639"/>
            <a:ext cx="11094415" cy="822960"/>
          </a:xfrm>
          <a:prstGeom prst="rect">
            <a:avLst/>
          </a:prstGeom>
          <a:noFill/>
        </p:spPr>
        <p:txBody>
          <a:bodyPr wrap="square" lIns="0" rIns="0" tIns="0" bIns="0">
            <a:spAutoFit/>
          </a:bodyPr>
          <a:lstStyle/>
          <a:p>
            <a:pPr algn="l">
              <a:lnSpc>
                <a:spcPct val="115000"/>
              </a:lnSpc>
              <a:spcBef>
                <a:spcPts val="0"/>
              </a:spcBef>
              <a:spcAft>
                <a:spcPts val="0"/>
              </a:spcAft>
            </a:pPr>
            <a:r>
              <a:rPr sz="1300" b="0" i="0">
                <a:solidFill>
                  <a:srgbClr val="828B86"/>
                </a:solidFill>
                <a:latin typeface="Consolas"/>
              </a:rPr>
              <a:t>Full data appendix: track_a_appendix_2026-09-02  ·  One-page recap: track_a_1pager_2026-09-02</a:t>
            </a:r>
          </a:p>
        </p:txBody>
      </p:sp>
      <p:sp>
        <p:nvSpPr>
          <p:cNvPr id="6" name="TextBox 5"/>
          <p:cNvSpPr txBox="1"/>
          <p:nvPr/>
        </p:nvSpPr>
        <p:spPr>
          <a:xfrm>
            <a:off x="548640" y="6473952"/>
            <a:ext cx="3657600" cy="274320"/>
          </a:xfrm>
          <a:prstGeom prst="rect">
            <a:avLst/>
          </a:prstGeom>
          <a:noFill/>
        </p:spPr>
        <p:txBody>
          <a:bodyPr wrap="square" lIns="0" rIns="0" tIns="0" bIns="0">
            <a:spAutoFit/>
          </a:bodyPr>
          <a:lstStyle/>
          <a:p>
            <a:pPr algn="l">
              <a:lnSpc>
                <a:spcPct val="115000"/>
              </a:lnSpc>
              <a:spcBef>
                <a:spcPts val="0"/>
              </a:spcBef>
              <a:spcAft>
                <a:spcPts val="0"/>
              </a:spcAft>
            </a:pPr>
            <a:r>
              <a:rPr sz="1000" b="0" i="0">
                <a:solidFill>
                  <a:srgbClr val="828B86"/>
                </a:solidFill>
                <a:latin typeface="Consolas"/>
              </a:rPr>
              <a:t>FULL BRIEFING</a:t>
            </a:r>
          </a:p>
        </p:txBody>
      </p:sp>
      <p:sp>
        <p:nvSpPr>
          <p:cNvPr id="7" name="TextBox 6"/>
          <p:cNvSpPr txBox="1"/>
          <p:nvPr/>
        </p:nvSpPr>
        <p:spPr>
          <a:xfrm>
            <a:off x="10545775" y="6473952"/>
            <a:ext cx="1097280" cy="274320"/>
          </a:xfrm>
          <a:prstGeom prst="rect">
            <a:avLst/>
          </a:prstGeom>
          <a:noFill/>
        </p:spPr>
        <p:txBody>
          <a:bodyPr wrap="square" lIns="0" rIns="0" tIns="0" bIns="0">
            <a:spAutoFit/>
          </a:bodyPr>
          <a:lstStyle/>
          <a:p>
            <a:pPr algn="r">
              <a:lnSpc>
                <a:spcPct val="115000"/>
              </a:lnSpc>
              <a:spcBef>
                <a:spcPts val="0"/>
              </a:spcBef>
              <a:spcAft>
                <a:spcPts val="0"/>
              </a:spcAft>
            </a:pPr>
            <a:r>
              <a:rPr sz="1000" b="0" i="0">
                <a:solidFill>
                  <a:srgbClr val="828B86"/>
                </a:solidFill>
                <a:latin typeface="Consolas"/>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