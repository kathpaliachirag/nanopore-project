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186994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182880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TRACK A - FULL STUDY GUIDE</a:t>
            </a:r>
          </a:p>
        </p:txBody>
      </p:sp>
      <p:sp>
        <p:nvSpPr>
          <p:cNvPr id="4" name="TextBox 3"/>
          <p:cNvSpPr txBox="1"/>
          <p:nvPr/>
        </p:nvSpPr>
        <p:spPr>
          <a:xfrm>
            <a:off x="548640" y="2286000"/>
            <a:ext cx="11094415" cy="1737360"/>
          </a:xfrm>
          <a:prstGeom prst="rect">
            <a:avLst/>
          </a:prstGeom>
          <a:noFill/>
        </p:spPr>
        <p:txBody>
          <a:bodyPr wrap="square" lIns="0" rIns="0" tIns="0" bIns="0">
            <a:spAutoFit/>
          </a:bodyPr>
          <a:lstStyle/>
          <a:p>
            <a:pPr algn="l">
              <a:lnSpc>
                <a:spcPct val="102000"/>
              </a:lnSpc>
              <a:spcBef>
                <a:spcPts val="0"/>
              </a:spcBef>
              <a:spcAft>
                <a:spcPts val="0"/>
              </a:spcAft>
            </a:pPr>
            <a:r>
              <a:rPr sz="4600" b="1" i="0">
                <a:solidFill>
                  <a:srgbClr val="1A1F1D"/>
                </a:solidFill>
                <a:latin typeface="Cambria"/>
              </a:rPr>
              <a:t>Six Stages, One Reversal</a:t>
            </a:r>
          </a:p>
        </p:txBody>
      </p:sp>
      <p:sp>
        <p:nvSpPr>
          <p:cNvPr id="5" name="TextBox 4"/>
          <p:cNvSpPr txBox="1"/>
          <p:nvPr/>
        </p:nvSpPr>
        <p:spPr>
          <a:xfrm>
            <a:off x="548640" y="3794760"/>
            <a:ext cx="9692640" cy="1005840"/>
          </a:xfrm>
          <a:prstGeom prst="rect">
            <a:avLst/>
          </a:prstGeom>
          <a:noFill/>
        </p:spPr>
        <p:txBody>
          <a:bodyPr wrap="square" lIns="0" rIns="0" tIns="0" bIns="0">
            <a:spAutoFit/>
          </a:bodyPr>
          <a:lstStyle/>
          <a:p>
            <a:pPr algn="l">
              <a:lnSpc>
                <a:spcPct val="135000"/>
              </a:lnSpc>
              <a:spcBef>
                <a:spcPts val="0"/>
              </a:spcBef>
              <a:spcAft>
                <a:spcPts val="0"/>
              </a:spcAft>
            </a:pPr>
            <a:r>
              <a:rPr sz="1800" b="0" i="0">
                <a:solidFill>
                  <a:srgbClr val="57615C"/>
                </a:solidFill>
                <a:latin typeface="Calibri"/>
              </a:rPr>
              <a:t>Every code change, exactly where it lives, why it was written that way, how it was measured, what it found, and the questions most likely to come up. Built to study from, zero background assumed.</a:t>
            </a:r>
          </a:p>
        </p:txBody>
      </p:sp>
      <p:sp>
        <p:nvSpPr>
          <p:cNvPr id="6" name="TextBox 5"/>
          <p:cNvSpPr txBox="1"/>
          <p:nvPr/>
        </p:nvSpPr>
        <p:spPr>
          <a:xfrm>
            <a:off x="548640" y="5074920"/>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250" b="0" i="0">
                <a:solidFill>
                  <a:srgbClr val="828B86"/>
                </a:solidFill>
                <a:latin typeface="Consolas"/>
              </a:rPr>
              <a:t>Since 2026-08-19   ·   11 patch scripts   ·   4 structured reviews</a:t>
            </a:r>
          </a:p>
        </p:txBody>
      </p:sp>
      <p:sp>
        <p:nvSpPr>
          <p:cNvPr id="7" name="TextBox 6"/>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8" name="TextBox 7"/>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HOW THIS IS ORGANIZED</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One section per stage, five parts each</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002</a:t>
            </a:r>
          </a:p>
        </p:txBody>
      </p:sp>
      <p:sp>
        <p:nvSpPr>
          <p:cNvPr id="7" name="TextBox 6"/>
          <p:cNvSpPr txBox="1"/>
          <p:nvPr/>
        </p:nvSpPr>
        <p:spPr>
          <a:xfrm>
            <a:off x="548640" y="182880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700" b="0" i="0">
                <a:solidFill>
                  <a:srgbClr val="1A1F1D"/>
                </a:solidFill>
                <a:latin typeface="Calibri"/>
              </a:rPr>
              <a:t>Each build stage (S0 through S5) below has the same five parts: Why it exists, the actual code (verbatim, not paraphrased), how it was measured, what was found, and the questions most likely to come up about it. After the stages: the four structured reviews in full, Track B's real status, a master Q&amp;A bank, and the commit ledger.</a:t>
            </a:r>
          </a:p>
        </p:txBody>
      </p:sp>
      <p:sp>
        <p:nvSpPr>
          <p:cNvPr id="8" name="TextBox 7"/>
          <p:cNvSpPr txBox="1"/>
          <p:nvPr/>
        </p:nvSpPr>
        <p:spPr>
          <a:xfrm>
            <a:off x="548640" y="329184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550" b="0" i="1">
                <a:solidFill>
                  <a:srgbClr val="57615C"/>
                </a:solidFill>
                <a:latin typeface="Calibri"/>
              </a:rPr>
              <a:t>A glossary is at the end of this deck for any unfamiliar term - k-mer, minimizer, thread_local, LLC, MurmurHash3, and every other piece of jargon used below is defined there in plain terms before it matters.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THE BIG PICTURE</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What Kraken2 does, before any code</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003</a:t>
            </a:r>
          </a:p>
        </p:txBody>
      </p:sp>
      <p:sp>
        <p:nvSpPr>
          <p:cNvPr id="7" name="TextBox 6"/>
          <p:cNvSpPr txBox="1"/>
          <p:nvPr/>
        </p:nvSpPr>
        <p:spPr>
          <a:xfrm>
            <a:off x="548640" y="178308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650" b="0" i="0">
                <a:solidFill>
                  <a:srgbClr val="1A1F1D"/>
                </a:solidFill>
                <a:latin typeface="Calibri"/>
              </a:rPr>
              <a:t>Kraken2 identifies which species a DNA sequencing read comes from. It chops every read into overlapping short fragments (k-mers), picks one representative fragment per window (a minimizer), and looks each one up in a giant table built once from reference genomes. That table is tens to hundreds of gigabytes and lives mostly in RAM, not cache - so almost every lookup is a genuine trip out to main memory, which is slow. Classifying a read is, computationally, “do millions of these lookups, as fast as possible.”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THE BIG PICTURE</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What Track A is trying to do</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004</a:t>
            </a:r>
          </a:p>
        </p:txBody>
      </p:sp>
      <p:sp>
        <p:nvSpPr>
          <p:cNvPr id="7" name="TextBox 6"/>
          <p:cNvSpPr txBox="1"/>
          <p:nvPr/>
        </p:nvSpPr>
        <p:spPr>
          <a:xfrm>
            <a:off x="548640" y="178308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650" b="0" i="0">
                <a:solidFill>
                  <a:srgbClr val="1A1F1D"/>
                </a:solidFill>
                <a:latin typeface="Calibri"/>
              </a:rPr>
              <a:t>If the same minimizer gets looked up more than once - which happens a lot, because real genomes repeat sequences - remembering the answer the first time and reusing it the second time skips an expensive trip to RAM. A cache is exactly that: a small, fast piece of memory that remembers recent answers. “Adaptive” does three jobs here: S1-S2 ask how many things it can remember and how (capacity/structure), S3 asks how big it should size itself to whatever machine it runs on (hardware-awareness), and S4 asks what it should forget first when full (eviction policy). S5 is a different idea entirely - make the expensive lookup itself faster, instead of trying to avoid it.</a:t>
            </a:r>
          </a:p>
        </p:txBody>
      </p:sp>
      <p:sp>
        <p:nvSpPr>
          <p:cNvPr id="8" name="TextBox 7"/>
          <p:cNvSpPr txBox="1"/>
          <p:nvPr/>
        </p:nvSpPr>
        <p:spPr>
          <a:xfrm>
            <a:off x="548640" y="4434840"/>
            <a:ext cx="11094415" cy="1188720"/>
          </a:xfrm>
          <a:prstGeom prst="rect">
            <a:avLst/>
          </a:prstGeom>
          <a:noFill/>
        </p:spPr>
        <p:txBody>
          <a:bodyPr wrap="square" lIns="0" rIns="0" tIns="0" bIns="0">
            <a:spAutoFit/>
          </a:bodyPr>
          <a:lstStyle/>
          <a:p>
            <a:pPr algn="l">
              <a:lnSpc>
                <a:spcPct val="135000"/>
              </a:lnSpc>
              <a:spcBef>
                <a:spcPts val="0"/>
              </a:spcBef>
              <a:spcAft>
                <a:spcPts val="0"/>
              </a:spcAft>
            </a:pPr>
            <a:r>
              <a:rPr sz="1550" b="1" i="0">
                <a:solidFill>
                  <a:srgbClr val="0E7C68"/>
                </a:solidFill>
                <a:latin typeface="Calibri"/>
              </a:rPr>
              <a:t>The honest throughline: </a:t>
            </a:r>
            <a:r>
              <a:rPr sz="1550" b="0" i="0">
                <a:solidFill>
                  <a:srgbClr val="1A1F1D"/>
                </a:solidFill>
                <a:latin typeface="Calibri"/>
              </a:rPr>
              <a:t>this work follows real evidence, not a plan written in advance. Several stages measured a real null result that became the reason for the next stage. One stage (S4) reversed a result we'd already reported, once a separate bug was fixed - and we said so directly.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THE STAGE MAP</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Six stages, one question each</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005</a:t>
            </a:r>
          </a:p>
        </p:txBody>
      </p:sp>
      <p:graphicFrame>
        <p:nvGraphicFramePr>
          <p:cNvPr id="7" name="Table 6"/>
          <p:cNvGraphicFramePr>
            <a:graphicFrameLocks noGrp="1"/>
          </p:cNvGraphicFramePr>
          <p:nvPr/>
        </p:nvGraphicFramePr>
        <p:xfrm>
          <a:off x="548640" y="1691640"/>
          <a:ext cx="11094414" cy="3931914"/>
        </p:xfrm>
        <a:graphic>
          <a:graphicData uri="http://schemas.openxmlformats.org/drawingml/2006/table">
            <a:tbl>
              <a:tblPr firstRow="0" bandRow="0">
                <a:tableStyleId>{2D5ABB26-0587-4C30-8999-92F81FD0307C}</a:tableStyleId>
              </a:tblPr>
              <a:tblGrid>
                <a:gridCol w="1109441"/>
                <a:gridCol w="9984973"/>
              </a:tblGrid>
              <a:tr h="561702">
                <a:tc>
                  <a:txBody>
                    <a:bodyPr/>
                    <a:lstStyle/>
                    <a:p>
                      <a:r>
                        <a:rPr sz="1300" b="1">
                          <a:solidFill>
                            <a:srgbClr val="F3F4F1"/>
                          </a:solidFill>
                          <a:latin typeface="Consolas"/>
                        </a:rPr>
                        <a:t>Stage</a:t>
                      </a:r>
                    </a:p>
                  </a:txBody>
                  <a:tcPr marL="73152" marR="73152" marT="18288" marB="18288" anchor="ctr">
                    <a:solidFill>
                      <a:srgbClr val="1A1F1D"/>
                    </a:solidFill>
                  </a:tcPr>
                </a:tc>
                <a:tc>
                  <a:txBody>
                    <a:bodyPr/>
                    <a:lstStyle/>
                    <a:p>
                      <a:r>
                        <a:rPr sz="1300" b="1">
                          <a:solidFill>
                            <a:srgbClr val="F3F4F1"/>
                          </a:solidFill>
                          <a:latin typeface="Consolas"/>
                        </a:rPr>
                        <a:t>Question it answers</a:t>
                      </a:r>
                    </a:p>
                  </a:txBody>
                  <a:tcPr marL="73152" marR="73152" marT="18288" marB="18288" anchor="ctr">
                    <a:solidFill>
                      <a:srgbClr val="1A1F1D"/>
                    </a:solidFill>
                  </a:tcPr>
                </a:tc>
              </a:tr>
              <a:tr h="561702">
                <a:tc>
                  <a:txBody>
                    <a:bodyPr/>
                    <a:lstStyle/>
                    <a:p>
                      <a:r>
                        <a:rPr sz="1450">
                          <a:solidFill>
                            <a:srgbClr val="1A1F1D"/>
                          </a:solidFill>
                          <a:latin typeface="Consolas"/>
                        </a:rPr>
                        <a:t>S0</a:t>
                      </a:r>
                    </a:p>
                  </a:txBody>
                  <a:tcPr marL="73152" marR="73152" marT="18288" marB="18288" anchor="ctr">
                    <a:solidFill>
                      <a:srgbClr val="FFFFFF"/>
                    </a:solidFill>
                  </a:tcPr>
                </a:tc>
                <a:tc>
                  <a:txBody>
                    <a:bodyPr/>
                    <a:lstStyle/>
                    <a:p>
                      <a:r>
                        <a:rPr sz="1450">
                          <a:solidFill>
                            <a:srgbClr val="1A1F1D"/>
                          </a:solidFill>
                          <a:latin typeface="Consolas"/>
                        </a:rPr>
                        <a:t>What's our honest starting-point measurement, on the version we're actually building on?</a:t>
                      </a:r>
                    </a:p>
                  </a:txBody>
                  <a:tcPr marL="73152" marR="73152" marT="18288" marB="18288" anchor="ctr">
                    <a:solidFill>
                      <a:srgbClr val="FFFFFF"/>
                    </a:solidFill>
                  </a:tcPr>
                </a:tc>
              </a:tr>
              <a:tr h="561702">
                <a:tc>
                  <a:txBody>
                    <a:bodyPr/>
                    <a:lstStyle/>
                    <a:p>
                      <a:r>
                        <a:rPr sz="1450">
                          <a:solidFill>
                            <a:srgbClr val="1A1F1D"/>
                          </a:solidFill>
                          <a:latin typeface="Consolas"/>
                        </a:rPr>
                        <a:t>S1</a:t>
                      </a:r>
                    </a:p>
                  </a:txBody>
                  <a:tcPr marL="73152" marR="73152" marT="18288" marB="18288" anchor="ctr">
                    <a:solidFill>
                      <a:srgbClr val="F3F4F1"/>
                    </a:solidFill>
                  </a:tcPr>
                </a:tc>
                <a:tc>
                  <a:txBody>
                    <a:bodyPr/>
                    <a:lstStyle/>
                    <a:p>
                      <a:r>
                        <a:rPr sz="1450">
                          <a:solidFill>
                            <a:srgbClr val="1A1F1D"/>
                          </a:solidFill>
                          <a:latin typeface="Consolas"/>
                        </a:rPr>
                        <a:t>Does Kraken2 already remember anything? Can we get more out of that for free?</a:t>
                      </a:r>
                    </a:p>
                  </a:txBody>
                  <a:tcPr marL="73152" marR="73152" marT="18288" marB="18288" anchor="ctr">
                    <a:solidFill>
                      <a:srgbClr val="F3F4F1"/>
                    </a:solidFill>
                  </a:tcPr>
                </a:tc>
              </a:tr>
              <a:tr h="561702">
                <a:tc>
                  <a:txBody>
                    <a:bodyPr/>
                    <a:lstStyle/>
                    <a:p>
                      <a:r>
                        <a:rPr sz="1450">
                          <a:solidFill>
                            <a:srgbClr val="1A1F1D"/>
                          </a:solidFill>
                          <a:latin typeface="Consolas"/>
                        </a:rPr>
                        <a:t>S2</a:t>
                      </a:r>
                    </a:p>
                  </a:txBody>
                  <a:tcPr marL="73152" marR="73152" marT="18288" marB="18288" anchor="ctr">
                    <a:solidFill>
                      <a:srgbClr val="FFFFFF"/>
                    </a:solidFill>
                  </a:tcPr>
                </a:tc>
                <a:tc>
                  <a:txBody>
                    <a:bodyPr/>
                    <a:lstStyle/>
                    <a:p>
                      <a:r>
                        <a:rPr sz="1450">
                          <a:solidFill>
                            <a:srgbClr val="1A1F1D"/>
                          </a:solidFill>
                          <a:latin typeface="Consolas"/>
                        </a:rPr>
                        <a:t>Can we build the multi-slot cache sir specifically asked for?</a:t>
                      </a:r>
                    </a:p>
                  </a:txBody>
                  <a:tcPr marL="73152" marR="73152" marT="18288" marB="18288" anchor="ctr">
                    <a:solidFill>
                      <a:srgbClr val="FFFFFF"/>
                    </a:solidFill>
                  </a:tcPr>
                </a:tc>
              </a:tr>
              <a:tr h="561702">
                <a:tc>
                  <a:txBody>
                    <a:bodyPr/>
                    <a:lstStyle/>
                    <a:p>
                      <a:r>
                        <a:rPr sz="1450">
                          <a:solidFill>
                            <a:srgbClr val="1A1F1D"/>
                          </a:solidFill>
                          <a:latin typeface="Consolas"/>
                        </a:rPr>
                        <a:t>S3</a:t>
                      </a:r>
                    </a:p>
                  </a:txBody>
                  <a:tcPr marL="73152" marR="73152" marT="18288" marB="18288" anchor="ctr">
                    <a:solidFill>
                      <a:srgbClr val="F3F4F1"/>
                    </a:solidFill>
                  </a:tcPr>
                </a:tc>
                <a:tc>
                  <a:txBody>
                    <a:bodyPr/>
                    <a:lstStyle/>
                    <a:p>
                      <a:r>
                        <a:rPr sz="1450">
                          <a:solidFill>
                            <a:srgbClr val="1A1F1D"/>
                          </a:solidFill>
                          <a:latin typeface="Consolas"/>
                        </a:rPr>
                        <a:t>Can it size itself to whatever machine it's running on, without crashing or slowing down?</a:t>
                      </a:r>
                    </a:p>
                  </a:txBody>
                  <a:tcPr marL="73152" marR="73152" marT="18288" marB="18288" anchor="ctr">
                    <a:solidFill>
                      <a:srgbClr val="F3F4F1"/>
                    </a:solidFill>
                  </a:tcPr>
                </a:tc>
              </a:tr>
              <a:tr h="561702">
                <a:tc>
                  <a:txBody>
                    <a:bodyPr/>
                    <a:lstStyle/>
                    <a:p>
                      <a:r>
                        <a:rPr sz="1450">
                          <a:solidFill>
                            <a:srgbClr val="1A1F1D"/>
                          </a:solidFill>
                          <a:latin typeface="Consolas"/>
                        </a:rPr>
                        <a:t>S4</a:t>
                      </a:r>
                    </a:p>
                  </a:txBody>
                  <a:tcPr marL="73152" marR="73152" marT="18288" marB="18288" anchor="ctr">
                    <a:solidFill>
                      <a:srgbClr val="FFFFFF"/>
                    </a:solidFill>
                  </a:tcPr>
                </a:tc>
                <a:tc>
                  <a:txBody>
                    <a:bodyPr/>
                    <a:lstStyle/>
                    <a:p>
                      <a:r>
                        <a:rPr sz="1450">
                          <a:solidFill>
                            <a:srgbClr val="1A1F1D"/>
                          </a:solidFill>
                          <a:latin typeface="Consolas"/>
                        </a:rPr>
                        <a:t>When the cache is full, what should it throw away first?</a:t>
                      </a:r>
                    </a:p>
                  </a:txBody>
                  <a:tcPr marL="73152" marR="73152" marT="18288" marB="18288" anchor="ctr">
                    <a:solidFill>
                      <a:srgbClr val="FFFFFF"/>
                    </a:solidFill>
                  </a:tcPr>
                </a:tc>
              </a:tr>
              <a:tr h="561702">
                <a:tc>
                  <a:txBody>
                    <a:bodyPr/>
                    <a:lstStyle/>
                    <a:p>
                      <a:r>
                        <a:rPr sz="1450">
                          <a:solidFill>
                            <a:srgbClr val="1A1F1D"/>
                          </a:solidFill>
                          <a:latin typeface="Consolas"/>
                        </a:rPr>
                        <a:t>S5</a:t>
                      </a:r>
                    </a:p>
                  </a:txBody>
                  <a:tcPr marL="73152" marR="73152" marT="18288" marB="18288" anchor="ctr">
                    <a:solidFill>
                      <a:srgbClr val="F3F4F1"/>
                    </a:solidFill>
                  </a:tcPr>
                </a:tc>
                <a:tc>
                  <a:txBody>
                    <a:bodyPr/>
                    <a:lstStyle/>
                    <a:p>
                      <a:r>
                        <a:rPr sz="1450">
                          <a:solidFill>
                            <a:srgbClr val="1A1F1D"/>
                          </a:solidFill>
                          <a:latin typeface="Consolas"/>
                        </a:rPr>
                        <a:t>Different question: can we make the expensive lookup itself faster?</a:t>
                      </a:r>
                    </a:p>
                  </a:txBody>
                  <a:tcPr marL="73152" marR="73152" marT="18288" marB="18288" anchor="ctr">
                    <a:solidFill>
                      <a:srgbClr val="F3F4F1"/>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S0</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Rebaselining before writing any cache code</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006</a:t>
            </a:r>
          </a:p>
        </p:txBody>
      </p:sp>
      <p:sp>
        <p:nvSpPr>
          <p:cNvPr id="7" name="TextBox 6"/>
          <p:cNvSpPr txBox="1"/>
          <p:nvPr/>
        </p:nvSpPr>
        <p:spPr>
          <a:xfrm>
            <a:off x="548640" y="178308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600" b="0" i="0">
                <a:solidFill>
                  <a:srgbClr val="1A1F1D"/>
                </a:solidFill>
                <a:latin typeface="Calibri"/>
              </a:rPr>
              <a:t>Our old number (4.405s) was measured on Kraken2 v2.1.3. Before writing a single line of cache code, you'd already told us to build on current upstream instead: v2.17.1. This matters because v2.1.4 rewrote the exact FASTA/FASTQ parser code this project profiles - the two versions aren't doing comparable work at the byte level. Everything from S1 onward needed a fresh, honest starting point on the tree we were actually going to modify.</a:t>
            </a:r>
          </a:p>
        </p:txBody>
      </p:sp>
      <p:sp>
        <p:nvSpPr>
          <p:cNvPr id="8" name="Rounded Rectangle 7"/>
          <p:cNvSpPr/>
          <p:nvPr/>
        </p:nvSpPr>
        <p:spPr>
          <a:xfrm>
            <a:off x="548640" y="3429000"/>
            <a:ext cx="11094415" cy="210312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for db in sample_targeted standard_8gb pluspf_103gb; do</a:t>
            </a:r>
          </a:p>
          <a:p>
            <a:pPr>
              <a:lnSpc>
                <a:spcPct val="118000"/>
              </a:lnSpc>
            </a:pPr>
            <a:r>
              <a:rPr sz="1150">
                <a:solidFill>
                  <a:srgbClr val="F3F4F1"/>
                </a:solidFill>
                <a:latin typeface="Consolas"/>
              </a:rPr>
              <a:t>  for t in 1 16 32 64 96; do</a:t>
            </a:r>
          </a:p>
          <a:p>
            <a:pPr>
              <a:lnSpc>
                <a:spcPct val="118000"/>
              </a:lnSpc>
            </a:pPr>
            <a:r>
              <a:rPr sz="1150">
                <a:solidFill>
                  <a:srgbClr val="F3F4F1"/>
                </a:solidFill>
                <a:latin typeface="Consolas"/>
              </a:rPr>
              <a:t>    perf stat -e cache-misses,cache-references,LLC-loads,LLC-load-misses,\</a:t>
            </a:r>
          </a:p>
          <a:p>
            <a:pPr>
              <a:lnSpc>
                <a:spcPct val="118000"/>
              </a:lnSpc>
            </a:pPr>
            <a:r>
              <a:rPr sz="1150">
                <a:solidFill>
                  <a:srgbClr val="F3F4F1"/>
                </a:solidFill>
                <a:latin typeface="Consolas"/>
              </a:rPr>
              <a:t>      instructions,cycles numactl --cpunodebind=0 --membind=0 \</a:t>
            </a:r>
          </a:p>
          <a:p>
            <a:pPr>
              <a:lnSpc>
                <a:spcPct val="118000"/>
              </a:lnSpc>
            </a:pPr>
            <a:r>
              <a:rPr sz="1150">
                <a:solidFill>
                  <a:srgbClr val="F3F4F1"/>
                </a:solidFill>
                <a:latin typeface="Consolas"/>
              </a:rPr>
              <a:t>      kraken2 --db .../$db --threads $t --output /dev/null --report /dev/null \</a:t>
            </a:r>
          </a:p>
          <a:p>
            <a:pPr>
              <a:lnSpc>
                <a:spcPct val="118000"/>
              </a:lnSpc>
            </a:pPr>
            <a:r>
              <a:rPr sz="1150">
                <a:solidFill>
                  <a:srgbClr val="F3F4F1"/>
                </a:solidFill>
                <a:latin typeface="Consolas"/>
              </a:rPr>
              <a:t>      reads_hac.fastq</a:t>
            </a:r>
          </a:p>
          <a:p>
            <a:pPr>
              <a:lnSpc>
                <a:spcPct val="118000"/>
              </a:lnSpc>
            </a:pPr>
            <a:r>
              <a:rPr sz="1150">
                <a:solidFill>
                  <a:srgbClr val="F3F4F1"/>
                </a:solidFill>
                <a:latin typeface="Consolas"/>
              </a:rPr>
              <a:t>  done</a:t>
            </a:r>
          </a:p>
          <a:p>
            <a:pPr>
              <a:lnSpc>
                <a:spcPct val="118000"/>
              </a:lnSpc>
            </a:pPr>
            <a:r>
              <a:rPr sz="1150">
                <a:solidFill>
                  <a:srgbClr val="F3F4F1"/>
                </a:solidFill>
                <a:latin typeface="Consolas"/>
              </a:rPr>
              <a:t>done</a:t>
            </a:r>
          </a:p>
        </p:txBody>
      </p:sp>
      <p:sp>
        <p:nvSpPr>
          <p:cNvPr id="9" name="TextBox 8"/>
          <p:cNvSpPr txBox="1"/>
          <p:nvPr/>
        </p:nvSpPr>
        <p:spPr>
          <a:xfrm>
            <a:off x="548640" y="3136392"/>
            <a:ext cx="11094415" cy="256032"/>
          </a:xfrm>
          <a:prstGeom prst="rect">
            <a:avLst/>
          </a:prstGeom>
          <a:noFill/>
        </p:spPr>
        <p:txBody>
          <a:bodyPr wrap="square" lIns="0" rIns="0" tIns="0" bIns="0">
            <a:spAutoFit/>
          </a:bodyPr>
          <a:lstStyle/>
          <a:p>
            <a:pPr algn="l">
              <a:lnSpc>
                <a:spcPct val="115000"/>
              </a:lnSpc>
              <a:spcBef>
                <a:spcPts val="0"/>
              </a:spcBef>
              <a:spcAft>
                <a:spcPts val="0"/>
              </a:spcAft>
            </a:pPr>
            <a:r>
              <a:rPr sz="1150" b="1" i="0">
                <a:solidFill>
                  <a:srgbClr val="828B86"/>
                </a:solidFill>
                <a:latin typeface="Consolas"/>
              </a:rPr>
              <a:t>3 databases x 5 thread counts, 1 run each - directional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S0</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Results - the anchor number</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007</a:t>
            </a:r>
          </a:p>
        </p:txBody>
      </p:sp>
      <p:graphicFrame>
        <p:nvGraphicFramePr>
          <p:cNvPr id="7" name="Table 6"/>
          <p:cNvGraphicFramePr>
            <a:graphicFrameLocks noGrp="1"/>
          </p:cNvGraphicFramePr>
          <p:nvPr/>
        </p:nvGraphicFramePr>
        <p:xfrm>
          <a:off x="548640" y="1737360"/>
          <a:ext cx="11094413" cy="1554480"/>
        </p:xfrm>
        <a:graphic>
          <a:graphicData uri="http://schemas.openxmlformats.org/drawingml/2006/table">
            <a:tbl>
              <a:tblPr firstRow="0" bandRow="0">
                <a:tableStyleId>{2D5ABB26-0587-4C30-8999-92F81FD0307C}</a:tableStyleId>
              </a:tblPr>
              <a:tblGrid>
                <a:gridCol w="3993989"/>
                <a:gridCol w="1553218"/>
                <a:gridCol w="1775106"/>
                <a:gridCol w="1996994"/>
                <a:gridCol w="1775106"/>
              </a:tblGrid>
              <a:tr h="388620">
                <a:tc>
                  <a:txBody>
                    <a:bodyPr/>
                    <a:lstStyle/>
                    <a:p>
                      <a:r>
                        <a:rPr sz="1200" b="1">
                          <a:solidFill>
                            <a:srgbClr val="F3F4F1"/>
                          </a:solidFill>
                          <a:latin typeface="Consolas"/>
                        </a:rPr>
                        <a:t>DB</a:t>
                      </a:r>
                    </a:p>
                  </a:txBody>
                  <a:tcPr marL="73152" marR="73152" marT="18288" marB="18288" anchor="ctr">
                    <a:solidFill>
                      <a:srgbClr val="1A1F1D"/>
                    </a:solidFill>
                  </a:tcPr>
                </a:tc>
                <a:tc>
                  <a:txBody>
                    <a:bodyPr/>
                    <a:lstStyle/>
                    <a:p>
                      <a:r>
                        <a:rPr sz="1200" b="1">
                          <a:solidFill>
                            <a:srgbClr val="F3F4F1"/>
                          </a:solidFill>
                          <a:latin typeface="Consolas"/>
                        </a:rPr>
                        <a:t>Threads</a:t>
                      </a:r>
                    </a:p>
                  </a:txBody>
                  <a:tcPr marL="73152" marR="73152" marT="18288" marB="18288" anchor="ctr">
                    <a:solidFill>
                      <a:srgbClr val="1A1F1D"/>
                    </a:solidFill>
                  </a:tcPr>
                </a:tc>
                <a:tc>
                  <a:txBody>
                    <a:bodyPr/>
                    <a:lstStyle/>
                    <a:p>
                      <a:r>
                        <a:rPr sz="1200" b="1">
                          <a:solidFill>
                            <a:srgbClr val="F3F4F1"/>
                          </a:solidFill>
                          <a:latin typeface="Consolas"/>
                        </a:rPr>
                        <a:t>Elapsed</a:t>
                      </a:r>
                    </a:p>
                  </a:txBody>
                  <a:tcPr marL="73152" marR="73152" marT="18288" marB="18288" anchor="ctr">
                    <a:solidFill>
                      <a:srgbClr val="1A1F1D"/>
                    </a:solidFill>
                  </a:tcPr>
                </a:tc>
                <a:tc>
                  <a:txBody>
                    <a:bodyPr/>
                    <a:lstStyle/>
                    <a:p>
                      <a:r>
                        <a:rPr sz="1200" b="1">
                          <a:solidFill>
                            <a:srgbClr val="F3F4F1"/>
                          </a:solidFill>
                          <a:latin typeface="Consolas"/>
                        </a:rPr>
                        <a:t>LLC-miss%</a:t>
                      </a:r>
                    </a:p>
                  </a:txBody>
                  <a:tcPr marL="73152" marR="73152" marT="18288" marB="18288" anchor="ctr">
                    <a:solidFill>
                      <a:srgbClr val="1A1F1D"/>
                    </a:solidFill>
                  </a:tcPr>
                </a:tc>
                <a:tc>
                  <a:txBody>
                    <a:bodyPr/>
                    <a:lstStyle/>
                    <a:p>
                      <a:r>
                        <a:rPr sz="1200" b="1">
                          <a:solidFill>
                            <a:srgbClr val="F3F4F1"/>
                          </a:solidFill>
                          <a:latin typeface="Consolas"/>
                        </a:rPr>
                        <a:t>IPC</a:t>
                      </a:r>
                    </a:p>
                  </a:txBody>
                  <a:tcPr marL="73152" marR="73152" marT="18288" marB="18288" anchor="ctr">
                    <a:solidFill>
                      <a:srgbClr val="1A1F1D"/>
                    </a:solidFill>
                  </a:tcPr>
                </a:tc>
              </a:tr>
              <a:tr h="388620">
                <a:tc>
                  <a:txBody>
                    <a:bodyPr/>
                    <a:lstStyle/>
                    <a:p>
                      <a:r>
                        <a:rPr sz="1300">
                          <a:solidFill>
                            <a:srgbClr val="1A1F1D"/>
                          </a:solidFill>
                          <a:latin typeface="Consolas"/>
                        </a:rPr>
                        <a:t>sample_targeted (50MB)</a:t>
                      </a:r>
                    </a:p>
                  </a:txBody>
                  <a:tcPr marL="73152" marR="73152" marT="18288" marB="18288" anchor="ctr">
                    <a:solidFill>
                      <a:srgbClr val="FFFFFF"/>
                    </a:solidFill>
                  </a:tcPr>
                </a:tc>
                <a:tc>
                  <a:txBody>
                    <a:bodyPr/>
                    <a:lstStyle/>
                    <a:p>
                      <a:r>
                        <a:rPr sz="1300">
                          <a:solidFill>
                            <a:srgbClr val="1A1F1D"/>
                          </a:solidFill>
                          <a:latin typeface="Consolas"/>
                        </a:rPr>
                        <a:t>32</a:t>
                      </a:r>
                    </a:p>
                  </a:txBody>
                  <a:tcPr marL="73152" marR="73152" marT="18288" marB="18288" anchor="ctr">
                    <a:solidFill>
                      <a:srgbClr val="FFFFFF"/>
                    </a:solidFill>
                  </a:tcPr>
                </a:tc>
                <a:tc>
                  <a:txBody>
                    <a:bodyPr/>
                    <a:lstStyle/>
                    <a:p>
                      <a:r>
                        <a:rPr sz="1300">
                          <a:solidFill>
                            <a:srgbClr val="1A1F1D"/>
                          </a:solidFill>
                          <a:latin typeface="Consolas"/>
                        </a:rPr>
                        <a:t>0.576s</a:t>
                      </a:r>
                    </a:p>
                  </a:txBody>
                  <a:tcPr marL="73152" marR="73152" marT="18288" marB="18288" anchor="ctr">
                    <a:solidFill>
                      <a:srgbClr val="FFFFFF"/>
                    </a:solidFill>
                  </a:tcPr>
                </a:tc>
                <a:tc>
                  <a:txBody>
                    <a:bodyPr/>
                    <a:lstStyle/>
                    <a:p>
                      <a:r>
                        <a:rPr sz="1300">
                          <a:solidFill>
                            <a:srgbClr val="1A1F1D"/>
                          </a:solidFill>
                          <a:latin typeface="Consolas"/>
                        </a:rPr>
                        <a:t>12.65%</a:t>
                      </a:r>
                    </a:p>
                  </a:txBody>
                  <a:tcPr marL="73152" marR="73152" marT="18288" marB="18288" anchor="ctr">
                    <a:solidFill>
                      <a:srgbClr val="FFFFFF"/>
                    </a:solidFill>
                  </a:tcPr>
                </a:tc>
                <a:tc>
                  <a:txBody>
                    <a:bodyPr/>
                    <a:lstStyle/>
                    <a:p>
                      <a:r>
                        <a:rPr sz="1300">
                          <a:solidFill>
                            <a:srgbClr val="1A1F1D"/>
                          </a:solidFill>
                          <a:latin typeface="Consolas"/>
                        </a:rPr>
                        <a:t>1.75</a:t>
                      </a:r>
                    </a:p>
                  </a:txBody>
                  <a:tcPr marL="73152" marR="73152" marT="18288" marB="18288" anchor="ctr">
                    <a:solidFill>
                      <a:srgbClr val="FFFFFF"/>
                    </a:solidFill>
                  </a:tcPr>
                </a:tc>
              </a:tr>
              <a:tr h="388620">
                <a:tc>
                  <a:txBody>
                    <a:bodyPr/>
                    <a:lstStyle/>
                    <a:p>
                      <a:r>
                        <a:rPr sz="1300">
                          <a:solidFill>
                            <a:srgbClr val="1A1F1D"/>
                          </a:solidFill>
                          <a:latin typeface="Consolas"/>
                        </a:rPr>
                        <a:t>standard_8gb (7.6GB)</a:t>
                      </a:r>
                    </a:p>
                  </a:txBody>
                  <a:tcPr marL="73152" marR="73152" marT="18288" marB="18288" anchor="ctr">
                    <a:solidFill>
                      <a:srgbClr val="F3F4F1"/>
                    </a:solidFill>
                  </a:tcPr>
                </a:tc>
                <a:tc>
                  <a:txBody>
                    <a:bodyPr/>
                    <a:lstStyle/>
                    <a:p>
                      <a:r>
                        <a:rPr sz="1300">
                          <a:solidFill>
                            <a:srgbClr val="1A1F1D"/>
                          </a:solidFill>
                          <a:latin typeface="Consolas"/>
                        </a:rPr>
                        <a:t>32</a:t>
                      </a:r>
                    </a:p>
                  </a:txBody>
                  <a:tcPr marL="73152" marR="73152" marT="18288" marB="18288" anchor="ctr">
                    <a:solidFill>
                      <a:srgbClr val="F3F4F1"/>
                    </a:solidFill>
                  </a:tcPr>
                </a:tc>
                <a:tc>
                  <a:txBody>
                    <a:bodyPr/>
                    <a:lstStyle/>
                    <a:p>
                      <a:r>
                        <a:rPr sz="1300">
                          <a:solidFill>
                            <a:srgbClr val="1A1F1D"/>
                          </a:solidFill>
                          <a:latin typeface="Consolas"/>
                        </a:rPr>
                        <a:t>4.233s</a:t>
                      </a:r>
                    </a:p>
                  </a:txBody>
                  <a:tcPr marL="73152" marR="73152" marT="18288" marB="18288" anchor="ctr">
                    <a:solidFill>
                      <a:srgbClr val="F3F4F1"/>
                    </a:solidFill>
                  </a:tcPr>
                </a:tc>
                <a:tc>
                  <a:txBody>
                    <a:bodyPr/>
                    <a:lstStyle/>
                    <a:p>
                      <a:r>
                        <a:rPr sz="1300">
                          <a:solidFill>
                            <a:srgbClr val="1A1F1D"/>
                          </a:solidFill>
                          <a:latin typeface="Consolas"/>
                        </a:rPr>
                        <a:t>90.47%</a:t>
                      </a:r>
                    </a:p>
                  </a:txBody>
                  <a:tcPr marL="73152" marR="73152" marT="18288" marB="18288" anchor="ctr">
                    <a:solidFill>
                      <a:srgbClr val="F3F4F1"/>
                    </a:solidFill>
                  </a:tcPr>
                </a:tc>
                <a:tc>
                  <a:txBody>
                    <a:bodyPr/>
                    <a:lstStyle/>
                    <a:p>
                      <a:r>
                        <a:rPr sz="1300">
                          <a:solidFill>
                            <a:srgbClr val="1A1F1D"/>
                          </a:solidFill>
                          <a:latin typeface="Consolas"/>
                        </a:rPr>
                        <a:t>1.65</a:t>
                      </a:r>
                    </a:p>
                  </a:txBody>
                  <a:tcPr marL="73152" marR="73152" marT="18288" marB="18288" anchor="ctr">
                    <a:solidFill>
                      <a:srgbClr val="F3F4F1"/>
                    </a:solidFill>
                  </a:tcPr>
                </a:tc>
              </a:tr>
              <a:tr h="388620">
                <a:tc>
                  <a:txBody>
                    <a:bodyPr/>
                    <a:lstStyle/>
                    <a:p>
                      <a:r>
                        <a:rPr sz="1300">
                          <a:solidFill>
                            <a:srgbClr val="1A1F1D"/>
                          </a:solidFill>
                          <a:latin typeface="Consolas"/>
                        </a:rPr>
                        <a:t>pluspf_103gb (103.4GB)</a:t>
                      </a:r>
                    </a:p>
                  </a:txBody>
                  <a:tcPr marL="73152" marR="73152" marT="18288" marB="18288" anchor="ctr">
                    <a:solidFill>
                      <a:srgbClr val="FFFFFF"/>
                    </a:solidFill>
                  </a:tcPr>
                </a:tc>
                <a:tc>
                  <a:txBody>
                    <a:bodyPr/>
                    <a:lstStyle/>
                    <a:p>
                      <a:r>
                        <a:rPr sz="1300">
                          <a:solidFill>
                            <a:srgbClr val="1A1F1D"/>
                          </a:solidFill>
                          <a:latin typeface="Consolas"/>
                        </a:rPr>
                        <a:t>32</a:t>
                      </a:r>
                    </a:p>
                  </a:txBody>
                  <a:tcPr marL="73152" marR="73152" marT="18288" marB="18288" anchor="ctr">
                    <a:solidFill>
                      <a:srgbClr val="FFFFFF"/>
                    </a:solidFill>
                  </a:tcPr>
                </a:tc>
                <a:tc>
                  <a:txBody>
                    <a:bodyPr/>
                    <a:lstStyle/>
                    <a:p>
                      <a:r>
                        <a:rPr sz="1300">
                          <a:solidFill>
                            <a:srgbClr val="1A1F1D"/>
                          </a:solidFill>
                          <a:latin typeface="Consolas"/>
                        </a:rPr>
                        <a:t>51.897s</a:t>
                      </a:r>
                    </a:p>
                  </a:txBody>
                  <a:tcPr marL="73152" marR="73152" marT="18288" marB="18288" anchor="ctr">
                    <a:solidFill>
                      <a:srgbClr val="FFFFFF"/>
                    </a:solidFill>
                  </a:tcPr>
                </a:tc>
                <a:tc>
                  <a:txBody>
                    <a:bodyPr/>
                    <a:lstStyle/>
                    <a:p>
                      <a:r>
                        <a:rPr sz="1300">
                          <a:solidFill>
                            <a:srgbClr val="1A1F1D"/>
                          </a:solidFill>
                          <a:latin typeface="Consolas"/>
                        </a:rPr>
                        <a:t>95.59%</a:t>
                      </a:r>
                    </a:p>
                  </a:txBody>
                  <a:tcPr marL="73152" marR="73152" marT="18288" marB="18288" anchor="ctr">
                    <a:solidFill>
                      <a:srgbClr val="FFFFFF"/>
                    </a:solidFill>
                  </a:tcPr>
                </a:tc>
                <a:tc>
                  <a:txBody>
                    <a:bodyPr/>
                    <a:lstStyle/>
                    <a:p>
                      <a:r>
                        <a:rPr sz="1300">
                          <a:solidFill>
                            <a:srgbClr val="1A1F1D"/>
                          </a:solidFill>
                          <a:latin typeface="Consolas"/>
                        </a:rPr>
                        <a:t>1.08</a:t>
                      </a:r>
                    </a:p>
                  </a:txBody>
                  <a:tcPr marL="73152" marR="73152" marT="18288" marB="18288" anchor="ctr">
                    <a:solidFill>
                      <a:srgbClr val="FFFFFF"/>
                    </a:solidFill>
                  </a:tcPr>
                </a:tc>
              </a:tr>
            </a:tbl>
          </a:graphicData>
        </a:graphic>
      </p:graphicFrame>
      <p:sp>
        <p:nvSpPr>
          <p:cNvPr id="8" name="TextBox 7"/>
          <p:cNvSpPr txBox="1"/>
          <p:nvPr/>
        </p:nvSpPr>
        <p:spPr>
          <a:xfrm>
            <a:off x="548640" y="3520440"/>
            <a:ext cx="11094415" cy="1463040"/>
          </a:xfrm>
          <a:prstGeom prst="rect">
            <a:avLst/>
          </a:prstGeom>
          <a:noFill/>
        </p:spPr>
        <p:txBody>
          <a:bodyPr wrap="square" lIns="0" rIns="0" tIns="0" bIns="0">
            <a:spAutoFit/>
          </a:bodyPr>
          <a:lstStyle/>
          <a:p>
            <a:pPr algn="l">
              <a:lnSpc>
                <a:spcPct val="135000"/>
              </a:lnSpc>
              <a:spcBef>
                <a:spcPts val="0"/>
              </a:spcBef>
              <a:spcAft>
                <a:spcPts val="0"/>
              </a:spcAft>
            </a:pPr>
            <a:r>
              <a:rPr sz="1550" b="0" i="0">
                <a:solidFill>
                  <a:srgbClr val="57615C"/>
                </a:solidFill>
                <a:latin typeface="Calibri"/>
              </a:rPr>
              <a:t>sample_targeted/32T (0.576s) becomes the anchor every later stage compares against. Notice the pattern: sample_targeted is small enough to mostly fit in cache already (~13% miss), while standard_8gb and pluspf_103gb are the two databases where a cache stands to matter - they're missing 85-96% of the time already.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S0</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Likely questions</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008</a:t>
            </a:r>
          </a:p>
        </p:txBody>
      </p:sp>
      <p:sp>
        <p:nvSpPr>
          <p:cNvPr id="7" name="TextBox 6"/>
          <p:cNvSpPr txBox="1"/>
          <p:nvPr/>
        </p:nvSpPr>
        <p:spPr>
          <a:xfrm>
            <a:off x="548640" y="1737360"/>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0E7C68"/>
                </a:solidFill>
                <a:latin typeface="Consolas"/>
              </a:rPr>
              <a:t>Q  </a:t>
            </a:r>
            <a:r>
              <a:rPr sz="1350" b="1" i="1">
                <a:solidFill>
                  <a:srgbClr val="1A1F1D"/>
                </a:solidFill>
                <a:latin typeface="Calibri"/>
              </a:rPr>
              <a:t>Why 32 threads specifically?</a:t>
            </a:r>
          </a:p>
        </p:txBody>
      </p:sp>
      <p:sp>
        <p:nvSpPr>
          <p:cNvPr id="8" name="TextBox 7"/>
          <p:cNvSpPr txBox="1"/>
          <p:nvPr/>
        </p:nvSpPr>
        <p:spPr>
          <a:xfrm>
            <a:off x="548640" y="2084832"/>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450" b="0" i="0">
                <a:solidFill>
                  <a:srgbClr val="57615C"/>
                </a:solidFill>
                <a:latin typeface="Calibri"/>
              </a:rPr>
              <a:t>32-64 threads is the practical sweet spot across all three databases - IPC drops steadily past that, and 96T is measurably worse everywhere in this sweep.</a:t>
            </a:r>
          </a:p>
        </p:txBody>
      </p:sp>
      <p:sp>
        <p:nvSpPr>
          <p:cNvPr id="9" name="TextBox 8"/>
          <p:cNvSpPr txBox="1"/>
          <p:nvPr/>
        </p:nvSpPr>
        <p:spPr>
          <a:xfrm>
            <a:off x="548640" y="3072384"/>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0E7C68"/>
                </a:solidFill>
                <a:latin typeface="Consolas"/>
              </a:rPr>
              <a:t>Q  </a:t>
            </a:r>
            <a:r>
              <a:rPr sz="1350" b="1" i="1">
                <a:solidFill>
                  <a:srgbClr val="1A1F1D"/>
                </a:solidFill>
                <a:latin typeface="Calibri"/>
              </a:rPr>
              <a:t>Is 0.576s a trustworthy final number?</a:t>
            </a:r>
          </a:p>
        </p:txBody>
      </p:sp>
      <p:sp>
        <p:nvSpPr>
          <p:cNvPr id="10" name="TextBox 9"/>
          <p:cNvSpPr txBox="1"/>
          <p:nvPr/>
        </p:nvSpPr>
        <p:spPr>
          <a:xfrm>
            <a:off x="548640" y="3419856"/>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450" b="0" i="0">
                <a:solidFill>
                  <a:srgbClr val="57615C"/>
                </a:solidFill>
                <a:latin typeface="Calibri"/>
              </a:rPr>
              <a:t>Directionally yes, but it's flagged as 1 run per configuration, not this project's usual 5-run CV-checked treatment. Re-run with the fuller methodology before citing it as final.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S1</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Kraken2 already had a 1-slot cache; we gave it memory</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009</a:t>
            </a:r>
          </a:p>
        </p:txBody>
      </p:sp>
      <p:sp>
        <p:nvSpPr>
          <p:cNvPr id="7" name="TextBox 6"/>
          <p:cNvSpPr txBox="1"/>
          <p:nvPr/>
        </p:nvSpPr>
        <p:spPr>
          <a:xfrm>
            <a:off x="548640" y="173736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600" b="0" i="0">
                <a:solidFill>
                  <a:srgbClr val="1A1F1D"/>
                </a:solidFill>
                <a:latin typeface="Calibri"/>
              </a:rPr>
              <a:t>Stock Kraken2 already does something at the Get() call site: if the current minimizer is identical to the one immediately before it, it skips the lookup. But this memory is scoped to a single function call and wiped every time that call returns. The fix: make it live for a whole thread's lifetime instead. Safe because hash-&gt;Get() is a pure function - whatever a thread last learned for a minimizer stays correct for that thread to reuse later.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S1</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The code (classify.cc)</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010</a:t>
            </a:r>
          </a:p>
        </p:txBody>
      </p:sp>
      <p:sp>
        <p:nvSpPr>
          <p:cNvPr id="7" name="Rounded Rectangle 6"/>
          <p:cNvSpPr/>
          <p:nvPr/>
        </p:nvSpPr>
        <p:spPr>
          <a:xfrm>
            <a:off x="548640" y="1691640"/>
            <a:ext cx="11094415" cy="210312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 File scope, above ClassifySequence():</a:t>
            </a:r>
          </a:p>
          <a:p>
            <a:pPr>
              <a:lnSpc>
                <a:spcPct val="118000"/>
              </a:lnSpc>
            </a:pPr>
            <a:r>
              <a:rPr sz="1150">
                <a:solidFill>
                  <a:srgbClr val="F3F4F1"/>
                </a:solidFill>
                <a:latin typeface="Consolas"/>
              </a:rPr>
              <a:t>static thread_local uint64_t s1_last_minimizer = UINT64_MAX;</a:t>
            </a:r>
          </a:p>
          <a:p>
            <a:pPr>
              <a:lnSpc>
                <a:spcPct val="118000"/>
              </a:lnSpc>
            </a:pPr>
            <a:r>
              <a:rPr sz="1150">
                <a:solidFill>
                  <a:srgbClr val="F3F4F1"/>
                </a:solidFill>
                <a:latin typeface="Consolas"/>
              </a:rPr>
              <a:t>static thread_local taxid_t  s1_last_taxon     = TAXID_MAX;</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 Old function-local pair (reset every call) is deleted outright:</a:t>
            </a:r>
          </a:p>
          <a:p>
            <a:pPr>
              <a:lnSpc>
                <a:spcPct val="118000"/>
              </a:lnSpc>
            </a:pPr>
            <a:r>
              <a:rPr sz="1150">
                <a:solidFill>
                  <a:srgbClr val="F3F4F1"/>
                </a:solidFill>
                <a:latin typeface="Consolas"/>
              </a:rPr>
              <a:t>//   uint64_t last_minimizer = UINT64_MAX;</a:t>
            </a:r>
          </a:p>
          <a:p>
            <a:pPr>
              <a:lnSpc>
                <a:spcPct val="118000"/>
              </a:lnSpc>
            </a:pPr>
            <a:r>
              <a:rPr sz="1150">
                <a:solidFill>
                  <a:srgbClr val="F3F4F1"/>
                </a:solidFill>
                <a:latin typeface="Consolas"/>
              </a:rPr>
              <a:t>//   taxid_t  last_taxon     = TAXID_MAX;</a:t>
            </a:r>
          </a:p>
          <a:p>
            <a:pPr>
              <a:lnSpc>
                <a:spcPct val="118000"/>
              </a:lnSpc>
            </a:pPr>
            <a:r>
              <a:rPr sz="1150">
                <a:solidFill>
                  <a:srgbClr val="F3F4F1"/>
                </a:solidFill>
                <a:latin typeface="Consolas"/>
              </a:rPr>
              <a:t>// Every reference in the function body renamed: last_* -&gt; s1_last_*</a:t>
            </a:r>
          </a:p>
        </p:txBody>
      </p:sp>
      <p:sp>
        <p:nvSpPr>
          <p:cNvPr id="8" name="TextBox 7"/>
          <p:cNvSpPr txBox="1"/>
          <p:nvPr/>
        </p:nvSpPr>
        <p:spPr>
          <a:xfrm>
            <a:off x="548640" y="3977639"/>
            <a:ext cx="11094415" cy="1737360"/>
          </a:xfrm>
          <a:prstGeom prst="rect">
            <a:avLst/>
          </a:prstGeom>
          <a:noFill/>
        </p:spPr>
        <p:txBody>
          <a:bodyPr wrap="square" lIns="0" rIns="0" tIns="0" bIns="0">
            <a:spAutoFit/>
          </a:bodyPr>
          <a:lstStyle/>
          <a:p>
            <a:pPr algn="l">
              <a:lnSpc>
                <a:spcPct val="135000"/>
              </a:lnSpc>
              <a:spcBef>
                <a:spcPts val="0"/>
              </a:spcBef>
              <a:spcAft>
                <a:spcPts val="0"/>
              </a:spcAft>
            </a:pPr>
            <a:r>
              <a:rPr sz="1500" b="1" i="0">
                <a:solidFill>
                  <a:srgbClr val="57615C"/>
                </a:solidFill>
                <a:latin typeface="Calibri"/>
              </a:rPr>
              <a:t>A real risk, checked not assumed away: </a:t>
            </a:r>
            <a:r>
              <a:rPr sz="1500" b="0" i="0">
                <a:solidFill>
                  <a:srgbClr val="57615C"/>
                </a:solidFill>
                <a:latin typeface="Calibri"/>
              </a:rPr>
              <a:t>MinimizerScanner has its own unrelated method scanner.last_minimizer(). A blind find-and-replace could have mangled that call. The rename targets the variable in assignment/comparison position specifically, confirmed safe by a full-file grep before the patch ran.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S1</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How it was measured - and a confound we caught</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011</a:t>
            </a:r>
          </a:p>
        </p:txBody>
      </p:sp>
      <p:sp>
        <p:nvSpPr>
          <p:cNvPr id="7" name="TextBox 6"/>
          <p:cNvSpPr txBox="1"/>
          <p:nvPr/>
        </p:nvSpPr>
        <p:spPr>
          <a:xfrm>
            <a:off x="548640" y="173736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600" b="0" i="0">
                <a:solidFill>
                  <a:srgbClr val="1A1F1D"/>
                </a:solidFill>
                <a:latin typeface="Calibri"/>
              </a:rPr>
              <a:t>First attempt (flawed): pluspf_103gb at 1 thread showed a 22% wall-clock improvement but LLC-miss got 10 points worse - a contradiction. Diagnosis: a page-cache confound (S0's sweep had already warmed the OS's file cache for that 103GB file).</a:t>
            </a:r>
          </a:p>
        </p:txBody>
      </p:sp>
      <p:sp>
        <p:nvSpPr>
          <p:cNvPr id="8" name="TextBox 7"/>
          <p:cNvSpPr txBox="1"/>
          <p:nvPr/>
        </p:nvSpPr>
        <p:spPr>
          <a:xfrm>
            <a:off x="548640" y="2834640"/>
            <a:ext cx="11094415" cy="1554480"/>
          </a:xfrm>
          <a:prstGeom prst="rect">
            <a:avLst/>
          </a:prstGeom>
          <a:noFill/>
        </p:spPr>
        <p:txBody>
          <a:bodyPr wrap="square" lIns="0" rIns="0" tIns="0" bIns="0">
            <a:spAutoFit/>
          </a:bodyPr>
          <a:lstStyle/>
          <a:p>
            <a:pPr algn="l">
              <a:lnSpc>
                <a:spcPct val="140000"/>
              </a:lnSpc>
              <a:spcBef>
                <a:spcPts val="0"/>
              </a:spcBef>
              <a:spcAft>
                <a:spcPts val="0"/>
              </a:spcAft>
            </a:pPr>
            <a:r>
              <a:rPr sz="1600" b="1" i="0">
                <a:solidFill>
                  <a:srgbClr val="0E7C68"/>
                </a:solidFill>
                <a:latin typeface="Calibri"/>
              </a:rPr>
              <a:t>Fixed methodology: </a:t>
            </a:r>
            <a:r>
              <a:rPr sz="1600" b="0" i="0">
                <a:solidFill>
                  <a:srgbClr val="1A1F1D"/>
                </a:solidFill>
                <a:latin typeface="Calibri"/>
              </a:rPr>
              <a:t>two permanent binaries, run interleaved (S0, S1, S0, S1, ...), 3 reps each, never in back-to-back blocks. This interleaved-3-run pattern becomes standard for every comparison in the project from here 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S1</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Results</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012</a:t>
            </a:r>
          </a:p>
        </p:txBody>
      </p:sp>
      <p:graphicFrame>
        <p:nvGraphicFramePr>
          <p:cNvPr id="7" name="Table 6"/>
          <p:cNvGraphicFramePr>
            <a:graphicFrameLocks noGrp="1"/>
          </p:cNvGraphicFramePr>
          <p:nvPr/>
        </p:nvGraphicFramePr>
        <p:xfrm>
          <a:off x="548640" y="1737360"/>
          <a:ext cx="11094414" cy="1280160"/>
        </p:xfrm>
        <a:graphic>
          <a:graphicData uri="http://schemas.openxmlformats.org/drawingml/2006/table">
            <a:tbl>
              <a:tblPr firstRow="0" bandRow="0">
                <a:tableStyleId>{2D5ABB26-0587-4C30-8999-92F81FD0307C}</a:tableStyleId>
              </a:tblPr>
              <a:tblGrid>
                <a:gridCol w="3883045"/>
                <a:gridCol w="7211369"/>
              </a:tblGrid>
              <a:tr h="426720">
                <a:tc>
                  <a:txBody>
                    <a:bodyPr/>
                    <a:lstStyle/>
                    <a:p>
                      <a:r>
                        <a:rPr sz="1200" b="1">
                          <a:solidFill>
                            <a:srgbClr val="F3F4F1"/>
                          </a:solidFill>
                          <a:latin typeface="Consolas"/>
                        </a:rPr>
                        <a:t>DB</a:t>
                      </a:r>
                    </a:p>
                  </a:txBody>
                  <a:tcPr marL="73152" marR="73152" marT="18288" marB="18288" anchor="ctr">
                    <a:solidFill>
                      <a:srgbClr val="1A1F1D"/>
                    </a:solidFill>
                  </a:tcPr>
                </a:tc>
                <a:tc>
                  <a:txBody>
                    <a:bodyPr/>
                    <a:lstStyle/>
                    <a:p>
                      <a:r>
                        <a:rPr sz="1200" b="1">
                          <a:solidFill>
                            <a:srgbClr val="F3F4F1"/>
                          </a:solidFill>
                          <a:latin typeface="Consolas"/>
                        </a:rPr>
                        <a:t>Result</a:t>
                      </a:r>
                    </a:p>
                  </a:txBody>
                  <a:tcPr marL="73152" marR="73152" marT="18288" marB="18288" anchor="ctr">
                    <a:solidFill>
                      <a:srgbClr val="1A1F1D"/>
                    </a:solidFill>
                  </a:tcPr>
                </a:tc>
              </a:tr>
              <a:tr h="426720">
                <a:tc>
                  <a:txBody>
                    <a:bodyPr/>
                    <a:lstStyle/>
                    <a:p>
                      <a:r>
                        <a:rPr sz="1300">
                          <a:solidFill>
                            <a:srgbClr val="1A1F1D"/>
                          </a:solidFill>
                          <a:latin typeface="Consolas"/>
                        </a:rPr>
                        <a:t>standard_8gb / pluspf_103gb</a:t>
                      </a:r>
                    </a:p>
                  </a:txBody>
                  <a:tcPr marL="73152" marR="73152" marT="18288" marB="18288" anchor="ctr">
                    <a:solidFill>
                      <a:srgbClr val="FFFFFF"/>
                    </a:solidFill>
                  </a:tcPr>
                </a:tc>
                <a:tc>
                  <a:txBody>
                    <a:bodyPr/>
                    <a:lstStyle/>
                    <a:p>
                      <a:r>
                        <a:rPr sz="1300">
                          <a:solidFill>
                            <a:srgbClr val="1A1F1D"/>
                          </a:solidFill>
                          <a:latin typeface="Consolas"/>
                        </a:rPr>
                        <a:t>LLC-miss flat, wall-clock within ~2% - noise</a:t>
                      </a:r>
                    </a:p>
                  </a:txBody>
                  <a:tcPr marL="73152" marR="73152" marT="18288" marB="18288" anchor="ctr">
                    <a:solidFill>
                      <a:srgbClr val="FFFFFF"/>
                    </a:solidFill>
                  </a:tcPr>
                </a:tc>
              </a:tr>
              <a:tr h="426720">
                <a:tc>
                  <a:txBody>
                    <a:bodyPr/>
                    <a:lstStyle/>
                    <a:p>
                      <a:r>
                        <a:rPr sz="1300">
                          <a:solidFill>
                            <a:srgbClr val="1A1F1D"/>
                          </a:solidFill>
                          <a:latin typeface="Consolas"/>
                        </a:rPr>
                        <a:t>sample_targeted</a:t>
                      </a:r>
                    </a:p>
                  </a:txBody>
                  <a:tcPr marL="73152" marR="73152" marT="18288" marB="18288" anchor="ctr">
                    <a:solidFill>
                      <a:srgbClr val="F3F4F1"/>
                    </a:solidFill>
                  </a:tcPr>
                </a:tc>
                <a:tc>
                  <a:txBody>
                    <a:bodyPr/>
                    <a:lstStyle/>
                    <a:p>
                      <a:r>
                        <a:rPr sz="1300">
                          <a:solidFill>
                            <a:srgbClr val="1A1F1D"/>
                          </a:solidFill>
                          <a:latin typeface="Consolas"/>
                        </a:rPr>
                        <a:t>+5-13% wall-clock speedup, no cache-metric change - real, unexplained</a:t>
                      </a:r>
                    </a:p>
                  </a:txBody>
                  <a:tcPr marL="73152" marR="73152" marT="18288" marB="18288" anchor="ctr">
                    <a:solidFill>
                      <a:srgbClr val="F3F4F1"/>
                    </a:solidFill>
                  </a:tcPr>
                </a:tc>
              </a:tr>
            </a:tbl>
          </a:graphicData>
        </a:graphic>
      </p:graphicFrame>
      <p:sp>
        <p:nvSpPr>
          <p:cNvPr id="8" name="TextBox 7"/>
          <p:cNvSpPr txBox="1"/>
          <p:nvPr/>
        </p:nvSpPr>
        <p:spPr>
          <a:xfrm>
            <a:off x="548640" y="3383280"/>
            <a:ext cx="11094415" cy="1554480"/>
          </a:xfrm>
          <a:prstGeom prst="rect">
            <a:avLst/>
          </a:prstGeom>
          <a:noFill/>
        </p:spPr>
        <p:txBody>
          <a:bodyPr wrap="square" lIns="0" rIns="0" tIns="0" bIns="0">
            <a:spAutoFit/>
          </a:bodyPr>
          <a:lstStyle/>
          <a:p>
            <a:pPr algn="l">
              <a:lnSpc>
                <a:spcPct val="135000"/>
              </a:lnSpc>
              <a:spcBef>
                <a:spcPts val="0"/>
              </a:spcBef>
              <a:spcAft>
                <a:spcPts val="0"/>
              </a:spcAft>
            </a:pPr>
            <a:r>
              <a:rPr sz="1550" b="0" i="0">
                <a:solidFill>
                  <a:srgbClr val="57615C"/>
                </a:solidFill>
                <a:latin typeface="Calibri"/>
              </a:rPr>
              <a:t>Why this is a useful result, not a failed step: a single cache slot's odds of matching the next lookup shrink toward zero as distinct minimizers climb into the millions. That's the pattern we see. Direct, measured evidence a 1-slot design has a hard ceiling - the concrete reason S2 (multi-slot) is worth building next.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S1</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Likely questions</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013</a:t>
            </a:r>
          </a:p>
        </p:txBody>
      </p:sp>
      <p:sp>
        <p:nvSpPr>
          <p:cNvPr id="7" name="TextBox 6"/>
          <p:cNvSpPr txBox="1"/>
          <p:nvPr/>
        </p:nvSpPr>
        <p:spPr>
          <a:xfrm>
            <a:off x="548640" y="1737360"/>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0E7C68"/>
                </a:solidFill>
                <a:latin typeface="Consolas"/>
              </a:rPr>
              <a:t>Q  </a:t>
            </a:r>
            <a:r>
              <a:rPr sz="1350" b="1" i="1">
                <a:solidFill>
                  <a:srgbClr val="1A1F1D"/>
                </a:solidFill>
                <a:latin typeface="Calibri"/>
              </a:rPr>
              <a:t>Didn't Kraken2 already have this? What did you add?</a:t>
            </a:r>
          </a:p>
        </p:txBody>
      </p:sp>
      <p:sp>
        <p:nvSpPr>
          <p:cNvPr id="8" name="TextBox 7"/>
          <p:cNvSpPr txBox="1"/>
          <p:nvPr/>
        </p:nvSpPr>
        <p:spPr>
          <a:xfrm>
            <a:off x="548640" y="2084832"/>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450" b="0" i="0">
                <a:solidFill>
                  <a:srgbClr val="57615C"/>
                </a:solidFill>
                <a:latin typeface="Calibri"/>
              </a:rPr>
              <a:t>It had the comparison logic. It didn't have memory - the old version forgot everything the instant one read finished. We changed where that memory lives, not the comparison logic.</a:t>
            </a:r>
          </a:p>
        </p:txBody>
      </p:sp>
      <p:sp>
        <p:nvSpPr>
          <p:cNvPr id="9" name="TextBox 8"/>
          <p:cNvSpPr txBox="1"/>
          <p:nvPr/>
        </p:nvSpPr>
        <p:spPr>
          <a:xfrm>
            <a:off x="548640" y="3072384"/>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0E7C68"/>
                </a:solidFill>
                <a:latin typeface="Consolas"/>
              </a:rPr>
              <a:t>Q  </a:t>
            </a:r>
            <a:r>
              <a:rPr sz="1350" b="1" i="1">
                <a:solidFill>
                  <a:srgbClr val="1A1F1D"/>
                </a:solidFill>
                <a:latin typeface="Calibri"/>
              </a:rPr>
              <a:t>Why didn't this help on the big databases?</a:t>
            </a:r>
          </a:p>
        </p:txBody>
      </p:sp>
      <p:sp>
        <p:nvSpPr>
          <p:cNvPr id="10" name="TextBox 9"/>
          <p:cNvSpPr txBox="1"/>
          <p:nvPr/>
        </p:nvSpPr>
        <p:spPr>
          <a:xfrm>
            <a:off x="548640" y="3419856"/>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450" b="0" i="0">
                <a:solidFill>
                  <a:srgbClr val="57615C"/>
                </a:solidFill>
                <a:latin typeface="Calibri"/>
              </a:rPr>
              <a:t>Remembering only the most recent minimizer only pays off if the very next lookup is a repeat of that exact one - vanishingly unlikely on a database with millions of distinct minimizers.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S2</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The 4-way set-associative cache</a:t>
            </a:r>
          </a:p>
        </p:txBody>
      </p:sp>
      <p:sp>
        <p:nvSpPr>
          <p:cNvPr id="5" name="Rounded Rectangle 4"/>
          <p:cNvSpPr/>
          <p:nvPr/>
        </p:nvSpPr>
        <p:spPr>
          <a:xfrm>
            <a:off x="9631375" y="987552"/>
            <a:ext cx="1938528" cy="292608"/>
          </a:xfrm>
          <a:prstGeom prst="roundRect">
            <a:avLst>
              <a:gd name="adj" fmla="val 50000"/>
            </a:avLst>
          </a:prstGeom>
          <a:solidFill>
            <a:srgbClr val="F7EC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B8452E"/>
                </a:solidFill>
                <a:latin typeface="Consolas"/>
              </a:rPr>
              <a:t>BUG CAUGHT BY REVIEW</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7" name="TextBox 6"/>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014</a:t>
            </a:r>
          </a:p>
        </p:txBody>
      </p:sp>
      <p:sp>
        <p:nvSpPr>
          <p:cNvPr id="8" name="TextBox 7"/>
          <p:cNvSpPr txBox="1"/>
          <p:nvPr/>
        </p:nvSpPr>
        <p:spPr>
          <a:xfrm>
            <a:off x="548640" y="173736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650" b="0" i="0">
                <a:solidFill>
                  <a:srgbClr val="1A1F1D"/>
                </a:solidFill>
                <a:latin typeface="Calibri"/>
              </a:rPr>
              <a:t>Sir's specific ask for Thesis 1's baseline: instead of one candidate slot per minimizer, give each minimizer 4 candidate slots (a “set” of 4 “ways”), so two colliding minimizers don't have to fight over one spot. S1 gave S2 a concrete, evidenced reason to exist: a 1-slot cache's hit odds vanish on large databases.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S2</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The code - struct and three functions</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015</a:t>
            </a:r>
          </a:p>
        </p:txBody>
      </p:sp>
      <p:sp>
        <p:nvSpPr>
          <p:cNvPr id="7" name="Rounded Rectangle 6"/>
          <p:cNvSpPr/>
          <p:nvPr/>
        </p:nvSpPr>
        <p:spPr>
          <a:xfrm>
            <a:off x="548640" y="1645920"/>
            <a:ext cx="11094415" cy="402336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static const size_t S2_NUM_SETS = 4096;   // must be a power of 2</a:t>
            </a:r>
          </a:p>
          <a:p>
            <a:pPr>
              <a:lnSpc>
                <a:spcPct val="118000"/>
              </a:lnSpc>
            </a:pPr>
            <a:r>
              <a:rPr sz="1150">
                <a:solidFill>
                  <a:srgbClr val="F3F4F1"/>
                </a:solidFill>
                <a:latin typeface="Consolas"/>
              </a:rPr>
              <a:t>static const size_t S2_WAYS = 4;</a:t>
            </a:r>
          </a:p>
          <a:p>
            <a:pPr>
              <a:lnSpc>
                <a:spcPct val="118000"/>
              </a:lnSpc>
            </a:pPr>
            <a:r>
              <a:rPr sz="1150">
                <a:solidFill>
                  <a:srgbClr val="F3F4F1"/>
                </a:solidFill>
                <a:latin typeface="Consolas"/>
              </a:rPr>
              <a:t>static const uint64_t S2_EMPTY_TAG = UINT64_MAX;</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struct S2Entry { uint64_t tag = S2_EMPTY_TAG; taxid_t taxon = TAXID_MAX; };</a:t>
            </a:r>
          </a:p>
          <a:p>
            <a:pPr>
              <a:lnSpc>
                <a:spcPct val="118000"/>
              </a:lnSpc>
            </a:pPr>
            <a:r>
              <a:rPr sz="1150">
                <a:solidFill>
                  <a:srgbClr val="F3F4F1"/>
                </a:solidFill>
                <a:latin typeface="Consolas"/>
              </a:rPr>
              <a:t>// 16 bytes, zero padding. 4096 sets x 4 ways x 16B = 256KB/thread (fits L2)</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static thread_local S2Entry s2_cache[S2_NUM_SETS][S2_WAYS];</a:t>
            </a:r>
          </a:p>
          <a:p>
            <a:pPr>
              <a:lnSpc>
                <a:spcPct val="118000"/>
              </a:lnSpc>
            </a:pPr>
            <a:r>
              <a:rPr sz="1150">
                <a:solidFill>
                  <a:srgbClr val="F3F4F1"/>
                </a:solidFill>
                <a:latin typeface="Consolas"/>
              </a:rPr>
              <a:t>static thread_local uint8_t s2_next_way[S2_NUM_SETS] = {0};</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 S2.1 - raw bit-mask, NO mixing. This exact line is what S4.0 finds</a:t>
            </a:r>
          </a:p>
          <a:p>
            <a:pPr>
              <a:lnSpc>
                <a:spcPct val="118000"/>
              </a:lnSpc>
            </a:pPr>
            <a:r>
              <a:rPr sz="1150">
                <a:solidFill>
                  <a:srgbClr val="F3F4F1"/>
                </a:solidFill>
                <a:latin typeface="Consolas"/>
              </a:rPr>
              <a:t>// badly broken months later (one set absorbs 225x average load).</a:t>
            </a:r>
          </a:p>
          <a:p>
            <a:pPr>
              <a:lnSpc>
                <a:spcPct val="118000"/>
              </a:lnSpc>
            </a:pPr>
            <a:r>
              <a:rPr sz="1150">
                <a:solidFill>
                  <a:srgbClr val="F3F4F1"/>
                </a:solidFill>
                <a:latin typeface="Consolas"/>
              </a:rPr>
              <a:t>static inline size_t S2SetIndex(uint64_t m) { return m &amp; (S2_NUM_SETS-1); }</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static inline bool S2Lookup(uint64_t m, taxid_t *out) {</a:t>
            </a:r>
          </a:p>
          <a:p>
            <a:pPr>
              <a:lnSpc>
                <a:spcPct val="118000"/>
              </a:lnSpc>
            </a:pPr>
            <a:r>
              <a:rPr sz="1150">
                <a:solidFill>
                  <a:srgbClr val="F3F4F1"/>
                </a:solidFill>
                <a:latin typeface="Consolas"/>
              </a:rPr>
              <a:t>  size_t s = S2SetIndex(m);</a:t>
            </a:r>
          </a:p>
          <a:p>
            <a:pPr>
              <a:lnSpc>
                <a:spcPct val="118000"/>
              </a:lnSpc>
            </a:pPr>
            <a:r>
              <a:rPr sz="1150">
                <a:solidFill>
                  <a:srgbClr val="F3F4F1"/>
                </a:solidFill>
                <a:latin typeface="Consolas"/>
              </a:rPr>
              <a:t>  for (size_t w=0; w&lt;S2_WAYS; w++)</a:t>
            </a:r>
          </a:p>
          <a:p>
            <a:pPr>
              <a:lnSpc>
                <a:spcPct val="118000"/>
              </a:lnSpc>
            </a:pPr>
            <a:r>
              <a:rPr sz="1150">
                <a:solidFill>
                  <a:srgbClr val="F3F4F1"/>
                </a:solidFill>
                <a:latin typeface="Consolas"/>
              </a:rPr>
              <a:t>    if (s2_cache[s][w].tag==m) { *out=s2_cache[s][w].taxon; return true; }</a:t>
            </a:r>
          </a:p>
          <a:p>
            <a:pPr>
              <a:lnSpc>
                <a:spcPct val="118000"/>
              </a:lnSpc>
            </a:pPr>
            <a:r>
              <a:rPr sz="1150">
                <a:solidFill>
                  <a:srgbClr val="F3F4F1"/>
                </a:solidFill>
                <a:latin typeface="Consolas"/>
              </a:rPr>
              <a:t>  return false;</a:t>
            </a:r>
          </a:p>
          <a:p>
            <a:pPr>
              <a:lnSpc>
                <a:spcPct val="118000"/>
              </a:lnSpc>
            </a:pPr>
            <a:r>
              <a:rPr sz="1150">
                <a:solidFill>
                  <a:srgbClr val="F3F4F1"/>
                </a:solidFill>
                <a:latin typeface="Consolas"/>
              </a:rPr>
              <a:t>}</a:t>
            </a:r>
          </a:p>
          <a:p>
            <a:pPr>
              <a:lnSpc>
                <a:spcPct val="118000"/>
              </a:lnSpc>
            </a:pPr>
            <a:r>
              <a:rPr sz="1150">
                <a:solidFill>
                  <a:srgbClr val="F3F4F1"/>
                </a:solidFill>
                <a:latin typeface="Consolas"/>
              </a:rPr>
              <a:t>// S2.3 - round-robin: always evict "next" way, then advance. S4 replaces</a:t>
            </a:r>
          </a:p>
          <a:p>
            <a:pPr>
              <a:lnSpc>
                <a:spcPct val="118000"/>
              </a:lnSpc>
            </a:pPr>
            <a:r>
              <a:rPr sz="1150">
                <a:solidFill>
                  <a:srgbClr val="F3F4F1"/>
                </a:solidFill>
                <a:latin typeface="Consolas"/>
              </a:rPr>
              <a:t>// this with a smarter policy later.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S2</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The correctness boundary - caught before it shipped</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016</a:t>
            </a:r>
          </a:p>
        </p:txBody>
      </p:sp>
      <p:sp>
        <p:nvSpPr>
          <p:cNvPr id="7" name="Rounded Rectangle 6"/>
          <p:cNvSpPr/>
          <p:nvPr/>
        </p:nvSpPr>
        <p:spPr>
          <a:xfrm>
            <a:off x="548640" y="1691640"/>
            <a:ext cx="11094415" cy="192024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 IMPORTANT - S2Lookup/S2Insert decide ONLY whether hash-&gt;Get()</a:t>
            </a:r>
          </a:p>
          <a:p>
            <a:pPr>
              <a:lnSpc>
                <a:spcPct val="118000"/>
              </a:lnSpc>
            </a:pPr>
            <a:r>
              <a:rPr sz="1150">
                <a:solidFill>
                  <a:srgbClr val="F3F4F1"/>
                </a:solidFill>
                <a:latin typeface="Consolas"/>
              </a:rPr>
              <a:t>// needs to run again. NEVER used to gate minimizer_hit_groups or</a:t>
            </a:r>
          </a:p>
          <a:p>
            <a:pPr>
              <a:lnSpc>
                <a:spcPct val="118000"/>
              </a:lnSpc>
            </a:pPr>
            <a:r>
              <a:rPr sz="1150">
                <a:solidFill>
                  <a:srgbClr val="F3F4F1"/>
                </a:solidFill>
                <a:latin typeface="Consolas"/>
              </a:rPr>
              <a:t>// curr_taxon_counts - that stays tied to "different from immediately</a:t>
            </a:r>
          </a:p>
          <a:p>
            <a:pPr>
              <a:lnSpc>
                <a:spcPct val="118000"/>
              </a:lnSpc>
            </a:pPr>
            <a:r>
              <a:rPr sz="1150">
                <a:solidFill>
                  <a:srgbClr val="F3F4F1"/>
                </a:solidFill>
                <a:latin typeface="Consolas"/>
              </a:rPr>
              <a:t>// preceding minimizer" (s1_last_minimizer), exactly as stock Kraken2</a:t>
            </a:r>
          </a:p>
          <a:p>
            <a:pPr>
              <a:lnSpc>
                <a:spcPct val="118000"/>
              </a:lnSpc>
            </a:pPr>
            <a:r>
              <a:rPr sz="1150">
                <a:solidFill>
                  <a:srgbClr val="F3F4F1"/>
                </a:solidFill>
                <a:latin typeface="Consolas"/>
              </a:rPr>
              <a:t>// always did it. Wiring S2 into that would silently change what the</a:t>
            </a:r>
          </a:p>
          <a:p>
            <a:pPr>
              <a:lnSpc>
                <a:spcPct val="118000"/>
              </a:lnSpc>
            </a:pPr>
            <a:r>
              <a:rPr sz="1150">
                <a:solidFill>
                  <a:srgbClr val="F3F4F1"/>
                </a:solidFill>
                <a:latin typeface="Consolas"/>
              </a:rPr>
              <a:t>// classification report counts - a correctness bug, not a perf one.</a:t>
            </a:r>
          </a:p>
        </p:txBody>
      </p:sp>
      <p:sp>
        <p:nvSpPr>
          <p:cNvPr id="8" name="TextBox 7"/>
          <p:cNvSpPr txBox="1"/>
          <p:nvPr/>
        </p:nvSpPr>
        <p:spPr>
          <a:xfrm>
            <a:off x="548640" y="3840480"/>
            <a:ext cx="11094415" cy="1828800"/>
          </a:xfrm>
          <a:prstGeom prst="rect">
            <a:avLst/>
          </a:prstGeom>
          <a:noFill/>
        </p:spPr>
        <p:txBody>
          <a:bodyPr wrap="square" lIns="0" rIns="0" tIns="0" bIns="0">
            <a:spAutoFit/>
          </a:bodyPr>
          <a:lstStyle/>
          <a:p>
            <a:pPr algn="l">
              <a:lnSpc>
                <a:spcPct val="135000"/>
              </a:lnSpc>
              <a:spcBef>
                <a:spcPts val="0"/>
              </a:spcBef>
              <a:spcAft>
                <a:spcPts val="0"/>
              </a:spcAft>
            </a:pPr>
            <a:r>
              <a:rPr sz="1550" b="0" i="0">
                <a:solidFill>
                  <a:srgbClr val="57615C"/>
                </a:solidFill>
                <a:latin typeface="Calibri"/>
              </a:rPr>
              <a:t>In plain terms: --quick-mode and species counts only update on a real minimizer change. S2's cache catches repeats across a much wider span - wired in carelessly, it would have silently suppressed far more counts than intended. Speed and statistics are kept deliberately separate.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S2</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Where S2 plugs in - the nesting bug, visible in the diff</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017</a:t>
            </a:r>
          </a:p>
        </p:txBody>
      </p:sp>
      <p:sp>
        <p:nvSpPr>
          <p:cNvPr id="7" name="Rounded Rectangle 6"/>
          <p:cNvSpPr/>
          <p:nvPr/>
        </p:nvSpPr>
        <p:spPr>
          <a:xfrm>
            <a:off x="548640" y="1645920"/>
            <a:ext cx="11094415" cy="237744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 AFTER:</a:t>
            </a:r>
          </a:p>
          <a:p>
            <a:pPr>
              <a:lnSpc>
                <a:spcPct val="118000"/>
              </a:lnSpc>
            </a:pPr>
            <a:r>
              <a:rPr sz="1150">
                <a:solidFill>
                  <a:srgbClr val="F3F4F1"/>
                </a:solidFill>
                <a:latin typeface="Consolas"/>
              </a:rPr>
              <a:t>taxon = 0;</a:t>
            </a:r>
          </a:p>
          <a:p>
            <a:pPr>
              <a:lnSpc>
                <a:spcPct val="118000"/>
              </a:lnSpc>
            </a:pPr>
            <a:r>
              <a:rPr sz="1150">
                <a:solidFill>
                  <a:srgbClr val="F3F4F1"/>
                </a:solidFill>
                <a:latin typeface="Consolas"/>
              </a:rPr>
              <a:t>if (! skip_lookup) {</a:t>
            </a:r>
          </a:p>
          <a:p>
            <a:pPr>
              <a:lnSpc>
                <a:spcPct val="118000"/>
              </a:lnSpc>
            </a:pPr>
            <a:r>
              <a:rPr sz="1150">
                <a:solidFill>
                  <a:srgbClr val="F3F4F1"/>
                </a:solidFill>
                <a:latin typeface="Consolas"/>
              </a:rPr>
              <a:t>  if (! S2Lookup(*minimizer_ptr, &amp;taxon)) {</a:t>
            </a:r>
          </a:p>
          <a:p>
            <a:pPr>
              <a:lnSpc>
                <a:spcPct val="118000"/>
              </a:lnSpc>
            </a:pPr>
            <a:r>
              <a:rPr sz="1150">
                <a:solidFill>
                  <a:srgbClr val="F3F4F1"/>
                </a:solidFill>
                <a:latin typeface="Consolas"/>
              </a:rPr>
              <a:t>    taxon = hash-&gt;Get(*minimizer_ptr);</a:t>
            </a:r>
          </a:p>
          <a:p>
            <a:pPr>
              <a:lnSpc>
                <a:spcPct val="118000"/>
              </a:lnSpc>
            </a:pPr>
            <a:r>
              <a:rPr sz="1150">
                <a:solidFill>
                  <a:srgbClr val="F3F4F1"/>
                </a:solidFill>
                <a:latin typeface="Consolas"/>
              </a:rPr>
              <a:t>    S2Insert(*minimizer_ptr, taxon);</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a:t>
            </a:r>
          </a:p>
          <a:p>
            <a:pPr>
              <a:lnSpc>
                <a:spcPct val="118000"/>
              </a:lnSpc>
            </a:pPr>
            <a:r>
              <a:rPr sz="1150">
                <a:solidFill>
                  <a:srgbClr val="F3F4F1"/>
                </a:solidFill>
                <a:latin typeface="Consolas"/>
              </a:rPr>
              <a:t>s1_last_taxon = taxon;</a:t>
            </a:r>
          </a:p>
        </p:txBody>
      </p:sp>
      <p:sp>
        <p:nvSpPr>
          <p:cNvPr id="8" name="TextBox 7"/>
          <p:cNvSpPr txBox="1"/>
          <p:nvPr/>
        </p:nvSpPr>
        <p:spPr>
          <a:xfrm>
            <a:off x="548640" y="4206240"/>
            <a:ext cx="11094415" cy="1554480"/>
          </a:xfrm>
          <a:prstGeom prst="rect">
            <a:avLst/>
          </a:prstGeom>
          <a:noFill/>
        </p:spPr>
        <p:txBody>
          <a:bodyPr wrap="square" lIns="0" rIns="0" tIns="0" bIns="0">
            <a:spAutoFit/>
          </a:bodyPr>
          <a:lstStyle/>
          <a:p>
            <a:pPr algn="l">
              <a:lnSpc>
                <a:spcPct val="135000"/>
              </a:lnSpc>
              <a:spcBef>
                <a:spcPts val="0"/>
              </a:spcBef>
              <a:spcAft>
                <a:spcPts val="0"/>
              </a:spcAft>
            </a:pPr>
            <a:r>
              <a:rPr sz="1550" b="0" i="0">
                <a:solidFill>
                  <a:srgbClr val="57615C"/>
                </a:solidFill>
                <a:latin typeface="Calibri"/>
              </a:rPr>
              <a:t>S2Lookup/S2Insert only run inside the EXISTING if(!skip_lookup) block from S1. Whenever a minimizer matches the one before it, the whole block - S2 included - gets skipped. S2 only ever sees the residual stream that already failed S1's filter.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S2</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The audit - 5 agents, 3 rounds, fresh session</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018</a:t>
            </a:r>
          </a:p>
        </p:txBody>
      </p:sp>
      <p:graphicFrame>
        <p:nvGraphicFramePr>
          <p:cNvPr id="7" name="Table 6"/>
          <p:cNvGraphicFramePr>
            <a:graphicFrameLocks noGrp="1"/>
          </p:cNvGraphicFramePr>
          <p:nvPr/>
        </p:nvGraphicFramePr>
        <p:xfrm>
          <a:off x="548640" y="1600200"/>
          <a:ext cx="11094414" cy="4114800"/>
        </p:xfrm>
        <a:graphic>
          <a:graphicData uri="http://schemas.openxmlformats.org/drawingml/2006/table">
            <a:tbl>
              <a:tblPr firstRow="0" bandRow="0">
                <a:tableStyleId>{2D5ABB26-0587-4C30-8999-92F81FD0307C}</a:tableStyleId>
              </a:tblPr>
              <a:tblGrid>
                <a:gridCol w="776609"/>
                <a:gridCol w="10317805"/>
              </a:tblGrid>
              <a:tr h="457200">
                <a:tc>
                  <a:txBody>
                    <a:bodyPr/>
                    <a:lstStyle/>
                    <a:p>
                      <a:r>
                        <a:rPr sz="1200" b="1">
                          <a:solidFill>
                            <a:srgbClr val="F3F4F1"/>
                          </a:solidFill>
                          <a:latin typeface="Consolas"/>
                        </a:rPr>
                        <a:t>Q</a:t>
                      </a:r>
                    </a:p>
                  </a:txBody>
                  <a:tcPr marL="73152" marR="73152" marT="18288" marB="18288" anchor="ctr">
                    <a:solidFill>
                      <a:srgbClr val="1A1F1D"/>
                    </a:solidFill>
                  </a:tcPr>
                </a:tc>
                <a:tc>
                  <a:txBody>
                    <a:bodyPr/>
                    <a:lstStyle/>
                    <a:p>
                      <a:r>
                        <a:rPr sz="1200" b="1">
                          <a:solidFill>
                            <a:srgbClr val="F3F4F1"/>
                          </a:solidFill>
                          <a:latin typeface="Consolas"/>
                        </a:rPr>
                        <a:t>Verdict</a:t>
                      </a:r>
                    </a:p>
                  </a:txBody>
                  <a:tcPr marL="73152" marR="73152" marT="18288" marB="18288" anchor="ctr">
                    <a:solidFill>
                      <a:srgbClr val="1A1F1D"/>
                    </a:solidFill>
                  </a:tcPr>
                </a:tc>
              </a:tr>
              <a:tr h="457200">
                <a:tc>
                  <a:txBody>
                    <a:bodyPr/>
                    <a:lstStyle/>
                    <a:p>
                      <a:r>
                        <a:rPr sz="1200">
                          <a:solidFill>
                            <a:srgbClr val="1A1F1D"/>
                          </a:solidFill>
                          <a:latin typeface="Consolas"/>
                        </a:rPr>
                        <a:t>Q1</a:t>
                      </a:r>
                    </a:p>
                  </a:txBody>
                  <a:tcPr marL="73152" marR="73152" marT="18288" marB="18288" anchor="ctr">
                    <a:solidFill>
                      <a:srgbClr val="FFFFFF"/>
                    </a:solidFill>
                  </a:tcPr>
                </a:tc>
                <a:tc>
                  <a:txBody>
                    <a:bodyPr/>
                    <a:lstStyle/>
                    <a:p>
                      <a:r>
                        <a:rPr sz="1200">
                          <a:solidFill>
                            <a:srgbClr val="1A1F1D"/>
                          </a:solidFill>
                          <a:latin typeface="Consolas"/>
                        </a:rPr>
                        <a:t>Nesting bug - CONCERN (4/5), weak bite: S1 fires ~0% on the DBs that matter</a:t>
                      </a:r>
                    </a:p>
                  </a:txBody>
                  <a:tcPr marL="73152" marR="73152" marT="18288" marB="18288" anchor="ctr">
                    <a:solidFill>
                      <a:srgbClr val="FFFFFF"/>
                    </a:solidFill>
                  </a:tcPr>
                </a:tc>
              </a:tr>
              <a:tr h="457200">
                <a:tc>
                  <a:txBody>
                    <a:bodyPr/>
                    <a:lstStyle/>
                    <a:p>
                      <a:r>
                        <a:rPr sz="1200">
                          <a:solidFill>
                            <a:srgbClr val="1A1F1D"/>
                          </a:solidFill>
                          <a:latin typeface="Consolas"/>
                        </a:rPr>
                        <a:t>Q2</a:t>
                      </a:r>
                    </a:p>
                  </a:txBody>
                  <a:tcPr marL="73152" marR="73152" marT="18288" marB="18288" anchor="ctr">
                    <a:solidFill>
                      <a:srgbClr val="F3F4F1"/>
                    </a:solidFill>
                  </a:tcPr>
                </a:tc>
                <a:tc>
                  <a:txBody>
                    <a:bodyPr/>
                    <a:lstStyle/>
                    <a:p>
                      <a:r>
                        <a:rPr sz="1200">
                          <a:solidFill>
                            <a:srgbClr val="1A1F1D"/>
                          </a:solidFill>
                          <a:latin typeface="Consolas"/>
                        </a:rPr>
                        <a:t>Correctness argument sound as narrated - 2 preconditions unverified (5/5)</a:t>
                      </a:r>
                    </a:p>
                  </a:txBody>
                  <a:tcPr marL="73152" marR="73152" marT="18288" marB="18288" anchor="ctr">
                    <a:solidFill>
                      <a:srgbClr val="F3F4F1"/>
                    </a:solidFill>
                  </a:tcPr>
                </a:tc>
              </a:tr>
              <a:tr h="457200">
                <a:tc>
                  <a:txBody>
                    <a:bodyPr/>
                    <a:lstStyle/>
                    <a:p>
                      <a:r>
                        <a:rPr sz="1200">
                          <a:solidFill>
                            <a:srgbClr val="1A1F1D"/>
                          </a:solidFill>
                          <a:latin typeface="Consolas"/>
                        </a:rPr>
                        <a:t>Q3</a:t>
                      </a:r>
                    </a:p>
                  </a:txBody>
                  <a:tcPr marL="73152" marR="73152" marT="18288" marB="18288" anchor="ctr">
                    <a:solidFill>
                      <a:srgbClr val="FFFFFF"/>
                    </a:solidFill>
                  </a:tcPr>
                </a:tc>
                <a:tc>
                  <a:txBody>
                    <a:bodyPr/>
                    <a:lstStyle/>
                    <a:p>
                      <a:r>
                        <a:rPr sz="1200">
                          <a:solidFill>
                            <a:srgbClr val="1A1F1D"/>
                          </a:solidFill>
                          <a:latin typeface="Consolas"/>
                        </a:rPr>
                        <a:t>“No benefit” real or bug? CANNOT VERIFY - zero internal instrumentation existed</a:t>
                      </a:r>
                    </a:p>
                  </a:txBody>
                  <a:tcPr marL="73152" marR="73152" marT="18288" marB="18288" anchor="ctr">
                    <a:solidFill>
                      <a:srgbClr val="FFFFFF"/>
                    </a:solidFill>
                  </a:tcPr>
                </a:tc>
              </a:tr>
              <a:tr h="457200">
                <a:tc>
                  <a:txBody>
                    <a:bodyPr/>
                    <a:lstStyle/>
                    <a:p>
                      <a:r>
                        <a:rPr sz="1200">
                          <a:solidFill>
                            <a:srgbClr val="1A1F1D"/>
                          </a:solidFill>
                          <a:latin typeface="Consolas"/>
                        </a:rPr>
                        <a:t>Q4</a:t>
                      </a:r>
                    </a:p>
                  </a:txBody>
                  <a:tcPr marL="73152" marR="73152" marT="18288" marB="18288" anchor="ctr">
                    <a:solidFill>
                      <a:srgbClr val="F3F4F1"/>
                    </a:solidFill>
                  </a:tcPr>
                </a:tc>
                <a:tc>
                  <a:txBody>
                    <a:bodyPr/>
                    <a:lstStyle/>
                    <a:p>
                      <a:r>
                        <a:rPr sz="1200">
                          <a:solidFill>
                            <a:srgbClr val="1A1F1D"/>
                          </a:solidFill>
                          <a:latin typeface="Consolas"/>
                        </a:rPr>
                        <a:t>Memory-init cliff - CONFIRMED leading hypothesis (256MB/thread x 96 ~ 24GB)</a:t>
                      </a:r>
                    </a:p>
                  </a:txBody>
                  <a:tcPr marL="73152" marR="73152" marT="18288" marB="18288" anchor="ctr">
                    <a:solidFill>
                      <a:srgbClr val="F3F4F1"/>
                    </a:solidFill>
                  </a:tcPr>
                </a:tc>
              </a:tr>
              <a:tr h="457200">
                <a:tc>
                  <a:txBody>
                    <a:bodyPr/>
                    <a:lstStyle/>
                    <a:p>
                      <a:r>
                        <a:rPr sz="1200">
                          <a:solidFill>
                            <a:srgbClr val="1A1F1D"/>
                          </a:solidFill>
                          <a:latin typeface="Consolas"/>
                        </a:rPr>
                        <a:t>Q5</a:t>
                      </a:r>
                    </a:p>
                  </a:txBody>
                  <a:tcPr marL="73152" marR="73152" marT="18288" marB="18288" anchor="ctr">
                    <a:solidFill>
                      <a:srgbClr val="FFFFFF"/>
                    </a:solidFill>
                  </a:tcPr>
                </a:tc>
                <a:tc>
                  <a:txBody>
                    <a:bodyPr/>
                    <a:lstStyle/>
                    <a:p>
                      <a:r>
                        <a:rPr sz="1200">
                          <a:solidFill>
                            <a:srgbClr val="1A1F1D"/>
                          </a:solidFill>
                          <a:latin typeface="Consolas"/>
                        </a:rPr>
                        <a:t>Missing correctness check blocks trust - CONCERN, 5/5 no dissent, strongest of the 8</a:t>
                      </a:r>
                    </a:p>
                  </a:txBody>
                  <a:tcPr marL="73152" marR="73152" marT="18288" marB="18288" anchor="ctr">
                    <a:solidFill>
                      <a:srgbClr val="FFFFFF"/>
                    </a:solidFill>
                  </a:tcPr>
                </a:tc>
              </a:tr>
              <a:tr h="457200">
                <a:tc>
                  <a:txBody>
                    <a:bodyPr/>
                    <a:lstStyle/>
                    <a:p>
                      <a:r>
                        <a:rPr sz="1200">
                          <a:solidFill>
                            <a:srgbClr val="1A1F1D"/>
                          </a:solidFill>
                          <a:latin typeface="Consolas"/>
                        </a:rPr>
                        <a:t>Q6</a:t>
                      </a:r>
                    </a:p>
                  </a:txBody>
                  <a:tcPr marL="73152" marR="73152" marT="18288" marB="18288" anchor="ctr">
                    <a:solidFill>
                      <a:srgbClr val="F3F4F1"/>
                    </a:solidFill>
                  </a:tcPr>
                </a:tc>
                <a:tc>
                  <a:txBody>
                    <a:bodyPr/>
                    <a:lstStyle/>
                    <a:p>
                      <a:r>
                        <a:rPr sz="1200">
                          <a:solidFill>
                            <a:srgbClr val="1A1F1D"/>
                          </a:solidFill>
                          <a:latin typeface="Consolas"/>
                        </a:rPr>
                        <a:t>v2.1.3-&gt;v2.17.1 version-split risk - CONCERN, broader than first scoped</a:t>
                      </a:r>
                    </a:p>
                  </a:txBody>
                  <a:tcPr marL="73152" marR="73152" marT="18288" marB="18288" anchor="ctr">
                    <a:solidFill>
                      <a:srgbClr val="F3F4F1"/>
                    </a:solidFill>
                  </a:tcPr>
                </a:tc>
              </a:tr>
              <a:tr h="457200">
                <a:tc>
                  <a:txBody>
                    <a:bodyPr/>
                    <a:lstStyle/>
                    <a:p>
                      <a:r>
                        <a:rPr sz="1200">
                          <a:solidFill>
                            <a:srgbClr val="1A1F1D"/>
                          </a:solidFill>
                          <a:latin typeface="Consolas"/>
                        </a:rPr>
                        <a:t>Q7</a:t>
                      </a:r>
                    </a:p>
                  </a:txBody>
                  <a:tcPr marL="73152" marR="73152" marT="18288" marB="18288" anchor="ctr">
                    <a:solidFill>
                      <a:srgbClr val="FFFFFF"/>
                    </a:solidFill>
                  </a:tcPr>
                </a:tc>
                <a:tc>
                  <a:txBody>
                    <a:bodyPr/>
                    <a:lstStyle/>
                    <a:p>
                      <a:r>
                        <a:rPr sz="1200">
                          <a:solidFill>
                            <a:srgbClr val="1A1F1D"/>
                          </a:solidFill>
                          <a:latin typeface="Consolas"/>
                        </a:rPr>
                        <a:t>Pacing - CONCERN, 2nd consecutive week missing its own target</a:t>
                      </a:r>
                    </a:p>
                  </a:txBody>
                  <a:tcPr marL="73152" marR="73152" marT="18288" marB="18288" anchor="ctr">
                    <a:solidFill>
                      <a:srgbClr val="FFFFFF"/>
                    </a:solidFill>
                  </a:tcPr>
                </a:tc>
              </a:tr>
              <a:tr h="457200">
                <a:tc>
                  <a:txBody>
                    <a:bodyPr/>
                    <a:lstStyle/>
                    <a:p>
                      <a:r>
                        <a:rPr sz="1200">
                          <a:solidFill>
                            <a:srgbClr val="1A1F1D"/>
                          </a:solidFill>
                          <a:latin typeface="Consolas"/>
                        </a:rPr>
                        <a:t>Q8</a:t>
                      </a:r>
                    </a:p>
                  </a:txBody>
                  <a:tcPr marL="73152" marR="73152" marT="18288" marB="18288" anchor="ctr">
                    <a:solidFill>
                      <a:srgbClr val="F3F4F1"/>
                    </a:solidFill>
                  </a:tcPr>
                </a:tc>
                <a:tc>
                  <a:txBody>
                    <a:bodyPr/>
                    <a:lstStyle/>
                    <a:p>
                      <a:r>
                        <a:rPr sz="1200">
                          <a:solidFill>
                            <a:srgbClr val="1A1F1D"/>
                          </a:solidFill>
                          <a:latin typeface="Consolas"/>
                        </a:rPr>
                        <a:t>8 items: data-loss precedent, -M never used, stale ledger, false brief claim...</a:t>
                      </a:r>
                    </a:p>
                  </a:txBody>
                  <a:tcPr marL="73152" marR="73152" marT="18288" marB="18288" anchor="ctr">
                    <a:solidFill>
                      <a:srgbClr val="F3F4F1"/>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S2</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What we fixed - tested directly, not taken on faith</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019</a:t>
            </a:r>
          </a:p>
        </p:txBody>
      </p:sp>
      <p:graphicFrame>
        <p:nvGraphicFramePr>
          <p:cNvPr id="7" name="Table 6"/>
          <p:cNvGraphicFramePr>
            <a:graphicFrameLocks noGrp="1"/>
          </p:cNvGraphicFramePr>
          <p:nvPr/>
        </p:nvGraphicFramePr>
        <p:xfrm>
          <a:off x="548640" y="1691640"/>
          <a:ext cx="11094414" cy="1554480"/>
        </p:xfrm>
        <a:graphic>
          <a:graphicData uri="http://schemas.openxmlformats.org/drawingml/2006/table">
            <a:tbl>
              <a:tblPr firstRow="0" bandRow="0">
                <a:tableStyleId>{2D5ABB26-0587-4C30-8999-92F81FD0307C}</a:tableStyleId>
              </a:tblPr>
              <a:tblGrid>
                <a:gridCol w="4659654"/>
                <a:gridCol w="6434760"/>
              </a:tblGrid>
              <a:tr h="388620">
                <a:tc>
                  <a:txBody>
                    <a:bodyPr/>
                    <a:lstStyle/>
                    <a:p>
                      <a:r>
                        <a:rPr sz="1200" b="1">
                          <a:solidFill>
                            <a:srgbClr val="F3F4F1"/>
                          </a:solidFill>
                          <a:latin typeface="Consolas"/>
                        </a:rPr>
                        <a:t>Check</a:t>
                      </a:r>
                    </a:p>
                  </a:txBody>
                  <a:tcPr marL="73152" marR="73152" marT="18288" marB="18288" anchor="ctr">
                    <a:solidFill>
                      <a:srgbClr val="1A1F1D"/>
                    </a:solidFill>
                  </a:tcPr>
                </a:tc>
                <a:tc>
                  <a:txBody>
                    <a:bodyPr/>
                    <a:lstStyle/>
                    <a:p>
                      <a:r>
                        <a:rPr sz="1200" b="1">
                          <a:solidFill>
                            <a:srgbClr val="F3F4F1"/>
                          </a:solidFill>
                          <a:latin typeface="Consolas"/>
                        </a:rPr>
                        <a:t>Outcome</a:t>
                      </a:r>
                    </a:p>
                  </a:txBody>
                  <a:tcPr marL="73152" marR="73152" marT="18288" marB="18288" anchor="ctr">
                    <a:solidFill>
                      <a:srgbClr val="1A1F1D"/>
                    </a:solidFill>
                  </a:tcPr>
                </a:tc>
              </a:tr>
              <a:tr h="388620">
                <a:tc>
                  <a:txBody>
                    <a:bodyPr/>
                    <a:lstStyle/>
                    <a:p>
                      <a:r>
                        <a:rPr sz="1400">
                          <a:solidFill>
                            <a:srgbClr val="1A1F1D"/>
                          </a:solidFill>
                          <a:latin typeface="Consolas"/>
                        </a:rPr>
                        <a:t>Un-nesting the cache</a:t>
                      </a:r>
                    </a:p>
                  </a:txBody>
                  <a:tcPr marL="73152" marR="73152" marT="18288" marB="18288" anchor="ctr">
                    <a:solidFill>
                      <a:srgbClr val="FFFFFF"/>
                    </a:solidFill>
                  </a:tcPr>
                </a:tc>
                <a:tc>
                  <a:txBody>
                    <a:bodyPr/>
                    <a:lstStyle/>
                    <a:p>
                      <a:r>
                        <a:rPr sz="1400">
                          <a:solidFill>
                            <a:srgbClr val="1A1F1D"/>
                          </a:solidFill>
                          <a:latin typeface="Consolas"/>
                        </a:rPr>
                        <a:t>changed nothing statistically - capacity is the real limit</a:t>
                      </a:r>
                    </a:p>
                  </a:txBody>
                  <a:tcPr marL="73152" marR="73152" marT="18288" marB="18288" anchor="ctr">
                    <a:solidFill>
                      <a:srgbClr val="FFFFFF"/>
                    </a:solidFill>
                  </a:tcPr>
                </a:tc>
              </a:tr>
              <a:tr h="388620">
                <a:tc>
                  <a:txBody>
                    <a:bodyPr/>
                    <a:lstStyle/>
                    <a:p>
                      <a:r>
                        <a:rPr sz="1400">
                          <a:solidFill>
                            <a:srgbClr val="1A1F1D"/>
                          </a:solidFill>
                          <a:latin typeface="Consolas"/>
                        </a:rPr>
                        <a:t>Real hit rate</a:t>
                      </a:r>
                    </a:p>
                  </a:txBody>
                  <a:tcPr marL="73152" marR="73152" marT="18288" marB="18288" anchor="ctr">
                    <a:solidFill>
                      <a:srgbClr val="F3F4F1"/>
                    </a:solidFill>
                  </a:tcPr>
                </a:tc>
                <a:tc>
                  <a:txBody>
                    <a:bodyPr/>
                    <a:lstStyle/>
                    <a:p>
                      <a:r>
                        <a:rPr sz="1400">
                          <a:solidFill>
                            <a:srgbClr val="1A1F1D"/>
                          </a:solidFill>
                          <a:latin typeface="Consolas"/>
                        </a:rPr>
                        <a:t>0.14-0.40%, flat by thread count</a:t>
                      </a:r>
                    </a:p>
                  </a:txBody>
                  <a:tcPr marL="73152" marR="73152" marT="18288" marB="18288" anchor="ctr">
                    <a:solidFill>
                      <a:srgbClr val="F3F4F1"/>
                    </a:solidFill>
                  </a:tcPr>
                </a:tc>
              </a:tr>
              <a:tr h="388620">
                <a:tc>
                  <a:txBody>
                    <a:bodyPr/>
                    <a:lstStyle/>
                    <a:p>
                      <a:r>
                        <a:rPr sz="1400">
                          <a:solidFill>
                            <a:srgbClr val="1A1F1D"/>
                          </a:solidFill>
                          <a:latin typeface="Consolas"/>
                        </a:rPr>
                        <a:t>Classification output vs. baseline</a:t>
                      </a:r>
                    </a:p>
                  </a:txBody>
                  <a:tcPr marL="73152" marR="73152" marT="18288" marB="18288" anchor="ctr">
                    <a:solidFill>
                      <a:srgbClr val="FFFFFF"/>
                    </a:solidFill>
                  </a:tcPr>
                </a:tc>
                <a:tc>
                  <a:txBody>
                    <a:bodyPr/>
                    <a:lstStyle/>
                    <a:p>
                      <a:r>
                        <a:rPr sz="1400">
                          <a:solidFill>
                            <a:srgbClr val="1A1F1D"/>
                          </a:solidFill>
                          <a:latin typeface="Consolas"/>
                        </a:rPr>
                        <a:t>byte-identical - diff came back empty</a:t>
                      </a:r>
                    </a:p>
                  </a:txBody>
                  <a:tcPr marL="73152" marR="73152" marT="18288" marB="18288" anchor="ctr">
                    <a:solidFill>
                      <a:srgbClr val="FFFFFF"/>
                    </a:solidFill>
                  </a:tcPr>
                </a:tc>
              </a:tr>
            </a:tbl>
          </a:graphicData>
        </a:graphic>
      </p:graphicFrame>
      <p:sp>
        <p:nvSpPr>
          <p:cNvPr id="8" name="TextBox 7"/>
          <p:cNvSpPr txBox="1"/>
          <p:nvPr/>
        </p:nvSpPr>
        <p:spPr>
          <a:xfrm>
            <a:off x="548640" y="3657600"/>
            <a:ext cx="11094415" cy="1371600"/>
          </a:xfrm>
          <a:prstGeom prst="rect">
            <a:avLst/>
          </a:prstGeom>
          <a:noFill/>
        </p:spPr>
        <p:txBody>
          <a:bodyPr wrap="square" lIns="0" rIns="0" tIns="0" bIns="0">
            <a:spAutoFit/>
          </a:bodyPr>
          <a:lstStyle/>
          <a:p>
            <a:pPr algn="l">
              <a:lnSpc>
                <a:spcPct val="135000"/>
              </a:lnSpc>
              <a:spcBef>
                <a:spcPts val="0"/>
              </a:spcBef>
              <a:spcAft>
                <a:spcPts val="0"/>
              </a:spcAft>
            </a:pPr>
            <a:r>
              <a:rPr sz="1500" b="0" i="0">
                <a:solidFill>
                  <a:srgbClr val="57615C"/>
                </a:solidFill>
                <a:latin typeface="Calibri"/>
              </a:rPr>
              <a:t>One more thing found unprompted: global std::atomic hit/miss counters caused ~3x cache-line-contention slowdown on sample_targeted specifically - an artifact of the measurement technique, not the cache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S2</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Eviction policy - a real, separate lever</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020</a:t>
            </a:r>
          </a:p>
        </p:txBody>
      </p:sp>
      <p:sp>
        <p:nvSpPr>
          <p:cNvPr id="7" name="Rounded Rectangle 6"/>
          <p:cNvSpPr/>
          <p:nvPr/>
        </p:nvSpPr>
        <p:spPr>
          <a:xfrm>
            <a:off x="548640" y="1645920"/>
            <a:ext cx="11094415" cy="228600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struct S2Entry {</a:t>
            </a:r>
          </a:p>
          <a:p>
            <a:pPr>
              <a:lnSpc>
                <a:spcPct val="118000"/>
              </a:lnSpc>
            </a:pPr>
            <a:r>
              <a:rPr sz="1150">
                <a:solidFill>
                  <a:srgbClr val="F3F4F1"/>
                </a:solidFill>
                <a:latin typeface="Consolas"/>
              </a:rPr>
              <a:t>  uint64_t tag = S2_EMPTY_TAG; taxid_t taxon = TAXID_MAX;</a:t>
            </a:r>
          </a:p>
          <a:p>
            <a:pPr>
              <a:lnSpc>
                <a:spcPct val="118000"/>
              </a:lnSpc>
            </a:pPr>
            <a:r>
              <a:rPr sz="1150">
                <a:solidFill>
                  <a:srgbClr val="F3F4F1"/>
                </a:solidFill>
                <a:latin typeface="Consolas"/>
              </a:rPr>
              <a:t>  bool was_hit = false;   // NEW - "proven itself since inserted"</a:t>
            </a:r>
          </a:p>
          <a:p>
            <a:pPr>
              <a:lnSpc>
                <a:spcPct val="118000"/>
              </a:lnSpc>
            </a:pPr>
            <a:r>
              <a:rPr sz="1150">
                <a:solidFill>
                  <a:srgbClr val="F3F4F1"/>
                </a:solidFill>
                <a:latin typeface="Consolas"/>
              </a:rPr>
              <a:t>};</a:t>
            </a:r>
          </a:p>
          <a:p>
            <a:pPr>
              <a:lnSpc>
                <a:spcPct val="118000"/>
              </a:lnSpc>
            </a:pPr>
            <a:r>
              <a:rPr sz="1150">
                <a:solidFill>
                  <a:srgbClr val="F3F4F1"/>
                </a:solidFill>
                <a:latin typeface="Consolas"/>
              </a:rPr>
              <a:t>// tag(8B)+taxon(8B)+was_hit(1B, padded to 8B boundary) = 24 bytes, not 16</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 S2Insert: prefer evicting a way that's NEVER been hit.</a:t>
            </a:r>
          </a:p>
          <a:p>
            <a:pPr>
              <a:lnSpc>
                <a:spcPct val="118000"/>
              </a:lnSpc>
            </a:pPr>
            <a:r>
              <a:rPr sz="1150">
                <a:solidFill>
                  <a:srgbClr val="F3F4F1"/>
                </a:solidFill>
                <a:latin typeface="Consolas"/>
              </a:rPr>
              <a:t>// Only if all 4 ways have proven themselves -&gt; fall back to round-robin.</a:t>
            </a:r>
          </a:p>
        </p:txBody>
      </p:sp>
      <p:sp>
        <p:nvSpPr>
          <p:cNvPr id="8" name="TextBox 7"/>
          <p:cNvSpPr txBox="1"/>
          <p:nvPr/>
        </p:nvSpPr>
        <p:spPr>
          <a:xfrm>
            <a:off x="548640" y="4160520"/>
            <a:ext cx="11094415" cy="1463040"/>
          </a:xfrm>
          <a:prstGeom prst="rect">
            <a:avLst/>
          </a:prstGeom>
          <a:noFill/>
        </p:spPr>
        <p:txBody>
          <a:bodyPr wrap="square" lIns="0" rIns="0" tIns="0" bIns="0">
            <a:spAutoFit/>
          </a:bodyPr>
          <a:lstStyle/>
          <a:p>
            <a:pPr algn="l">
              <a:lnSpc>
                <a:spcPct val="135000"/>
              </a:lnSpc>
              <a:spcBef>
                <a:spcPts val="0"/>
              </a:spcBef>
              <a:spcAft>
                <a:spcPts val="0"/>
              </a:spcAft>
            </a:pPr>
            <a:r>
              <a:rPr sz="1550" b="1" i="0">
                <a:solidFill>
                  <a:srgbClr val="1A1F1D"/>
                </a:solidFill>
                <a:latin typeface="Calibri"/>
              </a:rPr>
              <a:t>Result: </a:t>
            </a:r>
            <a:r>
              <a:rPr sz="1550" b="0" i="0">
                <a:solidFill>
                  <a:srgbClr val="1A1F1D"/>
                </a:solidFill>
                <a:latin typeface="Calibri"/>
              </a:rPr>
              <a:t>round-robin 0.4035% vs. pinned 0.5050% - a +25.2% relative gain, same set/way count. Real evidence eviction policy is an independent lever.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S2</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Full sweep - the trend generalizes and shrinks</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021</a:t>
            </a:r>
          </a:p>
        </p:txBody>
      </p:sp>
      <p:graphicFrame>
        <p:nvGraphicFramePr>
          <p:cNvPr id="7" name="Table 6"/>
          <p:cNvGraphicFramePr>
            <a:graphicFrameLocks noGrp="1"/>
          </p:cNvGraphicFramePr>
          <p:nvPr/>
        </p:nvGraphicFramePr>
        <p:xfrm>
          <a:off x="548640" y="1691640"/>
          <a:ext cx="11094412" cy="1371600"/>
        </p:xfrm>
        <a:graphic>
          <a:graphicData uri="http://schemas.openxmlformats.org/drawingml/2006/table">
            <a:tbl>
              <a:tblPr firstRow="0" bandRow="0">
                <a:tableStyleId>{2D5ABB26-0587-4C30-8999-92F81FD0307C}</a:tableStyleId>
              </a:tblPr>
              <a:tblGrid>
                <a:gridCol w="2773603"/>
                <a:gridCol w="2773603"/>
                <a:gridCol w="2773603"/>
                <a:gridCol w="2773603"/>
              </a:tblGrid>
              <a:tr h="342900">
                <a:tc>
                  <a:txBody>
                    <a:bodyPr/>
                    <a:lstStyle/>
                    <a:p>
                      <a:r>
                        <a:rPr sz="1200" b="1">
                          <a:solidFill>
                            <a:srgbClr val="F3F4F1"/>
                          </a:solidFill>
                          <a:latin typeface="Consolas"/>
                        </a:rPr>
                        <a:t>Size</a:t>
                      </a:r>
                    </a:p>
                  </a:txBody>
                  <a:tcPr marL="73152" marR="73152" marT="18288" marB="18288" anchor="ctr">
                    <a:solidFill>
                      <a:srgbClr val="1A1F1D"/>
                    </a:solidFill>
                  </a:tcPr>
                </a:tc>
                <a:tc>
                  <a:txBody>
                    <a:bodyPr/>
                    <a:lstStyle/>
                    <a:p>
                      <a:r>
                        <a:rPr sz="1200" b="1">
                          <a:solidFill>
                            <a:srgbClr val="F3F4F1"/>
                          </a:solidFill>
                          <a:latin typeface="Consolas"/>
                        </a:rPr>
                        <a:t>RR hit rate</a:t>
                      </a:r>
                    </a:p>
                  </a:txBody>
                  <a:tcPr marL="73152" marR="73152" marT="18288" marB="18288" anchor="ctr">
                    <a:solidFill>
                      <a:srgbClr val="1A1F1D"/>
                    </a:solidFill>
                  </a:tcPr>
                </a:tc>
                <a:tc>
                  <a:txBody>
                    <a:bodyPr/>
                    <a:lstStyle/>
                    <a:p>
                      <a:r>
                        <a:rPr sz="1200" b="1">
                          <a:solidFill>
                            <a:srgbClr val="F3F4F1"/>
                          </a:solidFill>
                          <a:latin typeface="Consolas"/>
                        </a:rPr>
                        <a:t>Pinned hit rate</a:t>
                      </a:r>
                    </a:p>
                  </a:txBody>
                  <a:tcPr marL="73152" marR="73152" marT="18288" marB="18288" anchor="ctr">
                    <a:solidFill>
                      <a:srgbClr val="1A1F1D"/>
                    </a:solidFill>
                  </a:tcPr>
                </a:tc>
                <a:tc>
                  <a:txBody>
                    <a:bodyPr/>
                    <a:lstStyle/>
                    <a:p>
                      <a:r>
                        <a:rPr sz="1200" b="1">
                          <a:solidFill>
                            <a:srgbClr val="F3F4F1"/>
                          </a:solidFill>
                          <a:latin typeface="Consolas"/>
                        </a:rPr>
                        <a:t>Pinned's gain</a:t>
                      </a:r>
                    </a:p>
                  </a:txBody>
                  <a:tcPr marL="73152" marR="73152" marT="18288" marB="18288" anchor="ctr">
                    <a:solidFill>
                      <a:srgbClr val="1A1F1D"/>
                    </a:solidFill>
                  </a:tcPr>
                </a:tc>
              </a:tr>
              <a:tr h="342900">
                <a:tc>
                  <a:txBody>
                    <a:bodyPr/>
                    <a:lstStyle/>
                    <a:p>
                      <a:r>
                        <a:rPr sz="1300">
                          <a:solidFill>
                            <a:srgbClr val="1A1F1D"/>
                          </a:solidFill>
                          <a:latin typeface="Consolas"/>
                        </a:rPr>
                        <a:t>4,096</a:t>
                      </a:r>
                    </a:p>
                  </a:txBody>
                  <a:tcPr marL="73152" marR="73152" marT="18288" marB="18288" anchor="ctr">
                    <a:solidFill>
                      <a:srgbClr val="FFFFFF"/>
                    </a:solidFill>
                  </a:tcPr>
                </a:tc>
                <a:tc>
                  <a:txBody>
                    <a:bodyPr/>
                    <a:lstStyle/>
                    <a:p>
                      <a:r>
                        <a:rPr sz="1300">
                          <a:solidFill>
                            <a:srgbClr val="1A1F1D"/>
                          </a:solidFill>
                          <a:latin typeface="Consolas"/>
                        </a:rPr>
                        <a:t>0.4035%</a:t>
                      </a:r>
                    </a:p>
                  </a:txBody>
                  <a:tcPr marL="73152" marR="73152" marT="18288" marB="18288" anchor="ctr">
                    <a:solidFill>
                      <a:srgbClr val="FFFFFF"/>
                    </a:solidFill>
                  </a:tcPr>
                </a:tc>
                <a:tc>
                  <a:txBody>
                    <a:bodyPr/>
                    <a:lstStyle/>
                    <a:p>
                      <a:r>
                        <a:rPr sz="1300">
                          <a:solidFill>
                            <a:srgbClr val="1A1F1D"/>
                          </a:solidFill>
                          <a:latin typeface="Consolas"/>
                        </a:rPr>
                        <a:t>0.5050%</a:t>
                      </a:r>
                    </a:p>
                  </a:txBody>
                  <a:tcPr marL="73152" marR="73152" marT="18288" marB="18288" anchor="ctr">
                    <a:solidFill>
                      <a:srgbClr val="FFFFFF"/>
                    </a:solidFill>
                  </a:tcPr>
                </a:tc>
                <a:tc>
                  <a:txBody>
                    <a:bodyPr/>
                    <a:lstStyle/>
                    <a:p>
                      <a:r>
                        <a:rPr sz="1300">
                          <a:solidFill>
                            <a:srgbClr val="1A1F1D"/>
                          </a:solidFill>
                          <a:latin typeface="Consolas"/>
                        </a:rPr>
                        <a:t>+25.2%</a:t>
                      </a:r>
                    </a:p>
                  </a:txBody>
                  <a:tcPr marL="73152" marR="73152" marT="18288" marB="18288" anchor="ctr">
                    <a:solidFill>
                      <a:srgbClr val="FFFFFF"/>
                    </a:solidFill>
                  </a:tcPr>
                </a:tc>
              </a:tr>
              <a:tr h="342900">
                <a:tc>
                  <a:txBody>
                    <a:bodyPr/>
                    <a:lstStyle/>
                    <a:p>
                      <a:r>
                        <a:rPr sz="1300">
                          <a:solidFill>
                            <a:srgbClr val="1A1F1D"/>
                          </a:solidFill>
                          <a:latin typeface="Consolas"/>
                        </a:rPr>
                        <a:t>65,536</a:t>
                      </a:r>
                    </a:p>
                  </a:txBody>
                  <a:tcPr marL="73152" marR="73152" marT="18288" marB="18288" anchor="ctr">
                    <a:solidFill>
                      <a:srgbClr val="F3F4F1"/>
                    </a:solidFill>
                  </a:tcPr>
                </a:tc>
                <a:tc>
                  <a:txBody>
                    <a:bodyPr/>
                    <a:lstStyle/>
                    <a:p>
                      <a:r>
                        <a:rPr sz="1300">
                          <a:solidFill>
                            <a:srgbClr val="1A1F1D"/>
                          </a:solidFill>
                          <a:latin typeface="Consolas"/>
                        </a:rPr>
                        <a:t>0.7675%</a:t>
                      </a:r>
                    </a:p>
                  </a:txBody>
                  <a:tcPr marL="73152" marR="73152" marT="18288" marB="18288" anchor="ctr">
                    <a:solidFill>
                      <a:srgbClr val="F3F4F1"/>
                    </a:solidFill>
                  </a:tcPr>
                </a:tc>
                <a:tc>
                  <a:txBody>
                    <a:bodyPr/>
                    <a:lstStyle/>
                    <a:p>
                      <a:r>
                        <a:rPr sz="1300">
                          <a:solidFill>
                            <a:srgbClr val="1A1F1D"/>
                          </a:solidFill>
                          <a:latin typeface="Consolas"/>
                        </a:rPr>
                        <a:t>0.8346%</a:t>
                      </a:r>
                    </a:p>
                  </a:txBody>
                  <a:tcPr marL="73152" marR="73152" marT="18288" marB="18288" anchor="ctr">
                    <a:solidFill>
                      <a:srgbClr val="F3F4F1"/>
                    </a:solidFill>
                  </a:tcPr>
                </a:tc>
                <a:tc>
                  <a:txBody>
                    <a:bodyPr/>
                    <a:lstStyle/>
                    <a:p>
                      <a:r>
                        <a:rPr sz="1300">
                          <a:solidFill>
                            <a:srgbClr val="1A1F1D"/>
                          </a:solidFill>
                          <a:latin typeface="Consolas"/>
                        </a:rPr>
                        <a:t>+8.7%</a:t>
                      </a:r>
                    </a:p>
                  </a:txBody>
                  <a:tcPr marL="73152" marR="73152" marT="18288" marB="18288" anchor="ctr">
                    <a:solidFill>
                      <a:srgbClr val="F3F4F1"/>
                    </a:solidFill>
                  </a:tcPr>
                </a:tc>
              </a:tr>
              <a:tr h="342900">
                <a:tc>
                  <a:txBody>
                    <a:bodyPr/>
                    <a:lstStyle/>
                    <a:p>
                      <a:r>
                        <a:rPr sz="1300">
                          <a:solidFill>
                            <a:srgbClr val="1A1F1D"/>
                          </a:solidFill>
                          <a:latin typeface="Consolas"/>
                        </a:rPr>
                        <a:t>262,144</a:t>
                      </a:r>
                    </a:p>
                  </a:txBody>
                  <a:tcPr marL="73152" marR="73152" marT="18288" marB="18288" anchor="ctr">
                    <a:solidFill>
                      <a:srgbClr val="FFFFFF"/>
                    </a:solidFill>
                  </a:tcPr>
                </a:tc>
                <a:tc>
                  <a:txBody>
                    <a:bodyPr/>
                    <a:lstStyle/>
                    <a:p>
                      <a:r>
                        <a:rPr sz="1300">
                          <a:solidFill>
                            <a:srgbClr val="1A1F1D"/>
                          </a:solidFill>
                          <a:latin typeface="Consolas"/>
                        </a:rPr>
                        <a:t>1.4229%</a:t>
                      </a:r>
                    </a:p>
                  </a:txBody>
                  <a:tcPr marL="73152" marR="73152" marT="18288" marB="18288" anchor="ctr">
                    <a:solidFill>
                      <a:srgbClr val="FFFFFF"/>
                    </a:solidFill>
                  </a:tcPr>
                </a:tc>
                <a:tc>
                  <a:txBody>
                    <a:bodyPr/>
                    <a:lstStyle/>
                    <a:p>
                      <a:r>
                        <a:rPr sz="1300">
                          <a:solidFill>
                            <a:srgbClr val="1A1F1D"/>
                          </a:solidFill>
                          <a:latin typeface="Consolas"/>
                        </a:rPr>
                        <a:t>1.4843%</a:t>
                      </a:r>
                    </a:p>
                  </a:txBody>
                  <a:tcPr marL="73152" marR="73152" marT="18288" marB="18288" anchor="ctr">
                    <a:solidFill>
                      <a:srgbClr val="FFFFFF"/>
                    </a:solidFill>
                  </a:tcPr>
                </a:tc>
                <a:tc>
                  <a:txBody>
                    <a:bodyPr/>
                    <a:lstStyle/>
                    <a:p>
                      <a:r>
                        <a:rPr sz="1300">
                          <a:solidFill>
                            <a:srgbClr val="1A1F1D"/>
                          </a:solidFill>
                          <a:latin typeface="Consolas"/>
                        </a:rPr>
                        <a:t>+4.3%</a:t>
                      </a:r>
                    </a:p>
                  </a:txBody>
                  <a:tcPr marL="73152" marR="73152" marT="18288" marB="18288" anchor="ctr">
                    <a:solidFill>
                      <a:srgbClr val="FFFFFF"/>
                    </a:solidFill>
                  </a:tcPr>
                </a:tc>
              </a:tr>
            </a:tbl>
          </a:graphicData>
        </a:graphic>
      </p:graphicFrame>
      <p:sp>
        <p:nvSpPr>
          <p:cNvPr id="8" name="TextBox 7"/>
          <p:cNvSpPr txBox="1"/>
          <p:nvPr/>
        </p:nvSpPr>
        <p:spPr>
          <a:xfrm>
            <a:off x="548640" y="3429000"/>
            <a:ext cx="11094415" cy="1371600"/>
          </a:xfrm>
          <a:prstGeom prst="rect">
            <a:avLst/>
          </a:prstGeom>
          <a:noFill/>
        </p:spPr>
        <p:txBody>
          <a:bodyPr wrap="square" lIns="0" rIns="0" tIns="0" bIns="0">
            <a:spAutoFit/>
          </a:bodyPr>
          <a:lstStyle/>
          <a:p>
            <a:pPr algn="l">
              <a:lnSpc>
                <a:spcPct val="135000"/>
              </a:lnSpc>
              <a:spcBef>
                <a:spcPts val="0"/>
              </a:spcBef>
              <a:spcAft>
                <a:spcPts val="0"/>
              </a:spcAft>
            </a:pPr>
            <a:r>
              <a:rPr sz="1500" b="0" i="0">
                <a:solidFill>
                  <a:srgbClr val="57615C"/>
                </a:solidFill>
                <a:latin typeface="Calibri"/>
              </a:rPr>
              <a:t>Also found in this sweep: 262,144 sets segfaults at 16+ threads (clean at T=1) - a genuine crash, distinct from an earlier slowdown at &gt;=1,048,576 sets. Becomes S3.0's problem to fix.</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S2</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Likely questions</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022</a:t>
            </a:r>
          </a:p>
        </p:txBody>
      </p:sp>
      <p:sp>
        <p:nvSpPr>
          <p:cNvPr id="7" name="TextBox 6"/>
          <p:cNvSpPr txBox="1"/>
          <p:nvPr/>
        </p:nvSpPr>
        <p:spPr>
          <a:xfrm>
            <a:off x="548640" y="1737360"/>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0E7C68"/>
                </a:solidFill>
                <a:latin typeface="Consolas"/>
              </a:rPr>
              <a:t>Q  </a:t>
            </a:r>
            <a:r>
              <a:rPr sz="1350" b="1" i="1">
                <a:solidFill>
                  <a:srgbClr val="1A1F1D"/>
                </a:solidFill>
                <a:latin typeface="Calibri"/>
              </a:rPr>
              <a:t>Is the nesting bug still in the code right now?</a:t>
            </a:r>
          </a:p>
        </p:txBody>
      </p:sp>
      <p:sp>
        <p:nvSpPr>
          <p:cNvPr id="8" name="TextBox 7"/>
          <p:cNvSpPr txBox="1"/>
          <p:nvPr/>
        </p:nvSpPr>
        <p:spPr>
          <a:xfrm>
            <a:off x="548640" y="2084832"/>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450" b="0" i="0">
                <a:solidFill>
                  <a:srgbClr val="57615C"/>
                </a:solidFill>
                <a:latin typeface="Calibri"/>
              </a:rPr>
              <a:t>Tested and shown not to matter, but never merged out - safe/S2.4 and everything S3/S4/S5 build on still has it nested. A cleanup item before publication, not a live bug.</a:t>
            </a:r>
          </a:p>
        </p:txBody>
      </p:sp>
      <p:sp>
        <p:nvSpPr>
          <p:cNvPr id="9" name="TextBox 8"/>
          <p:cNvSpPr txBox="1"/>
          <p:nvPr/>
        </p:nvSpPr>
        <p:spPr>
          <a:xfrm>
            <a:off x="548640" y="3072384"/>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0E7C68"/>
                </a:solidFill>
                <a:latin typeface="Consolas"/>
              </a:rPr>
              <a:t>Q  </a:t>
            </a:r>
            <a:r>
              <a:rPr sz="1350" b="1" i="1">
                <a:solidFill>
                  <a:srgbClr val="1A1F1D"/>
                </a:solidFill>
                <a:latin typeface="Calibri"/>
              </a:rPr>
              <a:t>If hit rate is under 1%, why does any of this matter?</a:t>
            </a:r>
          </a:p>
        </p:txBody>
      </p:sp>
      <p:sp>
        <p:nvSpPr>
          <p:cNvPr id="10" name="TextBox 9"/>
          <p:cNvSpPr txBox="1"/>
          <p:nvPr/>
        </p:nvSpPr>
        <p:spPr>
          <a:xfrm>
            <a:off x="548640" y="3419856"/>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450" b="0" i="0">
                <a:solidFill>
                  <a:srgbClr val="57615C"/>
                </a:solidFill>
                <a:latin typeface="Calibri"/>
              </a:rPr>
              <a:t>The low hit rate is itself a diagnosed finding, not a dead end - it's exactly what motivated checking whether the hashing was correct, which S4.0 checks next and finds broken.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S3</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Fixing the crash, sizing the cache to real hardware</a:t>
            </a:r>
          </a:p>
        </p:txBody>
      </p:sp>
      <p:sp>
        <p:nvSpPr>
          <p:cNvPr id="5" name="Rounded Rectangle 4"/>
          <p:cNvSpPr/>
          <p:nvPr/>
        </p:nvSpPr>
        <p:spPr>
          <a:xfrm>
            <a:off x="10362895" y="987552"/>
            <a:ext cx="1221638" cy="292608"/>
          </a:xfrm>
          <a:prstGeom prst="roundRect">
            <a:avLst>
              <a:gd name="adj" fmla="val 50000"/>
            </a:avLst>
          </a:prstGeom>
          <a:solidFill>
            <a:srgbClr val="EBF2ED"/>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3F7D4F"/>
                </a:solidFill>
                <a:latin typeface="Consolas"/>
              </a:rPr>
              <a:t>2 BUGS FIXED</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7" name="TextBox 6"/>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023</a:t>
            </a:r>
          </a:p>
        </p:txBody>
      </p:sp>
      <p:sp>
        <p:nvSpPr>
          <p:cNvPr id="8" name="TextBox 7"/>
          <p:cNvSpPr txBox="1"/>
          <p:nvPr/>
        </p:nvSpPr>
        <p:spPr>
          <a:xfrm>
            <a:off x="548640" y="173736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600" b="0" i="0">
                <a:solidFill>
                  <a:srgbClr val="1A1F1D"/>
                </a:solidFill>
                <a:latin typeface="Calibri"/>
              </a:rPr>
              <a:t>Two problems needed solving before the cache could safely grow past 4,096 sets: a real crash at 262,144+ sets under multi-threading, and the cache needed to size itself to whatever machine it's running on, per sir's ask. A second design debate (5 agents, 3 rounds) checked our assumptions first.</a:t>
            </a:r>
          </a:p>
        </p:txBody>
      </p:sp>
      <p:graphicFrame>
        <p:nvGraphicFramePr>
          <p:cNvPr id="9" name="Table 8"/>
          <p:cNvGraphicFramePr>
            <a:graphicFrameLocks noGrp="1"/>
          </p:cNvGraphicFramePr>
          <p:nvPr/>
        </p:nvGraphicFramePr>
        <p:xfrm>
          <a:off x="548640" y="3108960"/>
          <a:ext cx="11094414" cy="1828800"/>
        </p:xfrm>
        <a:graphic>
          <a:graphicData uri="http://schemas.openxmlformats.org/drawingml/2006/table">
            <a:tbl>
              <a:tblPr firstRow="0" bandRow="0">
                <a:tableStyleId>{2D5ABB26-0587-4C30-8999-92F81FD0307C}</a:tableStyleId>
              </a:tblPr>
              <a:tblGrid>
                <a:gridCol w="3328324"/>
                <a:gridCol w="7766090"/>
              </a:tblGrid>
              <a:tr h="457200">
                <a:tc>
                  <a:txBody>
                    <a:bodyPr/>
                    <a:lstStyle/>
                    <a:p>
                      <a:r>
                        <a:rPr sz="1200" b="1">
                          <a:solidFill>
                            <a:srgbClr val="F3F4F1"/>
                          </a:solidFill>
                          <a:latin typeface="Consolas"/>
                        </a:rPr>
                        <a:t>Assumption checked</a:t>
                      </a:r>
                    </a:p>
                  </a:txBody>
                  <a:tcPr marL="73152" marR="73152" marT="18288" marB="18288" anchor="ctr">
                    <a:solidFill>
                      <a:srgbClr val="1A1F1D"/>
                    </a:solidFill>
                  </a:tcPr>
                </a:tc>
                <a:tc>
                  <a:txBody>
                    <a:bodyPr/>
                    <a:lstStyle/>
                    <a:p>
                      <a:r>
                        <a:rPr sz="1200" b="1">
                          <a:solidFill>
                            <a:srgbClr val="F3F4F1"/>
                          </a:solidFill>
                          <a:latin typeface="Consolas"/>
                        </a:rPr>
                        <a:t>Finding</a:t>
                      </a:r>
                    </a:p>
                  </a:txBody>
                  <a:tcPr marL="73152" marR="73152" marT="18288" marB="18288" anchor="ctr">
                    <a:solidFill>
                      <a:srgbClr val="1A1F1D"/>
                    </a:solidFill>
                  </a:tcPr>
                </a:tc>
              </a:tr>
              <a:tr h="457200">
                <a:tc>
                  <a:txBody>
                    <a:bodyPr/>
                    <a:lstStyle/>
                    <a:p>
                      <a:r>
                        <a:rPr sz="1300">
                          <a:solidFill>
                            <a:srgbClr val="1A1F1D"/>
                          </a:solidFill>
                          <a:latin typeface="Consolas"/>
                        </a:rPr>
                        <a:t>S2Entry size</a:t>
                      </a:r>
                    </a:p>
                  </a:txBody>
                  <a:tcPr marL="73152" marR="73152" marT="18288" marB="18288" anchor="ctr">
                    <a:solidFill>
                      <a:srgbClr val="FFFFFF"/>
                    </a:solidFill>
                  </a:tcPr>
                </a:tc>
                <a:tc>
                  <a:txBody>
                    <a:bodyPr/>
                    <a:lstStyle/>
                    <a:p>
                      <a:r>
                        <a:rPr sz="1300">
                          <a:solidFill>
                            <a:srgbClr val="1A1F1D"/>
                          </a:solidFill>
                          <a:latin typeface="Consolas"/>
                        </a:rPr>
                        <a:t>Exactly 16 bytes, zero padding - confirmed directly from the struct</a:t>
                      </a:r>
                    </a:p>
                  </a:txBody>
                  <a:tcPr marL="73152" marR="73152" marT="18288" marB="18288" anchor="ctr">
                    <a:solidFill>
                      <a:srgbClr val="FFFFFF"/>
                    </a:solidFill>
                  </a:tcPr>
                </a:tc>
              </a:tr>
              <a:tr h="457200">
                <a:tc>
                  <a:txBody>
                    <a:bodyPr/>
                    <a:lstStyle/>
                    <a:p>
                      <a:r>
                        <a:rPr sz="1300">
                          <a:solidFill>
                            <a:srgbClr val="1A1F1D"/>
                          </a:solidFill>
                          <a:latin typeface="Consolas"/>
                        </a:rPr>
                        <a:t>Luna's per-socket LLC</a:t>
                      </a:r>
                    </a:p>
                  </a:txBody>
                  <a:tcPr marL="73152" marR="73152" marT="18288" marB="18288" anchor="ctr">
                    <a:solidFill>
                      <a:srgbClr val="F3F4F1"/>
                    </a:solidFill>
                  </a:tcPr>
                </a:tc>
                <a:tc>
                  <a:txBody>
                    <a:bodyPr/>
                    <a:lstStyle/>
                    <a:p>
                      <a:r>
                        <a:rPr sz="1300">
                          <a:solidFill>
                            <a:srgbClr val="1A1F1D"/>
                          </a:solidFill>
                          <a:latin typeface="Consolas"/>
                        </a:rPr>
                        <a:t>~105MB, not 210MB - that's the two-socket sum</a:t>
                      </a:r>
                    </a:p>
                  </a:txBody>
                  <a:tcPr marL="73152" marR="73152" marT="18288" marB="18288" anchor="ctr">
                    <a:solidFill>
                      <a:srgbClr val="F3F4F1"/>
                    </a:solidFill>
                  </a:tcPr>
                </a:tc>
              </a:tr>
              <a:tr h="457200">
                <a:tc>
                  <a:txBody>
                    <a:bodyPr/>
                    <a:lstStyle/>
                    <a:p>
                      <a:r>
                        <a:rPr sz="1300">
                          <a:solidFill>
                            <a:srgbClr val="1A1F1D"/>
                          </a:solidFill>
                          <a:latin typeface="Consolas"/>
                        </a:rPr>
                        <a:t>Comparator eviction policies</a:t>
                      </a:r>
                    </a:p>
                  </a:txBody>
                  <a:tcPr marL="73152" marR="73152" marT="18288" marB="18288" anchor="ctr">
                    <a:solidFill>
                      <a:srgbClr val="FFFFFF"/>
                    </a:solidFill>
                  </a:tcPr>
                </a:tc>
                <a:tc>
                  <a:txBody>
                    <a:bodyPr/>
                    <a:lstStyle/>
                    <a:p>
                      <a:r>
                        <a:rPr sz="1300">
                          <a:solidFill>
                            <a:srgbClr val="1A1F1D"/>
                          </a:solidFill>
                          <a:latin typeface="Consolas"/>
                        </a:rPr>
                        <a:t>None of 4 closest tools implement any - real citable gap</a:t>
                      </a:r>
                    </a:p>
                  </a:txBody>
                  <a:tcPr marL="73152" marR="73152" marT="18288" marB="18288" anchor="ctr">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S3</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Confirming the crash mechanism directly, before writing a fix</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024</a:t>
            </a:r>
          </a:p>
        </p:txBody>
      </p:sp>
      <p:sp>
        <p:nvSpPr>
          <p:cNvPr id="7" name="Rounded Rectangle 6"/>
          <p:cNvSpPr/>
          <p:nvPr/>
        </p:nvSpPr>
        <p:spPr>
          <a:xfrm>
            <a:off x="548640" y="1691640"/>
            <a:ext cx="11094415" cy="137160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ulimit -s   # -&gt; 8192 (8MB default stack per thread)</a:t>
            </a:r>
          </a:p>
          <a:p>
            <a:pPr>
              <a:lnSpc>
                <a:spcPct val="118000"/>
              </a:lnSpc>
            </a:pPr>
            <a:r>
              <a:rPr sz="1150">
                <a:solidFill>
                  <a:srgbClr val="F3F4F1"/>
                </a:solidFill>
                <a:latin typeface="Consolas"/>
              </a:rPr>
              <a:t>ulimit -a   # -&gt; every other limit is "unlimited" - rules out a cgroup cap</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lscpu -e                          # confirms NUMA-node == socket (no SNC)</a:t>
            </a:r>
          </a:p>
          <a:p>
            <a:pPr>
              <a:lnSpc>
                <a:spcPct val="118000"/>
              </a:lnSpc>
            </a:pPr>
            <a:r>
              <a:rPr sz="1150">
                <a:solidFill>
                  <a:srgbClr val="F3F4F1"/>
                </a:solidFill>
                <a:latin typeface="Consolas"/>
              </a:rPr>
              <a:t>lscpu | grep -iE "l3|numa|socket"  # L3: 210 MiB (2 instances) = 105 MiB/socket</a:t>
            </a:r>
          </a:p>
        </p:txBody>
      </p:sp>
      <p:sp>
        <p:nvSpPr>
          <p:cNvPr id="8" name="TextBox 7"/>
          <p:cNvSpPr txBox="1"/>
          <p:nvPr/>
        </p:nvSpPr>
        <p:spPr>
          <a:xfrm>
            <a:off x="548640" y="3383280"/>
            <a:ext cx="11094415" cy="1463040"/>
          </a:xfrm>
          <a:prstGeom prst="rect">
            <a:avLst/>
          </a:prstGeom>
          <a:noFill/>
        </p:spPr>
        <p:txBody>
          <a:bodyPr wrap="square" lIns="0" rIns="0" tIns="0" bIns="0">
            <a:spAutoFit/>
          </a:bodyPr>
          <a:lstStyle/>
          <a:p>
            <a:pPr algn="l">
              <a:lnSpc>
                <a:spcPct val="135000"/>
              </a:lnSpc>
              <a:spcBef>
                <a:spcPts val="0"/>
              </a:spcBef>
              <a:spcAft>
                <a:spcPts val="0"/>
              </a:spcAft>
            </a:pPr>
            <a:r>
              <a:rPr sz="1600" b="0" i="0">
                <a:solidFill>
                  <a:srgbClr val="1A1F1D"/>
                </a:solidFill>
                <a:latin typeface="Calibri"/>
              </a:rPr>
              <a:t>The crashing array at 262,144 sets is 16MB per thread - literally twice a thread's entire default stack budget, before any other arithmetic.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S3.0</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The crash fix: heap pointer instead of a static array</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025</a:t>
            </a:r>
          </a:p>
        </p:txBody>
      </p:sp>
      <p:sp>
        <p:nvSpPr>
          <p:cNvPr id="7" name="Rounded Rectangle 6"/>
          <p:cNvSpPr/>
          <p:nvPr/>
        </p:nvSpPr>
        <p:spPr>
          <a:xfrm>
            <a:off x="548640" y="1645920"/>
            <a:ext cx="11094415" cy="237744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 BEFORE: array lives directly in glibc's fixed static TLS block</a:t>
            </a:r>
          </a:p>
          <a:p>
            <a:pPr>
              <a:lnSpc>
                <a:spcPct val="118000"/>
              </a:lnSpc>
            </a:pPr>
            <a:r>
              <a:rPr sz="1150">
                <a:solidFill>
                  <a:srgbClr val="F3F4F1"/>
                </a:solidFill>
                <a:latin typeface="Consolas"/>
              </a:rPr>
              <a:t>static thread_local S2Entry s2_cache[S2_NUM_SETS][S2_WAYS];</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 AFTER: only an 8-byte pointer lives there; data is heap-allocated,</a:t>
            </a:r>
          </a:p>
          <a:p>
            <a:pPr>
              <a:lnSpc>
                <a:spcPct val="118000"/>
              </a:lnSpc>
            </a:pPr>
            <a:r>
              <a:rPr sz="1150">
                <a:solidFill>
                  <a:srgbClr val="F3F4F1"/>
                </a:solidFill>
                <a:latin typeface="Consolas"/>
              </a:rPr>
              <a:t>// lazily, the first time each thread touches the cache</a:t>
            </a:r>
          </a:p>
          <a:p>
            <a:pPr>
              <a:lnSpc>
                <a:spcPct val="118000"/>
              </a:lnSpc>
            </a:pPr>
            <a:r>
              <a:rPr sz="1150">
                <a:solidFill>
                  <a:srgbClr val="F3F4F1"/>
                </a:solidFill>
                <a:latin typeface="Consolas"/>
              </a:rPr>
              <a:t>static thread_local std::unique_ptr&lt;S2Entry[]&gt; s2_cache;</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static inline void S2EnsureInit() {</a:t>
            </a:r>
          </a:p>
          <a:p>
            <a:pPr>
              <a:lnSpc>
                <a:spcPct val="118000"/>
              </a:lnSpc>
            </a:pPr>
            <a:r>
              <a:rPr sz="1150">
                <a:solidFill>
                  <a:srgbClr val="F3F4F1"/>
                </a:solidFill>
                <a:latin typeface="Consolas"/>
              </a:rPr>
              <a:t>  if (! s2_cache) s2_cache.reset(new S2Entry[S2_NUM_SETS * S2_WAYS]);</a:t>
            </a:r>
          </a:p>
          <a:p>
            <a:pPr>
              <a:lnSpc>
                <a:spcPct val="118000"/>
              </a:lnSpc>
            </a:pPr>
            <a:r>
              <a:rPr sz="1150">
                <a:solidFill>
                  <a:srgbClr val="F3F4F1"/>
                </a:solidFill>
                <a:latin typeface="Consolas"/>
              </a:rPr>
              <a:t>}</a:t>
            </a:r>
          </a:p>
          <a:p>
            <a:pPr>
              <a:lnSpc>
                <a:spcPct val="118000"/>
              </a:lnSpc>
            </a:pPr>
            <a:r>
              <a:rPr sz="1150">
                <a:solidFill>
                  <a:srgbClr val="F3F4F1"/>
                </a:solidFill>
                <a:latin typeface="Consolas"/>
              </a:rPr>
              <a:t>// Array is now flat 1D - every access site needs manual index math:</a:t>
            </a:r>
          </a:p>
          <a:p>
            <a:pPr>
              <a:lnSpc>
                <a:spcPct val="118000"/>
              </a:lnSpc>
            </a:pPr>
            <a:r>
              <a:rPr sz="1150">
                <a:solidFill>
                  <a:srgbClr val="F3F4F1"/>
                </a:solidFill>
                <a:latin typeface="Consolas"/>
              </a:rPr>
              <a:t>// s2_cache[set][way]  -&gt;  s2_cache[set * S2_WAYS + way]</a:t>
            </a:r>
          </a:p>
        </p:txBody>
      </p:sp>
      <p:sp>
        <p:nvSpPr>
          <p:cNvPr id="8" name="TextBox 7"/>
          <p:cNvSpPr txBox="1"/>
          <p:nvPr/>
        </p:nvSpPr>
        <p:spPr>
          <a:xfrm>
            <a:off x="548640" y="4160520"/>
            <a:ext cx="11094415" cy="1280160"/>
          </a:xfrm>
          <a:prstGeom prst="rect">
            <a:avLst/>
          </a:prstGeom>
          <a:noFill/>
        </p:spPr>
        <p:txBody>
          <a:bodyPr wrap="square" lIns="0" rIns="0" tIns="0" bIns="0">
            <a:spAutoFit/>
          </a:bodyPr>
          <a:lstStyle/>
          <a:p>
            <a:pPr algn="l">
              <a:lnSpc>
                <a:spcPct val="115000"/>
              </a:lnSpc>
              <a:spcBef>
                <a:spcPts val="0"/>
              </a:spcBef>
              <a:spcAft>
                <a:spcPts val="0"/>
              </a:spcAft>
            </a:pPr>
            <a:r>
              <a:rPr sz="1550" b="1" i="0">
                <a:solidFill>
                  <a:srgbClr val="1A1F1D"/>
                </a:solidFill>
                <a:latin typeface="Calibri"/>
              </a:rPr>
              <a:t>Result: </a:t>
            </a:r>
            <a:r>
              <a:rPr sz="1550" b="0" i="0">
                <a:solidFill>
                  <a:srgbClr val="1A1F1D"/>
                </a:solidFill>
                <a:latin typeface="Calibri"/>
              </a:rPr>
              <a:t>crash-free at 16T/32T/96T, byte-identical output vs. S0. Tagged safe/S3.0.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S3.1/S3.2</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The real, hardware-aware sizing formula</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026</a:t>
            </a:r>
          </a:p>
        </p:txBody>
      </p:sp>
      <p:sp>
        <p:nvSpPr>
          <p:cNvPr id="7" name="Rounded Rectangle 6"/>
          <p:cNvSpPr/>
          <p:nvPr/>
        </p:nvSpPr>
        <p:spPr>
          <a:xfrm>
            <a:off x="548640" y="1645920"/>
            <a:ext cx="11094415" cy="265176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static const uint64_t S3_LLC_PER_SOCKET_BYTES = 105ULL*1024*1024; // lscpu</a:t>
            </a:r>
          </a:p>
          <a:p>
            <a:pPr>
              <a:lnSpc>
                <a:spcPct val="118000"/>
              </a:lnSpc>
            </a:pPr>
            <a:r>
              <a:rPr sz="1150">
                <a:solidFill>
                  <a:srgbClr val="F3F4F1"/>
                </a:solidFill>
                <a:latin typeface="Consolas"/>
              </a:rPr>
              <a:t>static const double S3_LLC_FRACTION = 0.25;   // placeholder, not tuned</a:t>
            </a:r>
          </a:p>
          <a:p>
            <a:pPr>
              <a:lnSpc>
                <a:spcPct val="118000"/>
              </a:lnSpc>
            </a:pPr>
            <a:r>
              <a:rPr sz="1150">
                <a:solidFill>
                  <a:srgbClr val="F3F4F1"/>
                </a:solidFill>
                <a:latin typeface="Consolas"/>
              </a:rPr>
              <a:t>static const size_t S3_MAX_SETS = 262144;      // S3.0's confirmed ceiling</a:t>
            </a:r>
          </a:p>
          <a:p>
            <a:pPr>
              <a:lnSpc>
                <a:spcPct val="118000"/>
              </a:lnSpc>
            </a:pPr>
            <a:r>
              <a:rPr sz="1150">
                <a:solidFill>
                  <a:srgbClr val="F3F4F1"/>
                </a:solidFill>
                <a:latin typeface="Consolas"/>
              </a:rPr>
              <a:t>static const size_t S3_MIN_SETS = 4096;</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static inline size_t S3ComputeNumSets() {</a:t>
            </a:r>
          </a:p>
          <a:p>
            <a:pPr>
              <a:lnSpc>
                <a:spcPct val="118000"/>
              </a:lnSpc>
            </a:pPr>
            <a:r>
              <a:rPr sz="1150">
                <a:solidFill>
                  <a:srgbClr val="F3F4F1"/>
                </a:solidFill>
                <a:latin typeface="Consolas"/>
              </a:rPr>
              <a:t>  int t = omp_get_num_threads();</a:t>
            </a:r>
          </a:p>
          <a:p>
            <a:pPr>
              <a:lnSpc>
                <a:spcPct val="118000"/>
              </a:lnSpc>
            </a:pPr>
            <a:r>
              <a:rPr sz="1150">
                <a:solidFill>
                  <a:srgbClr val="F3F4F1"/>
                </a:solidFill>
                <a:latin typeface="Consolas"/>
              </a:rPr>
              <a:t>  uint64_t raw = (uint64_t)(S3_LLC_FRACTION * S3_LLC_PER_SOCKET_BYTES</a:t>
            </a:r>
          </a:p>
          <a:p>
            <a:pPr>
              <a:lnSpc>
                <a:spcPct val="118000"/>
              </a:lnSpc>
            </a:pPr>
            <a:r>
              <a:rPr sz="1150">
                <a:solidFill>
                  <a:srgbClr val="F3F4F1"/>
                </a:solidFill>
                <a:latin typeface="Consolas"/>
              </a:rPr>
              <a:t>                            / (S2_WAYS * sizeof(S2Entry) * (uint64_t)t));</a:t>
            </a:r>
          </a:p>
          <a:p>
            <a:pPr>
              <a:lnSpc>
                <a:spcPct val="118000"/>
              </a:lnSpc>
            </a:pPr>
            <a:r>
              <a:rPr sz="1150">
                <a:solidFill>
                  <a:srgbClr val="F3F4F1"/>
                </a:solidFill>
                <a:latin typeface="Consolas"/>
              </a:rPr>
              <a:t>  size_t sets = S3_MIN_SETS;</a:t>
            </a:r>
          </a:p>
          <a:p>
            <a:pPr>
              <a:lnSpc>
                <a:spcPct val="118000"/>
              </a:lnSpc>
            </a:pPr>
            <a:r>
              <a:rPr sz="1150">
                <a:solidFill>
                  <a:srgbClr val="F3F4F1"/>
                </a:solidFill>
                <a:latin typeface="Consolas"/>
              </a:rPr>
              <a:t>  while (sets*2 &lt;= raw &amp;&amp; sets*2 &lt;= S3_MAX_SETS) sets *= 2;</a:t>
            </a:r>
          </a:p>
          <a:p>
            <a:pPr>
              <a:lnSpc>
                <a:spcPct val="118000"/>
              </a:lnSpc>
            </a:pPr>
            <a:r>
              <a:rPr sz="1150">
                <a:solidFill>
                  <a:srgbClr val="F3F4F1"/>
                </a:solidFill>
                <a:latin typeface="Consolas"/>
              </a:rPr>
              <a:t>  return sets;   // power-of-2 round-down; clamp comes for free</a:t>
            </a:r>
          </a:p>
          <a:p>
            <a:pPr>
              <a:lnSpc>
                <a:spcPct val="118000"/>
              </a:lnSpc>
            </a:pPr>
            <a:r>
              <a:rPr sz="1150">
                <a:solidFill>
                  <a:srgbClr val="F3F4F1"/>
                </a:solidFill>
                <a:latin typeface="Consolas"/>
              </a:rPr>
              <a:t>}</a:t>
            </a:r>
          </a:p>
        </p:txBody>
      </p:sp>
      <p:sp>
        <p:nvSpPr>
          <p:cNvPr id="8" name="TextBox 7"/>
          <p:cNvSpPr txBox="1"/>
          <p:nvPr/>
        </p:nvSpPr>
        <p:spPr>
          <a:xfrm>
            <a:off x="548640" y="4480560"/>
            <a:ext cx="11094415" cy="1097280"/>
          </a:xfrm>
          <a:prstGeom prst="rect">
            <a:avLst/>
          </a:prstGeom>
          <a:noFill/>
        </p:spPr>
        <p:txBody>
          <a:bodyPr wrap="square" lIns="0" rIns="0" tIns="0" bIns="0">
            <a:spAutoFit/>
          </a:bodyPr>
          <a:lstStyle/>
          <a:p>
            <a:pPr algn="l">
              <a:lnSpc>
                <a:spcPct val="115000"/>
              </a:lnSpc>
              <a:spcBef>
                <a:spcPts val="0"/>
              </a:spcBef>
              <a:spcAft>
                <a:spcPts val="0"/>
              </a:spcAft>
            </a:pPr>
            <a:r>
              <a:rPr sz="1500" b="1" i="0">
                <a:solidFill>
                  <a:srgbClr val="57615C"/>
                </a:solidFill>
                <a:latin typeface="Calibri"/>
              </a:rPr>
              <a:t>Result: </a:t>
            </a:r>
            <a:r>
              <a:rPr sz="1500" b="0" i="0">
                <a:solidFill>
                  <a:srgbClr val="57615C"/>
                </a:solidFill>
                <a:latin typeface="Calibri"/>
              </a:rPr>
              <a:t>T=1 -&gt; 262,144 sets; T=96 -&gt; 4,096 sets. f=0.25 is explicitly a placeholder in the code's own comment - not yet empirically tuned.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S3.3</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The separate slowdown fix - zero sentinels + calloc</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027</a:t>
            </a:r>
          </a:p>
        </p:txBody>
      </p:sp>
      <p:sp>
        <p:nvSpPr>
          <p:cNvPr id="7" name="TextBox 6"/>
          <p:cNvSpPr txBox="1"/>
          <p:nvPr/>
        </p:nvSpPr>
        <p:spPr>
          <a:xfrm>
            <a:off x="548640" y="169164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550" b="0" i="0">
                <a:solidFill>
                  <a:srgbClr val="1A1F1D"/>
                </a:solidFill>
                <a:latin typeface="Calibri"/>
              </a:rPr>
              <a:t>S3.0 solved the crash. A related but distinct slowdown remained at &gt;=1,048,576 sets: S2Entry's old non-zero sentinels forced a real constructor loop on every entry, defeating the OS's lazy zero-page optimization.</a:t>
            </a:r>
          </a:p>
        </p:txBody>
      </p:sp>
      <p:sp>
        <p:nvSpPr>
          <p:cNvPr id="8" name="Rounded Rectangle 7"/>
          <p:cNvSpPr/>
          <p:nvPr/>
        </p:nvSpPr>
        <p:spPr>
          <a:xfrm>
            <a:off x="548640" y="2743200"/>
            <a:ext cx="11094415" cy="237744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static const uint64_t S2_EMPTY_TAG = 0;   // was UINT64_MAX</a:t>
            </a:r>
          </a:p>
          <a:p>
            <a:pPr>
              <a:lnSpc>
                <a:spcPct val="118000"/>
              </a:lnSpc>
            </a:pPr>
            <a:r>
              <a:rPr sz="1150">
                <a:solidFill>
                  <a:srgbClr val="F3F4F1"/>
                </a:solidFill>
                <a:latin typeface="Consolas"/>
              </a:rPr>
              <a:t>struct S2Entry { uint64_t tag; taxid_t taxon; };  // no default initializers</a:t>
            </a:r>
          </a:p>
          <a:p>
            <a:pPr>
              <a:lnSpc>
                <a:spcPct val="118000"/>
              </a:lnSpc>
            </a:pPr>
            <a:r>
              <a:rPr sz="1150">
                <a:solidFill>
                  <a:srgbClr val="F3F4F1"/>
                </a:solidFill>
                <a:latin typeface="Consolas"/>
              </a:rPr>
              <a:t>                                                   // -&gt; trivially constructible</a:t>
            </a:r>
          </a:p>
          <a:p>
            <a:pPr>
              <a:lnSpc>
                <a:spcPct val="118000"/>
              </a:lnSpc>
            </a:pPr>
            <a:r>
              <a:rPr sz="1150">
                <a:solidFill>
                  <a:srgbClr val="F3F4F1"/>
                </a:solidFill>
                <a:latin typeface="Consolas"/>
              </a:rPr>
              <a:t>struct S2FreeDeleter { void operator()(void *p) const { free(p); } };</a:t>
            </a:r>
          </a:p>
          <a:p>
            <a:pPr>
              <a:lnSpc>
                <a:spcPct val="118000"/>
              </a:lnSpc>
            </a:pPr>
            <a:r>
              <a:rPr sz="1150">
                <a:solidFill>
                  <a:srgbClr val="F3F4F1"/>
                </a:solidFill>
                <a:latin typeface="Consolas"/>
              </a:rPr>
              <a:t>static thread_local std::unique_ptr&lt;S2Entry[], S2FreeDeleter&gt; s2_cache;</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 S2EnsureInit switches new[] -&gt; calloc:</a:t>
            </a:r>
          </a:p>
          <a:p>
            <a:pPr>
              <a:lnSpc>
                <a:spcPct val="118000"/>
              </a:lnSpc>
            </a:pPr>
            <a:r>
              <a:rPr sz="1150">
                <a:solidFill>
                  <a:srgbClr val="F3F4F1"/>
                </a:solidFill>
                <a:latin typeface="Consolas"/>
              </a:rPr>
              <a:t>S2Entry *m = (S2Entry*)calloc(s2_num_sets * S2_WAYS, sizeof(S2Entry));</a:t>
            </a:r>
          </a:p>
          <a:p>
            <a:pPr>
              <a:lnSpc>
                <a:spcPct val="118000"/>
              </a:lnSpc>
            </a:pPr>
            <a:r>
              <a:rPr sz="1150">
                <a:solidFill>
                  <a:srgbClr val="F3F4F1"/>
                </a:solidFill>
                <a:latin typeface="Consolas"/>
              </a:rPr>
              <a:t>if (! m) errx(EX_OSERR, "unable to allocate S2 cache memory");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S3.3</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Measured effect - and a correction to our own framing</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028</a:t>
            </a:r>
          </a:p>
        </p:txBody>
      </p:sp>
      <p:graphicFrame>
        <p:nvGraphicFramePr>
          <p:cNvPr id="7" name="Table 6"/>
          <p:cNvGraphicFramePr>
            <a:graphicFrameLocks noGrp="1"/>
          </p:cNvGraphicFramePr>
          <p:nvPr/>
        </p:nvGraphicFramePr>
        <p:xfrm>
          <a:off x="548640" y="1600200"/>
          <a:ext cx="11094414" cy="1005840"/>
        </p:xfrm>
        <a:graphic>
          <a:graphicData uri="http://schemas.openxmlformats.org/drawingml/2006/table">
            <a:tbl>
              <a:tblPr firstRow="0" bandRow="0">
                <a:tableStyleId>{2D5ABB26-0587-4C30-8999-92F81FD0307C}</a:tableStyleId>
              </a:tblPr>
              <a:tblGrid>
                <a:gridCol w="4659654"/>
                <a:gridCol w="2218883"/>
                <a:gridCol w="2218883"/>
                <a:gridCol w="1996994"/>
              </a:tblGrid>
              <a:tr h="335280">
                <a:tc>
                  <a:txBody>
                    <a:bodyPr/>
                    <a:lstStyle/>
                    <a:p>
                      <a:r>
                        <a:rPr sz="1200" b="1">
                          <a:solidFill>
                            <a:srgbClr val="F3F4F1"/>
                          </a:solidFill>
                          <a:latin typeface="Consolas"/>
                        </a:rPr>
                        <a:t> </a:t>
                      </a:r>
                    </a:p>
                  </a:txBody>
                  <a:tcPr marL="73152" marR="73152" marT="18288" marB="18288" anchor="ctr">
                    <a:solidFill>
                      <a:srgbClr val="1A1F1D"/>
                    </a:solidFill>
                  </a:tcPr>
                </a:tc>
                <a:tc>
                  <a:txBody>
                    <a:bodyPr/>
                    <a:lstStyle/>
                    <a:p>
                      <a:r>
                        <a:rPr sz="1200" b="1">
                          <a:solidFill>
                            <a:srgbClr val="F3F4F1"/>
                          </a:solidFill>
                          <a:latin typeface="Consolas"/>
                        </a:rPr>
                        <a:t>Wall-clock</a:t>
                      </a:r>
                    </a:p>
                  </a:txBody>
                  <a:tcPr marL="73152" marR="73152" marT="18288" marB="18288" anchor="ctr">
                    <a:solidFill>
                      <a:srgbClr val="1A1F1D"/>
                    </a:solidFill>
                  </a:tcPr>
                </a:tc>
                <a:tc>
                  <a:txBody>
                    <a:bodyPr/>
                    <a:lstStyle/>
                    <a:p>
                      <a:r>
                        <a:rPr sz="1200" b="1">
                          <a:solidFill>
                            <a:srgbClr val="F3F4F1"/>
                          </a:solidFill>
                          <a:latin typeface="Consolas"/>
                        </a:rPr>
                        <a:t>Cache-miss</a:t>
                      </a:r>
                    </a:p>
                  </a:txBody>
                  <a:tcPr marL="73152" marR="73152" marT="18288" marB="18288" anchor="ctr">
                    <a:solidFill>
                      <a:srgbClr val="1A1F1D"/>
                    </a:solidFill>
                  </a:tcPr>
                </a:tc>
                <a:tc>
                  <a:txBody>
                    <a:bodyPr/>
                    <a:lstStyle/>
                    <a:p>
                      <a:r>
                        <a:rPr sz="1200" b="1">
                          <a:solidFill>
                            <a:srgbClr val="F3F4F1"/>
                          </a:solidFill>
                          <a:latin typeface="Consolas"/>
                        </a:rPr>
                        <a:t>sys time</a:t>
                      </a:r>
                    </a:p>
                  </a:txBody>
                  <a:tcPr marL="73152" marR="73152" marT="18288" marB="18288" anchor="ctr">
                    <a:solidFill>
                      <a:srgbClr val="1A1F1D"/>
                    </a:solidFill>
                  </a:tcPr>
                </a:tc>
              </a:tr>
              <a:tr h="335280">
                <a:tc>
                  <a:txBody>
                    <a:bodyPr/>
                    <a:lstStyle/>
                    <a:p>
                      <a:r>
                        <a:rPr sz="1300">
                          <a:solidFill>
                            <a:srgbClr val="1A1F1D"/>
                          </a:solidFill>
                          <a:latin typeface="Consolas"/>
                        </a:rPr>
                        <a:t>OLD (S3.0+3.1/3.2, no S3.3)</a:t>
                      </a:r>
                    </a:p>
                  </a:txBody>
                  <a:tcPr marL="73152" marR="73152" marT="18288" marB="18288" anchor="ctr">
                    <a:solidFill>
                      <a:srgbClr val="FFFFFF"/>
                    </a:solidFill>
                  </a:tcPr>
                </a:tc>
                <a:tc>
                  <a:txBody>
                    <a:bodyPr/>
                    <a:lstStyle/>
                    <a:p>
                      <a:r>
                        <a:rPr sz="1300">
                          <a:solidFill>
                            <a:srgbClr val="1A1F1D"/>
                          </a:solidFill>
                          <a:latin typeface="Consolas"/>
                        </a:rPr>
                        <a:t>1.18s</a:t>
                      </a:r>
                    </a:p>
                  </a:txBody>
                  <a:tcPr marL="73152" marR="73152" marT="18288" marB="18288" anchor="ctr">
                    <a:solidFill>
                      <a:srgbClr val="FFFFFF"/>
                    </a:solidFill>
                  </a:tcPr>
                </a:tc>
                <a:tc>
                  <a:txBody>
                    <a:bodyPr/>
                    <a:lstStyle/>
                    <a:p>
                      <a:r>
                        <a:rPr sz="1300">
                          <a:solidFill>
                            <a:srgbClr val="1A1F1D"/>
                          </a:solidFill>
                          <a:latin typeface="Consolas"/>
                        </a:rPr>
                        <a:t>42.4%</a:t>
                      </a:r>
                    </a:p>
                  </a:txBody>
                  <a:tcPr marL="73152" marR="73152" marT="18288" marB="18288" anchor="ctr">
                    <a:solidFill>
                      <a:srgbClr val="FFFFFF"/>
                    </a:solidFill>
                  </a:tcPr>
                </a:tc>
                <a:tc>
                  <a:txBody>
                    <a:bodyPr/>
                    <a:lstStyle/>
                    <a:p>
                      <a:r>
                        <a:rPr sz="1300">
                          <a:solidFill>
                            <a:srgbClr val="1A1F1D"/>
                          </a:solidFill>
                          <a:latin typeface="Consolas"/>
                        </a:rPr>
                        <a:t>5.1s</a:t>
                      </a:r>
                    </a:p>
                  </a:txBody>
                  <a:tcPr marL="73152" marR="73152" marT="18288" marB="18288" anchor="ctr">
                    <a:solidFill>
                      <a:srgbClr val="FFFFFF"/>
                    </a:solidFill>
                  </a:tcPr>
                </a:tc>
              </a:tr>
              <a:tr h="335280">
                <a:tc>
                  <a:txBody>
                    <a:bodyPr/>
                    <a:lstStyle/>
                    <a:p>
                      <a:r>
                        <a:rPr sz="1300">
                          <a:solidFill>
                            <a:srgbClr val="1A1F1D"/>
                          </a:solidFill>
                          <a:latin typeface="Consolas"/>
                        </a:rPr>
                        <a:t>NEW (+S3.3)</a:t>
                      </a:r>
                    </a:p>
                  </a:txBody>
                  <a:tcPr marL="73152" marR="73152" marT="18288" marB="18288" anchor="ctr">
                    <a:solidFill>
                      <a:srgbClr val="F3F4F1"/>
                    </a:solidFill>
                  </a:tcPr>
                </a:tc>
                <a:tc>
                  <a:txBody>
                    <a:bodyPr/>
                    <a:lstStyle/>
                    <a:p>
                      <a:r>
                        <a:rPr sz="1300">
                          <a:solidFill>
                            <a:srgbClr val="1A1F1D"/>
                          </a:solidFill>
                          <a:latin typeface="Consolas"/>
                        </a:rPr>
                        <a:t>0.61s</a:t>
                      </a:r>
                    </a:p>
                  </a:txBody>
                  <a:tcPr marL="73152" marR="73152" marT="18288" marB="18288" anchor="ctr">
                    <a:solidFill>
                      <a:srgbClr val="F3F4F1"/>
                    </a:solidFill>
                  </a:tcPr>
                </a:tc>
                <a:tc>
                  <a:txBody>
                    <a:bodyPr/>
                    <a:lstStyle/>
                    <a:p>
                      <a:r>
                        <a:rPr sz="1300">
                          <a:solidFill>
                            <a:srgbClr val="1A1F1D"/>
                          </a:solidFill>
                          <a:latin typeface="Consolas"/>
                        </a:rPr>
                        <a:t>14.7%</a:t>
                      </a:r>
                    </a:p>
                  </a:txBody>
                  <a:tcPr marL="73152" marR="73152" marT="18288" marB="18288" anchor="ctr">
                    <a:solidFill>
                      <a:srgbClr val="F3F4F1"/>
                    </a:solidFill>
                  </a:tcPr>
                </a:tc>
                <a:tc>
                  <a:txBody>
                    <a:bodyPr/>
                    <a:lstStyle/>
                    <a:p>
                      <a:r>
                        <a:rPr sz="1300">
                          <a:solidFill>
                            <a:srgbClr val="1A1F1D"/>
                          </a:solidFill>
                          <a:latin typeface="Consolas"/>
                        </a:rPr>
                        <a:t>0.86s</a:t>
                      </a:r>
                    </a:p>
                  </a:txBody>
                  <a:tcPr marL="73152" marR="73152" marT="18288" marB="18288" anchor="ctr">
                    <a:solidFill>
                      <a:srgbClr val="F3F4F1"/>
                    </a:solidFill>
                  </a:tcPr>
                </a:tc>
              </a:tr>
            </a:tbl>
          </a:graphicData>
        </a:graphic>
      </p:graphicFrame>
      <p:sp>
        <p:nvSpPr>
          <p:cNvPr id="8" name="TextBox 7"/>
          <p:cNvSpPr txBox="1"/>
          <p:nvPr/>
        </p:nvSpPr>
        <p:spPr>
          <a:xfrm>
            <a:off x="548640" y="2880360"/>
            <a:ext cx="11094415" cy="2651760"/>
          </a:xfrm>
          <a:prstGeom prst="rect">
            <a:avLst/>
          </a:prstGeom>
          <a:noFill/>
        </p:spPr>
        <p:txBody>
          <a:bodyPr wrap="square" lIns="0" rIns="0" tIns="0" bIns="0">
            <a:spAutoFit/>
          </a:bodyPr>
          <a:lstStyle/>
          <a:p>
            <a:pPr algn="l">
              <a:lnSpc>
                <a:spcPct val="115000"/>
              </a:lnSpc>
              <a:spcBef>
                <a:spcPts val="0"/>
              </a:spcBef>
              <a:spcAft>
                <a:spcPts val="0"/>
              </a:spcAft>
            </a:pPr>
            <a:r>
              <a:rPr sz="1600" b="1" i="0">
                <a:solidFill>
                  <a:srgbClr val="0E7C68"/>
                </a:solidFill>
                <a:latin typeface="Calibri"/>
              </a:rPr>
              <a:t>~2× wall-clock, ~3× cache-miss from S3.3 alone. </a:t>
            </a:r>
          </a:p>
          <a:p>
            <a:pPr algn="l">
              <a:lnSpc>
                <a:spcPct val="140000"/>
              </a:lnSpc>
              <a:spcBef>
                <a:spcPts val="0"/>
              </a:spcBef>
              <a:spcAft>
                <a:spcPts val="0"/>
              </a:spcAft>
            </a:pPr>
            <a:r>
              <a:rPr sz="1550" b="0" i="0">
                <a:solidFill>
                  <a:srgbClr val="57615C"/>
                </a:solidFill>
                <a:latin typeface="Calibri"/>
              </a:rPr>
              <a:t>Our original 2026-08-26 finding was “22× slower, 85% LLC-miss” - but that was measured on the pre-S3.0 build, where the array was a static thread_local array with its own separate, worse per-thread-creation cost. S3.0 alone had already eliminated almost all of that 22×; S3.3 adds a real, smaller ~2×/~3× on top - the two don't stack, and it would be wrong to claim they do. We're flagging this ourselves.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S3.4</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Full benchmark - a real, explained null result</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029</a:t>
            </a:r>
          </a:p>
        </p:txBody>
      </p:sp>
      <p:sp>
        <p:nvSpPr>
          <p:cNvPr id="7" name="TextBox 6"/>
          <p:cNvSpPr txBox="1"/>
          <p:nvPr/>
        </p:nvSpPr>
        <p:spPr>
          <a:xfrm>
            <a:off x="548640" y="173736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650" b="0" i="0">
                <a:solidFill>
                  <a:srgbClr val="1A1F1D"/>
                </a:solidFill>
                <a:latin typeface="Calibri"/>
              </a:rPr>
              <a:t>3 DBs x 6 thread counts x 3 binaries x 3 interleaved runs. All three land within noise at every cell (CV mostly under 1%). No configuration shows a measurable wall-clock difference anywhere.</a:t>
            </a:r>
          </a:p>
        </p:txBody>
      </p:sp>
      <p:sp>
        <p:nvSpPr>
          <p:cNvPr id="8" name="TextBox 7"/>
          <p:cNvSpPr txBox="1"/>
          <p:nvPr/>
        </p:nvSpPr>
        <p:spPr>
          <a:xfrm>
            <a:off x="548640" y="3017520"/>
            <a:ext cx="11094415" cy="2651760"/>
          </a:xfrm>
          <a:prstGeom prst="rect">
            <a:avLst/>
          </a:prstGeom>
          <a:noFill/>
        </p:spPr>
        <p:txBody>
          <a:bodyPr wrap="square" lIns="0" rIns="0" tIns="0" bIns="0">
            <a:spAutoFit/>
          </a:bodyPr>
          <a:lstStyle/>
          <a:p>
            <a:pPr algn="l">
              <a:lnSpc>
                <a:spcPct val="115000"/>
              </a:lnSpc>
              <a:spcBef>
                <a:spcPts val="0"/>
              </a:spcBef>
              <a:spcAft>
                <a:spcPts val="0"/>
              </a:spcAft>
            </a:pPr>
            <a:r>
              <a:rPr sz="1600" b="1" i="0">
                <a:solidFill>
                  <a:srgbClr val="1A1F1D"/>
                </a:solidFill>
                <a:latin typeface="Calibri"/>
              </a:rPr>
              <a:t>Why, precisely: </a:t>
            </a:r>
          </a:p>
          <a:p>
            <a:pPr algn="l">
              <a:lnSpc>
                <a:spcPct val="140000"/>
              </a:lnSpc>
              <a:spcBef>
                <a:spcPts val="0"/>
              </a:spcBef>
              <a:spcAft>
                <a:spcPts val="0"/>
              </a:spcAft>
            </a:pPr>
            <a:r>
              <a:rPr sz="1600" b="0" i="0">
                <a:solidFill>
                  <a:srgbClr val="57615C"/>
                </a:solidFill>
                <a:latin typeface="Calibri"/>
              </a:rPr>
              <a:t>(1) the cache gets essentially no hit-rate benefit at the sizes it actually runs at (best-tested config only reached 1.48% hit rate). (2) S3.0/S3.3's fixes only matter at sizes the formula never asks for at realistic thread counts (32-96T). The bugs and the formula's real operating range simply don't overlap. Necessary correctness work, not a performance lever - and now we know precisely why instead of guessing.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S3</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Likely questions</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030</a:t>
            </a:r>
          </a:p>
        </p:txBody>
      </p:sp>
      <p:sp>
        <p:nvSpPr>
          <p:cNvPr id="7" name="TextBox 6"/>
          <p:cNvSpPr txBox="1"/>
          <p:nvPr/>
        </p:nvSpPr>
        <p:spPr>
          <a:xfrm>
            <a:off x="548640" y="1737360"/>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0E7C68"/>
                </a:solidFill>
                <a:latin typeface="Consolas"/>
              </a:rPr>
              <a:t>Q  </a:t>
            </a:r>
            <a:r>
              <a:rPr sz="1350" b="1" i="1">
                <a:solidFill>
                  <a:srgbClr val="1A1F1D"/>
                </a:solidFill>
                <a:latin typeface="Calibri"/>
              </a:rPr>
              <a:t>If S3 doesn't win on wall-clock, why does it matter?</a:t>
            </a:r>
          </a:p>
        </p:txBody>
      </p:sp>
      <p:sp>
        <p:nvSpPr>
          <p:cNvPr id="8" name="TextBox 7"/>
          <p:cNvSpPr txBox="1"/>
          <p:nvPr/>
        </p:nvSpPr>
        <p:spPr>
          <a:xfrm>
            <a:off x="548640" y="2084832"/>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450" b="0" i="0">
                <a:solidFill>
                  <a:srgbClr val="57615C"/>
                </a:solidFill>
                <a:latin typeface="Calibri"/>
              </a:rPr>
              <a:t>It's the safety work that lets the cache explore larger sizes without crashing or slowing down - a prerequisite for S4's eviction experiments. Also real, citable engineering: a documented crash fix and a documented slowdown fix, each independently verified.</a:t>
            </a:r>
          </a:p>
        </p:txBody>
      </p:sp>
      <p:sp>
        <p:nvSpPr>
          <p:cNvPr id="9" name="TextBox 8"/>
          <p:cNvSpPr txBox="1"/>
          <p:nvPr/>
        </p:nvSpPr>
        <p:spPr>
          <a:xfrm>
            <a:off x="548640" y="3072384"/>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0E7C68"/>
                </a:solidFill>
                <a:latin typeface="Consolas"/>
              </a:rPr>
              <a:t>Q  </a:t>
            </a:r>
            <a:r>
              <a:rPr sz="1350" b="1" i="1">
                <a:solidFill>
                  <a:srgbClr val="1A1F1D"/>
                </a:solidFill>
                <a:latin typeface="Calibri"/>
              </a:rPr>
              <a:t>Why 105MB and not 210MB?</a:t>
            </a:r>
          </a:p>
        </p:txBody>
      </p:sp>
      <p:sp>
        <p:nvSpPr>
          <p:cNvPr id="10" name="TextBox 9"/>
          <p:cNvSpPr txBox="1"/>
          <p:nvPr/>
        </p:nvSpPr>
        <p:spPr>
          <a:xfrm>
            <a:off x="548640" y="3419856"/>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450" b="0" i="0">
                <a:solidFill>
                  <a:srgbClr val="57615C"/>
                </a:solidFill>
                <a:latin typeface="Calibri"/>
              </a:rPr>
              <a:t>210MB is the total L3 across both sockets. Every benchmark runs pinned to one socket, so the number that matters is one socket's share - confirmed via lscpu, not a spec sheet.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S4</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A real hashing bug, an 8.9x fix, and a reversal</a:t>
            </a:r>
          </a:p>
        </p:txBody>
      </p:sp>
      <p:sp>
        <p:nvSpPr>
          <p:cNvPr id="5" name="Rounded Rectangle 4"/>
          <p:cNvSpPr/>
          <p:nvPr/>
        </p:nvSpPr>
        <p:spPr>
          <a:xfrm>
            <a:off x="10728655" y="987552"/>
            <a:ext cx="863193" cy="292608"/>
          </a:xfrm>
          <a:prstGeom prst="roundRect">
            <a:avLst>
              <a:gd name="adj" fmla="val 50000"/>
            </a:avLst>
          </a:prstGeom>
          <a:solidFill>
            <a:srgbClr val="F7EC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B8452E"/>
                </a:solidFill>
                <a:latin typeface="Consolas"/>
              </a:rPr>
              <a:t>REVERSAL</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7" name="TextBox 6"/>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031</a:t>
            </a:r>
          </a:p>
        </p:txBody>
      </p:sp>
      <p:sp>
        <p:nvSpPr>
          <p:cNvPr id="8" name="TextBox 7"/>
          <p:cNvSpPr txBox="1"/>
          <p:nvPr/>
        </p:nvSpPr>
        <p:spPr>
          <a:xfrm>
            <a:off x="548640" y="173736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650" b="0" i="0">
                <a:solidFill>
                  <a:srgbClr val="1A1F1D"/>
                </a:solidFill>
                <a:latin typeface="Calibri"/>
              </a:rPr>
              <a:t>With S3 closed out, before writing S4's eviction-policy design, we built one more diagnostic - a way to actually see how lookups spread across the cache's 4,096 sets, since nothing so far had ever measured that directly.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S4.0</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The diagnostic - occupancy + reuse-distance</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032</a:t>
            </a:r>
          </a:p>
        </p:txBody>
      </p:sp>
      <p:sp>
        <p:nvSpPr>
          <p:cNvPr id="7" name="Rounded Rectangle 6"/>
          <p:cNvSpPr/>
          <p:nvPr/>
        </p:nvSpPr>
        <p:spPr>
          <a:xfrm>
            <a:off x="548640" y="1645920"/>
            <a:ext cx="11094415" cy="246888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static thread_local uint64_t s2_occupancy[S2_NUM_SETS] = {0};</a:t>
            </a:r>
          </a:p>
          <a:p>
            <a:pPr>
              <a:lnSpc>
                <a:spcPct val="118000"/>
              </a:lnSpc>
            </a:pPr>
            <a:r>
              <a:rPr sz="1150">
                <a:solidFill>
                  <a:srgbClr val="F3F4F1"/>
                </a:solidFill>
                <a:latin typeface="Consolas"/>
              </a:rPr>
              <a:t>static thread_local std::unordered_map&lt;uint64_t,uint64_t&gt; s2_last_seen;</a:t>
            </a:r>
          </a:p>
          <a:p>
            <a:pPr>
              <a:lnSpc>
                <a:spcPct val="118000"/>
              </a:lnSpc>
            </a:pPr>
            <a:r>
              <a:rPr sz="1150">
                <a:solidFill>
                  <a:srgbClr val="F3F4F1"/>
                </a:solidFill>
                <a:latin typeface="Consolas"/>
              </a:rPr>
              <a:t>static thread_local uint64_t s2_distance_hist[8] = {0}; // &lt;10,&lt;100,...</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static inline void S2RecordReuse(uint64_t m) {</a:t>
            </a:r>
          </a:p>
          <a:p>
            <a:pPr>
              <a:lnSpc>
                <a:spcPct val="118000"/>
              </a:lnSpc>
            </a:pPr>
            <a:r>
              <a:rPr sz="1150">
                <a:solidFill>
                  <a:srgbClr val="F3F4F1"/>
                </a:solidFill>
                <a:latin typeface="Consolas"/>
              </a:rPr>
              <a:t>  auto it = s2_last_seen.find(m);</a:t>
            </a:r>
          </a:p>
          <a:p>
            <a:pPr>
              <a:lnSpc>
                <a:spcPct val="118000"/>
              </a:lnSpc>
            </a:pPr>
            <a:r>
              <a:rPr sz="1150">
                <a:solidFill>
                  <a:srgbClr val="F3F4F1"/>
                </a:solidFill>
                <a:latin typeface="Consolas"/>
              </a:rPr>
              <a:t>  if (it != s2_last_seen.end()) {</a:t>
            </a:r>
          </a:p>
          <a:p>
            <a:pPr>
              <a:lnSpc>
                <a:spcPct val="118000"/>
              </a:lnSpc>
            </a:pPr>
            <a:r>
              <a:rPr sz="1150">
                <a:solidFill>
                  <a:srgbClr val="F3F4F1"/>
                </a:solidFill>
                <a:latin typeface="Consolas"/>
              </a:rPr>
              <a:t>    uint64_t distance = s2_lookup_idx - it-&gt;second;</a:t>
            </a:r>
          </a:p>
          <a:p>
            <a:pPr>
              <a:lnSpc>
                <a:spcPct val="118000"/>
              </a:lnSpc>
            </a:pPr>
            <a:r>
              <a:rPr sz="1150">
                <a:solidFill>
                  <a:srgbClr val="F3F4F1"/>
                </a:solidFill>
                <a:latin typeface="Consolas"/>
              </a:rPr>
              <a:t>    int bucket = 0; uint64_t th = 10;</a:t>
            </a:r>
          </a:p>
          <a:p>
            <a:pPr>
              <a:lnSpc>
                <a:spcPct val="118000"/>
              </a:lnSpc>
            </a:pPr>
            <a:r>
              <a:rPr sz="1150">
                <a:solidFill>
                  <a:srgbClr val="F3F4F1"/>
                </a:solidFill>
                <a:latin typeface="Consolas"/>
              </a:rPr>
              <a:t>    while (distance &gt;= th &amp;&amp; bucket &lt; 7) { th *= 10; bucket++; }</a:t>
            </a:r>
          </a:p>
          <a:p>
            <a:pPr>
              <a:lnSpc>
                <a:spcPct val="118000"/>
              </a:lnSpc>
            </a:pPr>
            <a:r>
              <a:rPr sz="1150">
                <a:solidFill>
                  <a:srgbClr val="F3F4F1"/>
                </a:solidFill>
                <a:latin typeface="Consolas"/>
              </a:rPr>
              <a:t>    s2_distance_hist[bucket]++;</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  s2_last_seen[m] = s2_lookup_idx++;</a:t>
            </a:r>
          </a:p>
          <a:p>
            <a:pPr>
              <a:lnSpc>
                <a:spcPct val="118000"/>
              </a:lnSpc>
            </a:pPr>
            <a:r>
              <a:rPr sz="1150">
                <a:solidFill>
                  <a:srgbClr val="F3F4F1"/>
                </a:solidFill>
                <a:latin typeface="Consolas"/>
              </a:rPr>
              <a:t>}   // T=1-only, non-timed - unordered_map costs ~1.3-1.6GB/thread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S4.0</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Results - a real bug, found by looking</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033</a:t>
            </a:r>
          </a:p>
        </p:txBody>
      </p:sp>
      <p:sp>
        <p:nvSpPr>
          <p:cNvPr id="7" name="Rounded Rectangle 6"/>
          <p:cNvSpPr/>
          <p:nvPr/>
        </p:nvSpPr>
        <p:spPr>
          <a:xfrm>
            <a:off x="548640" y="1691640"/>
            <a:ext cx="11094415" cy="100584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300">
                <a:solidFill>
                  <a:srgbClr val="F3F4F1"/>
                </a:solidFill>
                <a:latin typeface="Consolas"/>
              </a:rPr>
              <a:t>[S4.0-OCCUPANCY] min=0 max=165460 mean=734.02 max_over_mean=225.42</a:t>
            </a:r>
          </a:p>
        </p:txBody>
      </p:sp>
      <p:sp>
        <p:nvSpPr>
          <p:cNvPr id="8" name="TextBox 7"/>
          <p:cNvSpPr txBox="1"/>
          <p:nvPr/>
        </p:nvSpPr>
        <p:spPr>
          <a:xfrm>
            <a:off x="548640" y="2971800"/>
            <a:ext cx="11094415" cy="2651760"/>
          </a:xfrm>
          <a:prstGeom prst="rect">
            <a:avLst/>
          </a:prstGeom>
          <a:noFill/>
        </p:spPr>
        <p:txBody>
          <a:bodyPr wrap="square" lIns="0" rIns="0" tIns="0" bIns="0">
            <a:spAutoFit/>
          </a:bodyPr>
          <a:lstStyle/>
          <a:p>
            <a:pPr algn="l">
              <a:lnSpc>
                <a:spcPct val="135000"/>
              </a:lnSpc>
              <a:spcBef>
                <a:spcPts val="0"/>
              </a:spcBef>
              <a:spcAft>
                <a:spcPts val="0"/>
              </a:spcAft>
            </a:pPr>
            <a:r>
              <a:rPr sz="1650" b="1" i="0">
                <a:solidFill>
                  <a:srgbClr val="1A1F1D"/>
                </a:solidFill>
                <a:latin typeface="Calibri"/>
              </a:rPr>
              <a:t>One set absorbed 225x the average load; at least one set was never touched at all. </a:t>
            </a:r>
          </a:p>
          <a:p>
            <a:pPr algn="l">
              <a:lnSpc>
                <a:spcPct val="135000"/>
              </a:lnSpc>
              <a:spcBef>
                <a:spcPts val="0"/>
              </a:spcBef>
              <a:spcAft>
                <a:spcPts val="0"/>
              </a:spcAft>
            </a:pPr>
            <a:r>
              <a:rPr sz="1600" b="0" i="0">
                <a:solidFill>
                  <a:srgbClr val="57615C"/>
                </a:solidFill>
                <a:latin typeface="Calibri"/>
              </a:rPr>
              <a:t>The cause: S2SetIndex was still the unmixed raw bit-mask from S2, unchanged since day one. It only looks at a minimizer's lowest bits - if those aren't evenly distributed (they aren't), traffic piles up unevenly regardless of anything else about the cache.</a:t>
            </a:r>
          </a:p>
          <a:p>
            <a:pPr algn="l">
              <a:lnSpc>
                <a:spcPct val="135000"/>
              </a:lnSpc>
              <a:spcBef>
                <a:spcPts val="0"/>
              </a:spcBef>
              <a:spcAft>
                <a:spcPts val="0"/>
              </a:spcAft>
            </a:pPr>
            <a:r>
              <a:rPr sz="1500" b="0" i="0">
                <a:solidFill>
                  <a:srgbClr val="57615C"/>
                </a:solidFill>
                <a:latin typeface="Calibri"/>
              </a:rPr>
              <a:t>Reuse-distance histogram: 81.3% of repeats land 10,000-1,000,000 lookups apart - far beyond what a 16,384-entry cache can hold onto. (standard_8gb, T=1 only - unconfirmed elsewhere.)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S4.0</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The fix - one line</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034</a:t>
            </a:r>
          </a:p>
        </p:txBody>
      </p:sp>
      <p:sp>
        <p:nvSpPr>
          <p:cNvPr id="7" name="Rounded Rectangle 6"/>
          <p:cNvSpPr/>
          <p:nvPr/>
        </p:nvSpPr>
        <p:spPr>
          <a:xfrm>
            <a:off x="548640" y="1691640"/>
            <a:ext cx="11094415" cy="128016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 BEFORE:</a:t>
            </a:r>
          </a:p>
          <a:p>
            <a:pPr>
              <a:lnSpc>
                <a:spcPct val="118000"/>
              </a:lnSpc>
            </a:pPr>
            <a:r>
              <a:rPr sz="1150">
                <a:solidFill>
                  <a:srgbClr val="F3F4F1"/>
                </a:solidFill>
                <a:latin typeface="Consolas"/>
              </a:rPr>
              <a:t>static inline size_t S2SetIndex(uint64_t m) { return m &amp; (S2_NUM_SETS-1); }</a:t>
            </a:r>
          </a:p>
          <a:p>
            <a:pPr>
              <a:lnSpc>
                <a:spcPct val="118000"/>
              </a:lnSpc>
            </a:pPr>
            <a:r>
              <a:rPr sz="1150">
                <a:solidFill>
                  <a:srgbClr val="F3F4F1"/>
                </a:solidFill>
                <a:latin typeface="Consolas"/>
              </a:rPr>
              <a:t>// AFTER:</a:t>
            </a:r>
          </a:p>
          <a:p>
            <a:pPr>
              <a:lnSpc>
                <a:spcPct val="118000"/>
              </a:lnSpc>
            </a:pPr>
            <a:r>
              <a:rPr sz="1150">
                <a:solidFill>
                  <a:srgbClr val="F3F4F1"/>
                </a:solidFill>
                <a:latin typeface="Consolas"/>
              </a:rPr>
              <a:t>static inline size_t S2SetIndex(uint64_t m) { return MurmurHash3(m) &amp; (S2_NUM_SETS-1); }</a:t>
            </a:r>
          </a:p>
        </p:txBody>
      </p:sp>
      <p:graphicFrame>
        <p:nvGraphicFramePr>
          <p:cNvPr id="8" name="Table 7"/>
          <p:cNvGraphicFramePr>
            <a:graphicFrameLocks noGrp="1"/>
          </p:cNvGraphicFramePr>
          <p:nvPr/>
        </p:nvGraphicFramePr>
        <p:xfrm>
          <a:off x="548640" y="3291840"/>
          <a:ext cx="11094414" cy="1097280"/>
        </p:xfrm>
        <a:graphic>
          <a:graphicData uri="http://schemas.openxmlformats.org/drawingml/2006/table">
            <a:tbl>
              <a:tblPr firstRow="0" bandRow="0">
                <a:tableStyleId>{2D5ABB26-0587-4C30-8999-92F81FD0307C}</a:tableStyleId>
              </a:tblPr>
              <a:tblGrid>
                <a:gridCol w="4659654"/>
                <a:gridCol w="3217380"/>
                <a:gridCol w="3217380"/>
              </a:tblGrid>
              <a:tr h="365760">
                <a:tc>
                  <a:txBody>
                    <a:bodyPr/>
                    <a:lstStyle/>
                    <a:p>
                      <a:r>
                        <a:rPr sz="1200" b="1">
                          <a:solidFill>
                            <a:srgbClr val="F3F4F1"/>
                          </a:solidFill>
                          <a:latin typeface="Consolas"/>
                        </a:rPr>
                        <a:t> </a:t>
                      </a:r>
                    </a:p>
                  </a:txBody>
                  <a:tcPr marL="73152" marR="73152" marT="18288" marB="18288" anchor="ctr">
                    <a:solidFill>
                      <a:srgbClr val="1A1F1D"/>
                    </a:solidFill>
                  </a:tcPr>
                </a:tc>
                <a:tc>
                  <a:txBody>
                    <a:bodyPr/>
                    <a:lstStyle/>
                    <a:p>
                      <a:r>
                        <a:rPr sz="1200" b="1">
                          <a:solidFill>
                            <a:srgbClr val="F3F4F1"/>
                          </a:solidFill>
                          <a:latin typeface="Consolas"/>
                        </a:rPr>
                        <a:t>Old hash</a:t>
                      </a:r>
                    </a:p>
                  </a:txBody>
                  <a:tcPr marL="73152" marR="73152" marT="18288" marB="18288" anchor="ctr">
                    <a:solidFill>
                      <a:srgbClr val="1A1F1D"/>
                    </a:solidFill>
                  </a:tcPr>
                </a:tc>
                <a:tc>
                  <a:txBody>
                    <a:bodyPr/>
                    <a:lstStyle/>
                    <a:p>
                      <a:r>
                        <a:rPr sz="1200" b="1">
                          <a:solidFill>
                            <a:srgbClr val="F3F4F1"/>
                          </a:solidFill>
                          <a:latin typeface="Consolas"/>
                        </a:rPr>
                        <a:t>Fixed hash</a:t>
                      </a:r>
                    </a:p>
                  </a:txBody>
                  <a:tcPr marL="73152" marR="73152" marT="18288" marB="18288" anchor="ctr">
                    <a:solidFill>
                      <a:srgbClr val="1A1F1D"/>
                    </a:solidFill>
                  </a:tcPr>
                </a:tc>
              </a:tr>
              <a:tr h="365760">
                <a:tc>
                  <a:txBody>
                    <a:bodyPr/>
                    <a:lstStyle/>
                    <a:p>
                      <a:r>
                        <a:rPr sz="1300">
                          <a:solidFill>
                            <a:srgbClr val="1A1F1D"/>
                          </a:solidFill>
                          <a:latin typeface="Consolas"/>
                        </a:rPr>
                        <a:t>Hit rate, 4,096 sets</a:t>
                      </a:r>
                    </a:p>
                  </a:txBody>
                  <a:tcPr marL="73152" marR="73152" marT="18288" marB="18288" anchor="ctr">
                    <a:solidFill>
                      <a:srgbClr val="FFFFFF"/>
                    </a:solidFill>
                  </a:tcPr>
                </a:tc>
                <a:tc>
                  <a:txBody>
                    <a:bodyPr/>
                    <a:lstStyle/>
                    <a:p>
                      <a:r>
                        <a:rPr sz="1300">
                          <a:solidFill>
                            <a:srgbClr val="1A1F1D"/>
                          </a:solidFill>
                          <a:latin typeface="Consolas"/>
                        </a:rPr>
                        <a:t>0.4035%</a:t>
                      </a:r>
                    </a:p>
                  </a:txBody>
                  <a:tcPr marL="73152" marR="73152" marT="18288" marB="18288" anchor="ctr">
                    <a:solidFill>
                      <a:srgbClr val="FFFFFF"/>
                    </a:solidFill>
                  </a:tcPr>
                </a:tc>
                <a:tc>
                  <a:txBody>
                    <a:bodyPr/>
                    <a:lstStyle/>
                    <a:p>
                      <a:r>
                        <a:rPr sz="1300">
                          <a:solidFill>
                            <a:srgbClr val="1A1F1D"/>
                          </a:solidFill>
                          <a:latin typeface="Consolas"/>
                        </a:rPr>
                        <a:t>3.5758% (8.9x)</a:t>
                      </a:r>
                    </a:p>
                  </a:txBody>
                  <a:tcPr marL="73152" marR="73152" marT="18288" marB="18288" anchor="ctr">
                    <a:solidFill>
                      <a:srgbClr val="FFFFFF"/>
                    </a:solidFill>
                  </a:tcPr>
                </a:tc>
              </a:tr>
              <a:tr h="365760">
                <a:tc>
                  <a:txBody>
                    <a:bodyPr/>
                    <a:lstStyle/>
                    <a:p>
                      <a:r>
                        <a:rPr sz="1300">
                          <a:solidFill>
                            <a:srgbClr val="1A1F1D"/>
                          </a:solidFill>
                          <a:latin typeface="Consolas"/>
                        </a:rPr>
                        <a:t>Occupancy max/mean</a:t>
                      </a:r>
                    </a:p>
                  </a:txBody>
                  <a:tcPr marL="73152" marR="73152" marT="18288" marB="18288" anchor="ctr">
                    <a:solidFill>
                      <a:srgbClr val="F3F4F1"/>
                    </a:solidFill>
                  </a:tcPr>
                </a:tc>
                <a:tc>
                  <a:txBody>
                    <a:bodyPr/>
                    <a:lstStyle/>
                    <a:p>
                      <a:r>
                        <a:rPr sz="1300">
                          <a:solidFill>
                            <a:srgbClr val="1A1F1D"/>
                          </a:solidFill>
                          <a:latin typeface="Consolas"/>
                        </a:rPr>
                        <a:t>225.42</a:t>
                      </a:r>
                    </a:p>
                  </a:txBody>
                  <a:tcPr marL="73152" marR="73152" marT="18288" marB="18288" anchor="ctr">
                    <a:solidFill>
                      <a:srgbClr val="F3F4F1"/>
                    </a:solidFill>
                  </a:tcPr>
                </a:tc>
                <a:tc>
                  <a:txBody>
                    <a:bodyPr/>
                    <a:lstStyle/>
                    <a:p>
                      <a:r>
                        <a:rPr sz="1300">
                          <a:solidFill>
                            <a:srgbClr val="1A1F1D"/>
                          </a:solidFill>
                          <a:latin typeface="Consolas"/>
                        </a:rPr>
                        <a:t>3.95</a:t>
                      </a:r>
                    </a:p>
                  </a:txBody>
                  <a:tcPr marL="73152" marR="73152" marT="18288" marB="18288" anchor="ctr">
                    <a:solidFill>
                      <a:srgbClr val="F3F4F1"/>
                    </a:solidFill>
                  </a:tcPr>
                </a:tc>
              </a:tr>
            </a:tbl>
          </a:graphicData>
        </a:graphic>
      </p:graphicFrame>
      <p:sp>
        <p:nvSpPr>
          <p:cNvPr id="9" name="TextBox 8"/>
          <p:cNvSpPr txBox="1"/>
          <p:nvPr/>
        </p:nvSpPr>
        <p:spPr>
          <a:xfrm>
            <a:off x="548640" y="4617720"/>
            <a:ext cx="11094415" cy="731520"/>
          </a:xfrm>
          <a:prstGeom prst="rect">
            <a:avLst/>
          </a:prstGeom>
          <a:noFill/>
        </p:spPr>
        <p:txBody>
          <a:bodyPr wrap="square" lIns="0" rIns="0" tIns="0" bIns="0">
            <a:spAutoFit/>
          </a:bodyPr>
          <a:lstStyle/>
          <a:p>
            <a:pPr algn="l">
              <a:lnSpc>
                <a:spcPct val="115000"/>
              </a:lnSpc>
              <a:spcBef>
                <a:spcPts val="0"/>
              </a:spcBef>
              <a:spcAft>
                <a:spcPts val="0"/>
              </a:spcAft>
            </a:pPr>
            <a:r>
              <a:rPr sz="1400" b="0" i="1">
                <a:solidFill>
                  <a:srgbClr val="57615C"/>
                </a:solidFill>
                <a:latin typeface="Calibri"/>
              </a:rPr>
              <a:t>Still no wall-clock win - extra hits are still only ~3.2% of the total lookup stream.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S4</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The reversal</a:t>
            </a:r>
          </a:p>
        </p:txBody>
      </p:sp>
      <p:sp>
        <p:nvSpPr>
          <p:cNvPr id="5" name="Rounded Rectangle 4"/>
          <p:cNvSpPr/>
          <p:nvPr/>
        </p:nvSpPr>
        <p:spPr>
          <a:xfrm>
            <a:off x="9357055" y="987552"/>
            <a:ext cx="2207361" cy="292608"/>
          </a:xfrm>
          <a:prstGeom prst="roundRect">
            <a:avLst>
              <a:gd name="adj" fmla="val 50000"/>
            </a:avLst>
          </a:prstGeom>
          <a:solidFill>
            <a:srgbClr val="F7EC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B8452E"/>
                </a:solidFill>
                <a:latin typeface="Consolas"/>
              </a:rPr>
              <a:t>CAUGHT BEFORE MORE WORK</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7" name="TextBox 6"/>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035</a:t>
            </a:r>
          </a:p>
        </p:txBody>
      </p:sp>
      <p:graphicFrame>
        <p:nvGraphicFramePr>
          <p:cNvPr id="8" name="Table 7"/>
          <p:cNvGraphicFramePr>
            <a:graphicFrameLocks noGrp="1"/>
          </p:cNvGraphicFramePr>
          <p:nvPr/>
        </p:nvGraphicFramePr>
        <p:xfrm>
          <a:off x="548640" y="1645920"/>
          <a:ext cx="11094414" cy="1188720"/>
        </p:xfrm>
        <a:graphic>
          <a:graphicData uri="http://schemas.openxmlformats.org/drawingml/2006/table">
            <a:tbl>
              <a:tblPr firstRow="0" bandRow="0">
                <a:tableStyleId>{2D5ABB26-0587-4C30-8999-92F81FD0307C}</a:tableStyleId>
              </a:tblPr>
              <a:tblGrid>
                <a:gridCol w="4659654"/>
                <a:gridCol w="3217380"/>
                <a:gridCol w="3217380"/>
              </a:tblGrid>
              <a:tr h="396240">
                <a:tc>
                  <a:txBody>
                    <a:bodyPr/>
                    <a:lstStyle/>
                    <a:p>
                      <a:r>
                        <a:rPr sz="1200" b="1">
                          <a:solidFill>
                            <a:srgbClr val="F3F4F1"/>
                          </a:solidFill>
                          <a:latin typeface="Consolas"/>
                        </a:rPr>
                        <a:t> </a:t>
                      </a:r>
                    </a:p>
                  </a:txBody>
                  <a:tcPr marL="73152" marR="73152" marT="18288" marB="18288" anchor="ctr">
                    <a:solidFill>
                      <a:srgbClr val="1A1F1D"/>
                    </a:solidFill>
                  </a:tcPr>
                </a:tc>
                <a:tc>
                  <a:txBody>
                    <a:bodyPr/>
                    <a:lstStyle/>
                    <a:p>
                      <a:r>
                        <a:rPr sz="1200" b="1">
                          <a:solidFill>
                            <a:srgbClr val="F3F4F1"/>
                          </a:solidFill>
                          <a:latin typeface="Consolas"/>
                        </a:rPr>
                        <a:t>Old hash</a:t>
                      </a:r>
                    </a:p>
                  </a:txBody>
                  <a:tcPr marL="73152" marR="73152" marT="18288" marB="18288" anchor="ctr">
                    <a:solidFill>
                      <a:srgbClr val="1A1F1D"/>
                    </a:solidFill>
                  </a:tcPr>
                </a:tc>
                <a:tc>
                  <a:txBody>
                    <a:bodyPr/>
                    <a:lstStyle/>
                    <a:p>
                      <a:r>
                        <a:rPr sz="1200" b="1">
                          <a:solidFill>
                            <a:srgbClr val="F3F4F1"/>
                          </a:solidFill>
                          <a:latin typeface="Consolas"/>
                        </a:rPr>
                        <a:t>Fixed hash</a:t>
                      </a:r>
                    </a:p>
                  </a:txBody>
                  <a:tcPr marL="73152" marR="73152" marT="18288" marB="18288" anchor="ctr">
                    <a:solidFill>
                      <a:srgbClr val="1A1F1D"/>
                    </a:solidFill>
                  </a:tcPr>
                </a:tc>
              </a:tr>
              <a:tr h="396240">
                <a:tc>
                  <a:txBody>
                    <a:bodyPr/>
                    <a:lstStyle/>
                    <a:p>
                      <a:r>
                        <a:rPr sz="1300">
                          <a:solidFill>
                            <a:srgbClr val="1A1F1D"/>
                          </a:solidFill>
                          <a:latin typeface="Consolas"/>
                        </a:rPr>
                        <a:t>Round-robin</a:t>
                      </a:r>
                    </a:p>
                  </a:txBody>
                  <a:tcPr marL="73152" marR="73152" marT="18288" marB="18288" anchor="ctr">
                    <a:solidFill>
                      <a:srgbClr val="FFFFFF"/>
                    </a:solidFill>
                  </a:tcPr>
                </a:tc>
                <a:tc>
                  <a:txBody>
                    <a:bodyPr/>
                    <a:lstStyle/>
                    <a:p>
                      <a:r>
                        <a:rPr sz="1300">
                          <a:solidFill>
                            <a:srgbClr val="1A1F1D"/>
                          </a:solidFill>
                          <a:latin typeface="Consolas"/>
                        </a:rPr>
                        <a:t>0.4035%</a:t>
                      </a:r>
                    </a:p>
                  </a:txBody>
                  <a:tcPr marL="73152" marR="73152" marT="18288" marB="18288" anchor="ctr">
                    <a:solidFill>
                      <a:srgbClr val="FFFFFF"/>
                    </a:solidFill>
                  </a:tcPr>
                </a:tc>
                <a:tc>
                  <a:txBody>
                    <a:bodyPr/>
                    <a:lstStyle/>
                    <a:p>
                      <a:r>
                        <a:rPr sz="1300">
                          <a:solidFill>
                            <a:srgbClr val="1A1F1D"/>
                          </a:solidFill>
                          <a:latin typeface="Consolas"/>
                        </a:rPr>
                        <a:t>3.5758%</a:t>
                      </a:r>
                    </a:p>
                  </a:txBody>
                  <a:tcPr marL="73152" marR="73152" marT="18288" marB="18288" anchor="ctr">
                    <a:solidFill>
                      <a:srgbClr val="FFFFFF"/>
                    </a:solidFill>
                  </a:tcPr>
                </a:tc>
              </a:tr>
              <a:tr h="396240">
                <a:tc>
                  <a:txBody>
                    <a:bodyPr/>
                    <a:lstStyle/>
                    <a:p>
                      <a:r>
                        <a:rPr sz="1300">
                          <a:solidFill>
                            <a:srgbClr val="1A1F1D"/>
                          </a:solidFill>
                          <a:latin typeface="Consolas"/>
                        </a:rPr>
                        <a:t>Pinned ("protect on first hit")</a:t>
                      </a:r>
                    </a:p>
                  </a:txBody>
                  <a:tcPr marL="73152" marR="73152" marT="18288" marB="18288" anchor="ctr">
                    <a:solidFill>
                      <a:srgbClr val="F3F4F1"/>
                    </a:solidFill>
                  </a:tcPr>
                </a:tc>
                <a:tc>
                  <a:txBody>
                    <a:bodyPr/>
                    <a:lstStyle/>
                    <a:p>
                      <a:r>
                        <a:rPr sz="1300">
                          <a:solidFill>
                            <a:srgbClr val="1A1F1D"/>
                          </a:solidFill>
                          <a:latin typeface="Consolas"/>
                        </a:rPr>
                        <a:t>+25.2% relative</a:t>
                      </a:r>
                    </a:p>
                  </a:txBody>
                  <a:tcPr marL="73152" marR="73152" marT="18288" marB="18288" anchor="ctr">
                    <a:solidFill>
                      <a:srgbClr val="F3F4F1"/>
                    </a:solidFill>
                  </a:tcPr>
                </a:tc>
                <a:tc>
                  <a:txBody>
                    <a:bodyPr/>
                    <a:lstStyle/>
                    <a:p>
                      <a:r>
                        <a:rPr sz="1300">
                          <a:solidFill>
                            <a:srgbClr val="1A1F1D"/>
                          </a:solidFill>
                          <a:latin typeface="Consolas"/>
                        </a:rPr>
                        <a:t>−3.9% relative</a:t>
                      </a:r>
                    </a:p>
                  </a:txBody>
                  <a:tcPr marL="73152" marR="73152" marT="18288" marB="18288" anchor="ctr">
                    <a:solidFill>
                      <a:srgbClr val="F3F4F1"/>
                    </a:solidFill>
                  </a:tcPr>
                </a:tc>
              </a:tr>
            </a:tbl>
          </a:graphicData>
        </a:graphic>
      </p:graphicFrame>
      <p:sp>
        <p:nvSpPr>
          <p:cNvPr id="9" name="TextBox 8"/>
          <p:cNvSpPr txBox="1"/>
          <p:nvPr/>
        </p:nvSpPr>
        <p:spPr>
          <a:xfrm>
            <a:off x="548640" y="3108960"/>
            <a:ext cx="11094415" cy="2651760"/>
          </a:xfrm>
          <a:prstGeom prst="rect">
            <a:avLst/>
          </a:prstGeom>
          <a:noFill/>
        </p:spPr>
        <p:txBody>
          <a:bodyPr wrap="square" lIns="0" rIns="0" tIns="0" bIns="0">
            <a:spAutoFit/>
          </a:bodyPr>
          <a:lstStyle/>
          <a:p>
            <a:pPr algn="l">
              <a:lnSpc>
                <a:spcPct val="140000"/>
              </a:lnSpc>
              <a:spcBef>
                <a:spcPts val="0"/>
              </a:spcBef>
              <a:spcAft>
                <a:spcPts val="0"/>
              </a:spcAft>
            </a:pPr>
            <a:r>
              <a:rPr sz="1600" b="0" i="0">
                <a:solidFill>
                  <a:srgbClr val="1A1F1D"/>
                </a:solidFill>
                <a:latin typeface="Calibri"/>
              </a:rPr>
              <a:t>With the broken hash, a handful of sets absorbed 225x their fair share. Round-robin, blindly cycling ways, did an especially bad job there. “Protect anything hit once” looked like a win because it was rescuing those overloaded sets. Once the hash spreads load evenly, round-robin's baseline is already reasonable - pinning has nothing left to rescue.</a:t>
            </a:r>
          </a:p>
          <a:p>
            <a:pPr algn="l">
              <a:lnSpc>
                <a:spcPct val="140000"/>
              </a:lnSpc>
              <a:spcBef>
                <a:spcPts val="0"/>
              </a:spcBef>
              <a:spcAft>
                <a:spcPts val="0"/>
              </a:spcAft>
            </a:pPr>
            <a:r>
              <a:rPr sz="1550" b="1" i="0">
                <a:solidFill>
                  <a:srgbClr val="0E7C68"/>
                </a:solidFill>
                <a:latin typeface="Calibri"/>
              </a:rPr>
              <a:t>Why this matters: </a:t>
            </a:r>
            <a:r>
              <a:rPr sz="1550" b="0" i="0">
                <a:solidFill>
                  <a:srgbClr val="57615C"/>
                </a:solidFill>
                <a:latin typeface="Calibri"/>
              </a:rPr>
              <a:t>S4.1 (the next planned step) was a direct refinement of this same idea. Its entire empirical justification no longer holds once the hash bug is fixed - caught before writing S4.1's code, not after.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S4</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Likely questions</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036</a:t>
            </a:r>
          </a:p>
        </p:txBody>
      </p:sp>
      <p:sp>
        <p:nvSpPr>
          <p:cNvPr id="7" name="TextBox 6"/>
          <p:cNvSpPr txBox="1"/>
          <p:nvPr/>
        </p:nvSpPr>
        <p:spPr>
          <a:xfrm>
            <a:off x="548640" y="1737360"/>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0E7C68"/>
                </a:solidFill>
                <a:latin typeface="Consolas"/>
              </a:rPr>
              <a:t>Q  </a:t>
            </a:r>
            <a:r>
              <a:rPr sz="1350" b="1" i="1">
                <a:solidFill>
                  <a:srgbClr val="1A1F1D"/>
                </a:solidFill>
                <a:latin typeface="Calibri"/>
              </a:rPr>
              <a:t>How did this bug survive from S2 to S4 undetected?</a:t>
            </a:r>
          </a:p>
        </p:txBody>
      </p:sp>
      <p:sp>
        <p:nvSpPr>
          <p:cNvPr id="8" name="TextBox 7"/>
          <p:cNvSpPr txBox="1"/>
          <p:nvPr/>
        </p:nvSpPr>
        <p:spPr>
          <a:xfrm>
            <a:off x="548640" y="2084832"/>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450" b="0" i="0">
                <a:solidFill>
                  <a:srgbClr val="57615C"/>
                </a:solidFill>
                <a:latin typeface="Calibri"/>
              </a:rPr>
              <a:t>Every prior measurement was an external proxy (wall-clock, LLC-miss%) - none distinguish a low-hit-rate-but-working cache from an internally broken one. It took building instrumentation that looks inside the cache to see it.</a:t>
            </a:r>
          </a:p>
        </p:txBody>
      </p:sp>
      <p:sp>
        <p:nvSpPr>
          <p:cNvPr id="9" name="TextBox 8"/>
          <p:cNvSpPr txBox="1"/>
          <p:nvPr/>
        </p:nvSpPr>
        <p:spPr>
          <a:xfrm>
            <a:off x="548640" y="3072384"/>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0E7C68"/>
                </a:solidFill>
                <a:latin typeface="Consolas"/>
              </a:rPr>
              <a:t>Q  </a:t>
            </a:r>
            <a:r>
              <a:rPr sz="1350" b="1" i="1">
                <a:solidFill>
                  <a:srgbClr val="1A1F1D"/>
                </a:solidFill>
                <a:latin typeface="Calibri"/>
              </a:rPr>
              <a:t>Does the reversal mean the S2 finding was false?</a:t>
            </a:r>
          </a:p>
        </p:txBody>
      </p:sp>
      <p:sp>
        <p:nvSpPr>
          <p:cNvPr id="10" name="TextBox 9"/>
          <p:cNvSpPr txBox="1"/>
          <p:nvPr/>
        </p:nvSpPr>
        <p:spPr>
          <a:xfrm>
            <a:off x="548640" y="3419856"/>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450" b="0" i="0">
                <a:solidFill>
                  <a:srgbClr val="57615C"/>
                </a:solidFill>
                <a:latin typeface="Calibri"/>
              </a:rPr>
              <a:t>It was a real, honest measurement at the time - +25.2% was genuinely what the broken-hash code produced. What changed is why: not a real eviction-policy property, but a bug it happened to rescue.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S5</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Prefetch-batching - ported, merged, not yet measured</a:t>
            </a:r>
          </a:p>
        </p:txBody>
      </p:sp>
      <p:sp>
        <p:nvSpPr>
          <p:cNvPr id="5" name="Rounded Rectangle 4"/>
          <p:cNvSpPr/>
          <p:nvPr/>
        </p:nvSpPr>
        <p:spPr>
          <a:xfrm>
            <a:off x="9905695" y="987552"/>
            <a:ext cx="1669694" cy="292608"/>
          </a:xfrm>
          <a:prstGeom prst="roundRect">
            <a:avLst>
              <a:gd name="adj" fmla="val 50000"/>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9C7A1E"/>
                </a:solidFill>
                <a:latin typeface="Consolas"/>
              </a:rPr>
              <a:t>ZERO LUNA NUMBERS</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7" name="TextBox 6"/>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037</a:t>
            </a:r>
          </a:p>
        </p:txBody>
      </p:sp>
      <p:sp>
        <p:nvSpPr>
          <p:cNvPr id="8" name="TextBox 7"/>
          <p:cNvSpPr txBox="1"/>
          <p:nvPr/>
        </p:nvSpPr>
        <p:spPr>
          <a:xfrm>
            <a:off x="548640" y="173736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550" b="0" i="0">
                <a:solidFill>
                  <a:srgbClr val="1A1F1D"/>
                </a:solidFill>
                <a:latin typeface="Calibri"/>
              </a:rPr>
              <a:t>A collaborator (Chirag Suthar) independently built software prefetching directly on Get() - batching lookups so the CPU has multiple outstanding memory requests in flight instead of one at a time. A 7-agent debate recommended porting this as an addition to S4 - it targets the ~88-96% of lookups that MISS the cache regardless of eviction policy, which S1-S4's whole approach can't touch at all.</a:t>
            </a:r>
          </a:p>
        </p:txBody>
      </p:sp>
      <p:sp>
        <p:nvSpPr>
          <p:cNvPr id="9" name="TextBox 8"/>
          <p:cNvSpPr txBox="1"/>
          <p:nvPr/>
        </p:nvSpPr>
        <p:spPr>
          <a:xfrm>
            <a:off x="548640" y="4114800"/>
            <a:ext cx="11094415" cy="2286000"/>
          </a:xfrm>
          <a:prstGeom prst="rect">
            <a:avLst/>
          </a:prstGeom>
          <a:noFill/>
        </p:spPr>
        <p:txBody>
          <a:bodyPr wrap="square" lIns="0" rIns="0" tIns="0" bIns="0">
            <a:spAutoFit/>
          </a:bodyPr>
          <a:lstStyle/>
          <a:p>
            <a:pPr algn="l">
              <a:lnSpc>
                <a:spcPct val="115000"/>
              </a:lnSpc>
              <a:spcBef>
                <a:spcPts val="0"/>
              </a:spcBef>
              <a:spcAft>
                <a:spcPts val="0"/>
              </a:spcAft>
            </a:pPr>
            <a:r>
              <a:rPr sz="1500" b="1" i="0">
                <a:solidFill>
                  <a:srgbClr val="1A1F1D"/>
                </a:solidFill>
                <a:latin typeface="Calibri"/>
              </a:rPr>
              <a:t>Deliberately not citing his numbers as ours: </a:t>
            </a:r>
          </a:p>
          <a:p>
            <a:pPr algn="l">
              <a:lnSpc>
                <a:spcPct val="130000"/>
              </a:lnSpc>
              <a:spcBef>
                <a:spcPts val="0"/>
              </a:spcBef>
              <a:spcAft>
                <a:spcPts val="0"/>
              </a:spcAft>
            </a:pPr>
            <a:r>
              <a:rPr sz="1450" b="0" i="0">
                <a:solidFill>
                  <a:srgbClr val="57615C"/>
                </a:solidFill>
                <a:latin typeface="Calibri"/>
              </a:rPr>
              <a:t>his 3 same-day figures (-11.77%/-5.99%/-20.34%) disagreed with each other from a turbo-frequency artifact on his desktop; his machine has 16MB L3 vs. Luna's 105MB/socket, his DB behaves like our smallest one, and his patch targets an unmerged fork.</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S5</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The merge - not a flag-flip</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038</a:t>
            </a:r>
          </a:p>
        </p:txBody>
      </p:sp>
      <p:sp>
        <p:nvSpPr>
          <p:cNvPr id="7" name="TextBox 6"/>
          <p:cNvSpPr txBox="1"/>
          <p:nvPr/>
        </p:nvSpPr>
        <p:spPr>
          <a:xfrm>
            <a:off x="548640" y="169164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550" b="0" i="0">
                <a:solidFill>
                  <a:srgbClr val="1A1F1D"/>
                </a:solidFill>
                <a:latin typeface="Calibri"/>
              </a:rPr>
              <a:t>Suthar's patch re-declares last_minimizer/last_taxon as fresh locals in the exact scope S1.1 already promoted to thread_local. Applied blindly, it would have silently undone S1's fix. Reconciling this by hand was the real engineering effort.</a:t>
            </a:r>
          </a:p>
        </p:txBody>
      </p:sp>
      <p:sp>
        <p:nvSpPr>
          <p:cNvPr id="8" name="Rounded Rectangle 7"/>
          <p:cNvSpPr/>
          <p:nvPr/>
        </p:nvSpPr>
        <p:spPr>
          <a:xfrm>
            <a:off x="548640" y="2880360"/>
            <a:ext cx="11094415" cy="283464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 kv_store.h - two new methods on the lookup interface:</a:t>
            </a:r>
          </a:p>
          <a:p>
            <a:pPr>
              <a:lnSpc>
                <a:spcPct val="118000"/>
              </a:lnSpc>
            </a:pPr>
            <a:r>
              <a:rPr sz="1150">
                <a:solidFill>
                  <a:srgbClr val="F3F4F1"/>
                </a:solidFill>
                <a:latin typeface="Consolas"/>
              </a:rPr>
              <a:t>virtual hvalue_t GetWithHash(hkey_t key, uint64_t hc) const = 0;</a:t>
            </a:r>
          </a:p>
          <a:p>
            <a:pPr>
              <a:lnSpc>
                <a:spcPct val="118000"/>
              </a:lnSpc>
            </a:pPr>
            <a:r>
              <a:rPr sz="1150">
                <a:solidFill>
                  <a:srgbClr val="F3F4F1"/>
                </a:solidFill>
                <a:latin typeface="Consolas"/>
              </a:rPr>
              <a:t>virtual void Prefetch(uint64_t hc) const = 0;</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 compact_hash.cc - Get() becomes a wrapper; probe logic byte-identical:</a:t>
            </a:r>
          </a:p>
          <a:p>
            <a:pPr>
              <a:lnSpc>
                <a:spcPct val="118000"/>
              </a:lnSpc>
            </a:pPr>
            <a:r>
              <a:rPr sz="1150">
                <a:solidFill>
                  <a:srgbClr val="F3F4F1"/>
                </a:solidFill>
                <a:latin typeface="Consolas"/>
              </a:rPr>
              <a:t>hvalue_t CompactHashTable::Get(hkey_t key) const {</a:t>
            </a:r>
          </a:p>
          <a:p>
            <a:pPr>
              <a:lnSpc>
                <a:spcPct val="118000"/>
              </a:lnSpc>
            </a:pPr>
            <a:r>
              <a:rPr sz="1150">
                <a:solidFill>
                  <a:srgbClr val="F3F4F1"/>
                </a:solidFill>
                <a:latin typeface="Consolas"/>
              </a:rPr>
              <a:t>  return GetWithHash(key, MurmurHash3(key));</a:t>
            </a:r>
          </a:p>
          <a:p>
            <a:pPr>
              <a:lnSpc>
                <a:spcPct val="118000"/>
              </a:lnSpc>
            </a:pPr>
            <a:r>
              <a:rPr sz="1150">
                <a:solidFill>
                  <a:srgbClr val="F3F4F1"/>
                </a:solidFill>
                <a:latin typeface="Consolas"/>
              </a:rPr>
              <a:t>}</a:t>
            </a:r>
          </a:p>
          <a:p>
            <a:pPr>
              <a:lnSpc>
                <a:spcPct val="118000"/>
              </a:lnSpc>
            </a:pPr>
            <a:r>
              <a:rPr sz="1150">
                <a:solidFill>
                  <a:srgbClr val="F3F4F1"/>
                </a:solidFill>
                <a:latin typeface="Consolas"/>
              </a:rPr>
              <a:t>void CompactHashTable::Prefetch(uint64_t hc) const {</a:t>
            </a:r>
          </a:p>
          <a:p>
            <a:pPr>
              <a:lnSpc>
                <a:spcPct val="118000"/>
              </a:lnSpc>
            </a:pPr>
            <a:r>
              <a:rPr sz="1150">
                <a:solidFill>
                  <a:srgbClr val="F3F4F1"/>
                </a:solidFill>
                <a:latin typeface="Consolas"/>
              </a:rPr>
              <a:t>  __builtin_prefetch(&amp;table_[hc % capacity_], 0, 3);</a:t>
            </a:r>
          </a:p>
          <a:p>
            <a:pPr>
              <a:lnSpc>
                <a:spcPct val="118000"/>
              </a:lnSpc>
            </a:pPr>
            <a:r>
              <a:rPr sz="1150">
                <a:solidFill>
                  <a:srgbClr val="F3F4F1"/>
                </a:solidFill>
                <a:latin typeface="Consolas"/>
              </a:rPr>
              <a: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S5</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The two-pass loop</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039</a:t>
            </a:r>
          </a:p>
        </p:txBody>
      </p:sp>
      <p:sp>
        <p:nvSpPr>
          <p:cNvPr id="7" name="Rounded Rectangle 6"/>
          <p:cNvSpPr/>
          <p:nvPr/>
        </p:nvSpPr>
        <p:spPr>
          <a:xfrm>
            <a:off x="548640" y="1645920"/>
            <a:ext cx="11094415" cy="329184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struct PfSlot { uint64_t min; uint64_t hc; bool amb; };</a:t>
            </a:r>
          </a:p>
          <a:p>
            <a:pPr>
              <a:lnSpc>
                <a:spcPct val="118000"/>
              </a:lnSpc>
            </a:pPr>
            <a:r>
              <a:rPr sz="1150">
                <a:solidFill>
                  <a:srgbClr val="F3F4F1"/>
                </a:solidFill>
                <a:latin typeface="Consolas"/>
              </a:rPr>
              <a:t>PfSlot pf[64];   // -B batch size, 1..64. -B 1 = exact stock behavior.</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 pass 1: scan a batch, hash it, start the memory fetches</a:t>
            </a:r>
          </a:p>
          <a:p>
            <a:pPr>
              <a:lnSpc>
                <a:spcPct val="118000"/>
              </a:lnSpc>
            </a:pPr>
            <a:r>
              <a:rPr sz="1150">
                <a:solidFill>
                  <a:srgbClr val="F3F4F1"/>
                </a:solidFill>
                <a:latin typeface="Consolas"/>
              </a:rPr>
              <a:t>while (n_pf &lt; la_batch) {</a:t>
            </a:r>
          </a:p>
          <a:p>
            <a:pPr>
              <a:lnSpc>
                <a:spcPct val="118000"/>
              </a:lnSpc>
            </a:pPr>
            <a:r>
              <a:rPr sz="1150">
                <a:solidFill>
                  <a:srgbClr val="F3F4F1"/>
                </a:solidFill>
                <a:latin typeface="Consolas"/>
              </a:rPr>
              <a:t>  pf[n_pf].min = *scanner.NextMinimizer();</a:t>
            </a:r>
          </a:p>
          <a:p>
            <a:pPr>
              <a:lnSpc>
                <a:spcPct val="118000"/>
              </a:lnSpc>
            </a:pPr>
            <a:r>
              <a:rPr sz="1150">
                <a:solidFill>
                  <a:srgbClr val="F3F4F1"/>
                </a:solidFill>
                <a:latin typeface="Consolas"/>
              </a:rPr>
              <a:t>  pf[n_pf].hc = MurmurHash3(pf[n_pf].min);</a:t>
            </a:r>
          </a:p>
          <a:p>
            <a:pPr>
              <a:lnSpc>
                <a:spcPct val="118000"/>
              </a:lnSpc>
            </a:pPr>
            <a:r>
              <a:rPr sz="1150">
                <a:solidFill>
                  <a:srgbClr val="F3F4F1"/>
                </a:solidFill>
                <a:latin typeface="Consolas"/>
              </a:rPr>
              <a:t>  hash-&gt;Prefetch(pf[n_pf].hc);</a:t>
            </a:r>
          </a:p>
          <a:p>
            <a:pPr>
              <a:lnSpc>
                <a:spcPct val="118000"/>
              </a:lnSpc>
            </a:pPr>
            <a:r>
              <a:rPr sz="1150">
                <a:solidFill>
                  <a:srgbClr val="F3F4F1"/>
                </a:solidFill>
                <a:latin typeface="Consolas"/>
              </a:rPr>
              <a:t>  n_pf++;</a:t>
            </a:r>
          </a:p>
          <a:p>
            <a:pPr>
              <a:lnSpc>
                <a:spcPct val="118000"/>
              </a:lnSpc>
            </a:pPr>
            <a:r>
              <a:rPr sz="1150">
                <a:solidFill>
                  <a:srgbClr val="F3F4F1"/>
                </a:solidFill>
                <a:latin typeface="Consolas"/>
              </a:rPr>
              <a:t>}</a:t>
            </a:r>
          </a:p>
          <a:p>
            <a:pPr>
              <a:lnSpc>
                <a:spcPct val="118000"/>
              </a:lnSpc>
            </a:pPr>
            <a:r>
              <a:rPr sz="1150">
                <a:solidFill>
                  <a:srgbClr val="F3F4F1"/>
                </a:solidFill>
                <a:latin typeface="Consolas"/>
              </a:rPr>
              <a:t>// pass 2: resolve in original order - fetches have had time to land</a:t>
            </a:r>
          </a:p>
          <a:p>
            <a:pPr>
              <a:lnSpc>
                <a:spcPct val="118000"/>
              </a:lnSpc>
            </a:pPr>
            <a:r>
              <a:rPr sz="1150">
                <a:solidFill>
                  <a:srgbClr val="F3F4F1"/>
                </a:solidFill>
                <a:latin typeface="Consolas"/>
              </a:rPr>
              <a:t>for (pf_i = 0; pf_i &lt; n_pf; pf_i++) {</a:t>
            </a:r>
          </a:p>
          <a:p>
            <a:pPr>
              <a:lnSpc>
                <a:spcPct val="118000"/>
              </a:lnSpc>
            </a:pPr>
            <a:r>
              <a:rPr sz="1150">
                <a:solidFill>
                  <a:srgbClr val="F3F4F1"/>
                </a:solidFill>
                <a:latin typeface="Consolas"/>
              </a:rPr>
              <a:t>  if (pf[pf_i].min != s1_last_minimizer) {   // SAME thread_local as S1</a:t>
            </a:r>
          </a:p>
          <a:p>
            <a:pPr>
              <a:lnSpc>
                <a:spcPct val="118000"/>
              </a:lnSpc>
            </a:pPr>
            <a:r>
              <a:rPr sz="1150">
                <a:solidFill>
                  <a:srgbClr val="F3F4F1"/>
                </a:solidFill>
                <a:latin typeface="Consolas"/>
              </a:rPr>
              <a:t>    if (! S2Lookup(pf[pf_i].min, pf[pf_i].hc, &amp;taxon))</a:t>
            </a:r>
          </a:p>
          <a:p>
            <a:pPr>
              <a:lnSpc>
                <a:spcPct val="118000"/>
              </a:lnSpc>
            </a:pPr>
            <a:r>
              <a:rPr sz="1150">
                <a:solidFill>
                  <a:srgbClr val="F3F4F1"/>
                </a:solidFill>
                <a:latin typeface="Consolas"/>
              </a:rPr>
              <a:t>      taxon = hash-&gt;GetWithHash(pf[pf_i].min, pf[pf_i].hc);</a:t>
            </a:r>
          </a:p>
          <a:p>
            <a:pPr>
              <a:lnSpc>
                <a:spcPct val="118000"/>
              </a:lnSpc>
            </a:pPr>
            <a:r>
              <a:rPr sz="1150">
                <a:solidFill>
                  <a:srgbClr val="F3F4F1"/>
                </a:solidFill>
                <a:latin typeface="Consolas"/>
              </a:rPr>
              <a:t>    s1_last_minimizer = pf[pf_i].min;         // untouched, not shadowed</a:t>
            </a:r>
          </a:p>
          <a:p>
            <a:pPr>
              <a:lnSpc>
                <a:spcPct val="118000"/>
              </a:lnSpc>
            </a:pPr>
            <a:r>
              <a:rPr sz="1150">
                <a:solidFill>
                  <a:srgbClr val="F3F4F1"/>
                </a:solidFill>
                <a:latin typeface="Consolas"/>
              </a:rPr>
              <a:t>  }</a:t>
            </a:r>
          </a:p>
          <a:p>
            <a:pPr>
              <a:lnSpc>
                <a:spcPct val="118000"/>
              </a:lnSpc>
            </a:pPr>
            <a:r>
              <a:rPr sz="1150">
                <a:solidFill>
                  <a:srgbClr val="F3F4F1"/>
                </a:solidFill>
                <a:latin typeface="Consolas"/>
              </a:rPr>
              <a:t>}</a:t>
            </a:r>
          </a:p>
        </p:txBody>
      </p:sp>
      <p:sp>
        <p:nvSpPr>
          <p:cNvPr id="8" name="TextBox 7"/>
          <p:cNvSpPr txBox="1"/>
          <p:nvPr/>
        </p:nvSpPr>
        <p:spPr>
          <a:xfrm>
            <a:off x="548640" y="5074920"/>
            <a:ext cx="11094415" cy="457200"/>
          </a:xfrm>
          <a:prstGeom prst="rect">
            <a:avLst/>
          </a:prstGeom>
          <a:noFill/>
        </p:spPr>
        <p:txBody>
          <a:bodyPr wrap="square" lIns="0" rIns="0" tIns="0" bIns="0">
            <a:spAutoFit/>
          </a:bodyPr>
          <a:lstStyle/>
          <a:p>
            <a:pPr algn="l">
              <a:lnSpc>
                <a:spcPct val="115000"/>
              </a:lnSpc>
              <a:spcBef>
                <a:spcPts val="0"/>
              </a:spcBef>
              <a:spcAft>
                <a:spcPts val="0"/>
              </a:spcAft>
            </a:pPr>
            <a:r>
              <a:rPr sz="1300" b="0" i="1">
                <a:solidFill>
                  <a:srgbClr val="57615C"/>
                </a:solidFill>
                <a:latin typeface="Calibri"/>
              </a:rPr>
              <a:t>s1_last_minimizer/s1_last_taxon are the SAME thread_local variables S1.1 created - just fed the batch-captured value instead of the scanner's live position.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S5</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What's not yet done, and how it will be measured</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040</a:t>
            </a:r>
          </a:p>
        </p:txBody>
      </p:sp>
      <p:sp>
        <p:nvSpPr>
          <p:cNvPr id="7" name="TextBox 6"/>
          <p:cNvSpPr txBox="1"/>
          <p:nvPr/>
        </p:nvSpPr>
        <p:spPr>
          <a:xfrm>
            <a:off x="548640" y="173736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550" b="0" i="0">
                <a:solidFill>
                  <a:srgbClr val="1A1F1D"/>
                </a:solidFill>
                <a:latin typeface="Calibri"/>
              </a:rPr>
              <a:t>Every minimizer in a batch gets hashed/prefetched unconditionally, even repeats. Prefetch() only touches the first probe address, not a full collision chain. No results exist yet - the sweep has never run on Luna.</a:t>
            </a:r>
          </a:p>
        </p:txBody>
      </p:sp>
      <p:sp>
        <p:nvSpPr>
          <p:cNvPr id="8" name="Rounded Rectangle 7"/>
          <p:cNvSpPr/>
          <p:nvPr/>
        </p:nvSpPr>
        <p:spPr>
          <a:xfrm>
            <a:off x="548640" y="3017520"/>
            <a:ext cx="11094415" cy="109728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tmux new -s s5sweep</a:t>
            </a:r>
          </a:p>
          <a:p>
            <a:pPr>
              <a:lnSpc>
                <a:spcPct val="118000"/>
              </a:lnSpc>
            </a:pPr>
            <a:r>
              <a:rPr sz="1150">
                <a:solidFill>
                  <a:srgbClr val="F3F4F1"/>
                </a:solidFill>
                <a:latin typeface="Consolas"/>
              </a:rPr>
              <a:t>python3 compare_s5_0_prefetch_sweep.py | tee ~/s5_0_prefetch_sweep.txt</a:t>
            </a:r>
          </a:p>
          <a:p>
            <a:pPr>
              <a:lnSpc>
                <a:spcPct val="118000"/>
              </a:lnSpc>
            </a:pPr>
            <a:r>
              <a:rPr sz="1150">
                <a:solidFill>
                  <a:srgbClr val="F3F4F1"/>
                </a:solidFill>
                <a:latin typeface="Consolas"/>
              </a:rPr>
              <a:t># 3 DBs x 6 threads x 5 batch sizes x 3 reps = 270 runs, a few hours</a:t>
            </a:r>
          </a:p>
        </p:txBody>
      </p:sp>
      <p:sp>
        <p:nvSpPr>
          <p:cNvPr id="9" name="TextBox 8"/>
          <p:cNvSpPr txBox="1"/>
          <p:nvPr/>
        </p:nvSpPr>
        <p:spPr>
          <a:xfrm>
            <a:off x="548640" y="4434840"/>
            <a:ext cx="11094415" cy="1371600"/>
          </a:xfrm>
          <a:prstGeom prst="rect">
            <a:avLst/>
          </a:prstGeom>
          <a:noFill/>
        </p:spPr>
        <p:txBody>
          <a:bodyPr wrap="square" lIns="0" rIns="0" tIns="0" bIns="0">
            <a:spAutoFit/>
          </a:bodyPr>
          <a:lstStyle/>
          <a:p>
            <a:pPr algn="l">
              <a:lnSpc>
                <a:spcPct val="130000"/>
              </a:lnSpc>
              <a:spcBef>
                <a:spcPts val="0"/>
              </a:spcBef>
              <a:spcAft>
                <a:spcPts val="0"/>
              </a:spcAft>
            </a:pPr>
            <a:r>
              <a:rPr sz="1450" b="0" i="1">
                <a:solidFill>
                  <a:srgbClr val="57615C"/>
                </a:solidFill>
                <a:latin typeface="Calibri"/>
              </a:rPr>
              <a:t>One real gotcha already found: the sweep calls classify directly, not the kraken2 wrapper - the wrapper's parser has no idea what -B means and silently misrouted it as an input filename on first attempt.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S5</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Likely questions</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041</a:t>
            </a:r>
          </a:p>
        </p:txBody>
      </p:sp>
      <p:sp>
        <p:nvSpPr>
          <p:cNvPr id="7" name="TextBox 6"/>
          <p:cNvSpPr txBox="1"/>
          <p:nvPr/>
        </p:nvSpPr>
        <p:spPr>
          <a:xfrm>
            <a:off x="548640" y="1737360"/>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0E7C68"/>
                </a:solidFill>
                <a:latin typeface="Consolas"/>
              </a:rPr>
              <a:t>Q  </a:t>
            </a:r>
            <a:r>
              <a:rPr sz="1350" b="1" i="1">
                <a:solidFill>
                  <a:srgbClr val="1A1F1D"/>
                </a:solidFill>
                <a:latin typeface="Calibri"/>
              </a:rPr>
              <a:t>Why should this work when the cache (S1-S4) didn't?</a:t>
            </a:r>
          </a:p>
        </p:txBody>
      </p:sp>
      <p:sp>
        <p:nvSpPr>
          <p:cNvPr id="8" name="TextBox 7"/>
          <p:cNvSpPr txBox="1"/>
          <p:nvPr/>
        </p:nvSpPr>
        <p:spPr>
          <a:xfrm>
            <a:off x="548640" y="2084832"/>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450" b="0" i="0">
                <a:solidFill>
                  <a:srgbClr val="57615C"/>
                </a:solidFill>
                <a:latin typeface="Calibri"/>
              </a:rPr>
              <a:t>It targets a completely different slice: even in the best case, over 96% of lookups on the DBs that matter still miss the cache and pay full price. Prefetching makes ALL of them cheaper by overlapping wait time, rather than trying to avoid them.</a:t>
            </a:r>
          </a:p>
        </p:txBody>
      </p:sp>
      <p:sp>
        <p:nvSpPr>
          <p:cNvPr id="9" name="TextBox 8"/>
          <p:cNvSpPr txBox="1"/>
          <p:nvPr/>
        </p:nvSpPr>
        <p:spPr>
          <a:xfrm>
            <a:off x="548640" y="3072384"/>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0E7C68"/>
                </a:solidFill>
                <a:latin typeface="Consolas"/>
              </a:rPr>
              <a:t>Q  </a:t>
            </a:r>
            <a:r>
              <a:rPr sz="1350" b="1" i="1">
                <a:solidFill>
                  <a:srgbClr val="1A1F1D"/>
                </a:solidFill>
                <a:latin typeface="Calibri"/>
              </a:rPr>
              <a:t>What's the risk if it doesn't pan out?</a:t>
            </a:r>
          </a:p>
        </p:txBody>
      </p:sp>
      <p:sp>
        <p:nvSpPr>
          <p:cNvPr id="10" name="TextBox 9"/>
          <p:cNvSpPr txBox="1"/>
          <p:nvPr/>
        </p:nvSpPr>
        <p:spPr>
          <a:xfrm>
            <a:off x="548640" y="3419856"/>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450" b="0" i="0">
                <a:solidFill>
                  <a:srgbClr val="57615C"/>
                </a:solidFill>
                <a:latin typeface="Calibri"/>
              </a:rPr>
              <a:t>Low - rated the lowest crash risk of any Track A step so far (a small ~1-2KB stack array, nowhere near the scale that caused the S2/S3 crash). A null result here is clean and reportable.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THE RIGOR BEHIND IT</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Four structured reviews, each caught something real</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042</a:t>
            </a:r>
          </a:p>
        </p:txBody>
      </p:sp>
      <p:sp>
        <p:nvSpPr>
          <p:cNvPr id="7" name="TextBox 6"/>
          <p:cNvSpPr txBox="1"/>
          <p:nvPr/>
        </p:nvSpPr>
        <p:spPr>
          <a:xfrm>
            <a:off x="548640" y="173736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600" b="0" i="0">
                <a:solidFill>
                  <a:srgbClr val="1A1F1D"/>
                </a:solidFill>
                <a:latin typeface="Calibri"/>
              </a:rPr>
              <a:t>Across two weeks, four separate multi-agent review exercises ran - an audit and three debates. Each used the same shape: multiple independent agents read the same sources with zero visibility into each other's work, cross-examine in a second round, then converge on a consensus-or-documented-disagreement report. Sir cares about rigor as much as results - this is the process story, not just the bug list.</a:t>
            </a:r>
          </a:p>
        </p:txBody>
      </p:sp>
      <p:graphicFrame>
        <p:nvGraphicFramePr>
          <p:cNvPr id="8" name="Table 7"/>
          <p:cNvGraphicFramePr>
            <a:graphicFrameLocks noGrp="1"/>
          </p:cNvGraphicFramePr>
          <p:nvPr/>
        </p:nvGraphicFramePr>
        <p:xfrm>
          <a:off x="548640" y="3657600"/>
          <a:ext cx="11094414" cy="2377440"/>
        </p:xfrm>
        <a:graphic>
          <a:graphicData uri="http://schemas.openxmlformats.org/drawingml/2006/table">
            <a:tbl>
              <a:tblPr firstRow="0" bandRow="0">
                <a:tableStyleId>{2D5ABB26-0587-4C30-8999-92F81FD0307C}</a:tableStyleId>
              </a:tblPr>
              <a:tblGrid>
                <a:gridCol w="3106436"/>
                <a:gridCol w="2440771"/>
                <a:gridCol w="5547207"/>
              </a:tblGrid>
              <a:tr h="475488">
                <a:tc>
                  <a:txBody>
                    <a:bodyPr/>
                    <a:lstStyle/>
                    <a:p>
                      <a:r>
                        <a:rPr sz="1250" b="1">
                          <a:solidFill>
                            <a:srgbClr val="F3F4F1"/>
                          </a:solidFill>
                          <a:latin typeface="Consolas"/>
                        </a:rPr>
                        <a:t>Review</a:t>
                      </a:r>
                    </a:p>
                  </a:txBody>
                  <a:tcPr marL="73152" marR="73152" marT="18288" marB="18288" anchor="ctr">
                    <a:solidFill>
                      <a:srgbClr val="1A1F1D"/>
                    </a:solidFill>
                  </a:tcPr>
                </a:tc>
                <a:tc>
                  <a:txBody>
                    <a:bodyPr/>
                    <a:lstStyle/>
                    <a:p>
                      <a:r>
                        <a:rPr sz="1250" b="1">
                          <a:solidFill>
                            <a:srgbClr val="F3F4F1"/>
                          </a:solidFill>
                          <a:latin typeface="Consolas"/>
                        </a:rPr>
                        <a:t>Format</a:t>
                      </a:r>
                    </a:p>
                  </a:txBody>
                  <a:tcPr marL="73152" marR="73152" marT="18288" marB="18288" anchor="ctr">
                    <a:solidFill>
                      <a:srgbClr val="1A1F1D"/>
                    </a:solidFill>
                  </a:tcPr>
                </a:tc>
                <a:tc>
                  <a:txBody>
                    <a:bodyPr/>
                    <a:lstStyle/>
                    <a:p>
                      <a:r>
                        <a:rPr sz="1250" b="1">
                          <a:solidFill>
                            <a:srgbClr val="F3F4F1"/>
                          </a:solidFill>
                          <a:latin typeface="Consolas"/>
                        </a:rPr>
                        <a:t>What it caught</a:t>
                      </a:r>
                    </a:p>
                  </a:txBody>
                  <a:tcPr marL="73152" marR="73152" marT="18288" marB="18288" anchor="ctr">
                    <a:solidFill>
                      <a:srgbClr val="1A1F1D"/>
                    </a:solidFill>
                  </a:tcPr>
                </a:tc>
              </a:tr>
              <a:tr h="475488">
                <a:tc>
                  <a:txBody>
                    <a:bodyPr/>
                    <a:lstStyle/>
                    <a:p>
                      <a:r>
                        <a:rPr sz="1300">
                          <a:solidFill>
                            <a:srgbClr val="1A1F1D"/>
                          </a:solidFill>
                          <a:latin typeface="Consolas"/>
                        </a:rPr>
                        <a:t>S1/S2 verification audit</a:t>
                      </a:r>
                    </a:p>
                  </a:txBody>
                  <a:tcPr marL="73152" marR="73152" marT="18288" marB="18288" anchor="ctr">
                    <a:solidFill>
                      <a:srgbClr val="FFFFFF"/>
                    </a:solidFill>
                  </a:tcPr>
                </a:tc>
                <a:tc>
                  <a:txBody>
                    <a:bodyPr/>
                    <a:lstStyle/>
                    <a:p>
                      <a:r>
                        <a:rPr sz="1300">
                          <a:solidFill>
                            <a:srgbClr val="1A1F1D"/>
                          </a:solidFill>
                          <a:latin typeface="Consolas"/>
                        </a:rPr>
                        <a:t>5 agents, 3 rounds</a:t>
                      </a:r>
                    </a:p>
                  </a:txBody>
                  <a:tcPr marL="73152" marR="73152" marT="18288" marB="18288" anchor="ctr">
                    <a:solidFill>
                      <a:srgbClr val="FFFFFF"/>
                    </a:solidFill>
                  </a:tcPr>
                </a:tc>
                <a:tc>
                  <a:txBody>
                    <a:bodyPr/>
                    <a:lstStyle/>
                    <a:p>
                      <a:r>
                        <a:rPr sz="1300">
                          <a:solidFill>
                            <a:srgbClr val="1A1F1D"/>
                          </a:solidFill>
                          <a:latin typeface="Consolas"/>
                        </a:rPr>
                        <a:t>The nesting bug, missing checks/instrumentation</a:t>
                      </a:r>
                    </a:p>
                  </a:txBody>
                  <a:tcPr marL="73152" marR="73152" marT="18288" marB="18288" anchor="ctr">
                    <a:solidFill>
                      <a:srgbClr val="FFFFFF"/>
                    </a:solidFill>
                  </a:tcPr>
                </a:tc>
              </a:tr>
              <a:tr h="475488">
                <a:tc>
                  <a:txBody>
                    <a:bodyPr/>
                    <a:lstStyle/>
                    <a:p>
                      <a:r>
                        <a:rPr sz="1300">
                          <a:solidFill>
                            <a:srgbClr val="1A1F1D"/>
                          </a:solidFill>
                          <a:latin typeface="Consolas"/>
                        </a:rPr>
                        <a:t>S3/S4 design debate</a:t>
                      </a:r>
                    </a:p>
                  </a:txBody>
                  <a:tcPr marL="73152" marR="73152" marT="18288" marB="18288" anchor="ctr">
                    <a:solidFill>
                      <a:srgbClr val="F3F4F1"/>
                    </a:solidFill>
                  </a:tcPr>
                </a:tc>
                <a:tc>
                  <a:txBody>
                    <a:bodyPr/>
                    <a:lstStyle/>
                    <a:p>
                      <a:r>
                        <a:rPr sz="1300">
                          <a:solidFill>
                            <a:srgbClr val="1A1F1D"/>
                          </a:solidFill>
                          <a:latin typeface="Consolas"/>
                        </a:rPr>
                        <a:t>5 agents, 3 rounds</a:t>
                      </a:r>
                    </a:p>
                  </a:txBody>
                  <a:tcPr marL="73152" marR="73152" marT="18288" marB="18288" anchor="ctr">
                    <a:solidFill>
                      <a:srgbClr val="F3F4F1"/>
                    </a:solidFill>
                  </a:tcPr>
                </a:tc>
                <a:tc>
                  <a:txBody>
                    <a:bodyPr/>
                    <a:lstStyle/>
                    <a:p>
                      <a:r>
                        <a:rPr sz="1300">
                          <a:solidFill>
                            <a:srgbClr val="1A1F1D"/>
                          </a:solidFill>
                          <a:latin typeface="Consolas"/>
                        </a:rPr>
                        <a:t>210MB-&gt;105MB correction; flagged hash-mixing pre-req</a:t>
                      </a:r>
                    </a:p>
                  </a:txBody>
                  <a:tcPr marL="73152" marR="73152" marT="18288" marB="18288" anchor="ctr">
                    <a:solidFill>
                      <a:srgbClr val="F3F4F1"/>
                    </a:solidFill>
                  </a:tcPr>
                </a:tc>
              </a:tr>
              <a:tr h="475488">
                <a:tc>
                  <a:txBody>
                    <a:bodyPr/>
                    <a:lstStyle/>
                    <a:p>
                      <a:r>
                        <a:rPr sz="1300">
                          <a:solidFill>
                            <a:srgbClr val="1A1F1D"/>
                          </a:solidFill>
                          <a:latin typeface="Consolas"/>
                        </a:rPr>
                        <a:t>Two-thesis strategy debate</a:t>
                      </a:r>
                    </a:p>
                  </a:txBody>
                  <a:tcPr marL="73152" marR="73152" marT="18288" marB="18288" anchor="ctr">
                    <a:solidFill>
                      <a:srgbClr val="FFFFFF"/>
                    </a:solidFill>
                  </a:tcPr>
                </a:tc>
                <a:tc>
                  <a:txBody>
                    <a:bodyPr/>
                    <a:lstStyle/>
                    <a:p>
                      <a:r>
                        <a:rPr sz="1300">
                          <a:solidFill>
                            <a:srgbClr val="1A1F1D"/>
                          </a:solidFill>
                          <a:latin typeface="Consolas"/>
                        </a:rPr>
                        <a:t>5 agents, 3 rounds</a:t>
                      </a:r>
                    </a:p>
                  </a:txBody>
                  <a:tcPr marL="73152" marR="73152" marT="18288" marB="18288" anchor="ctr">
                    <a:solidFill>
                      <a:srgbClr val="FFFFFF"/>
                    </a:solidFill>
                  </a:tcPr>
                </a:tc>
                <a:tc>
                  <a:txBody>
                    <a:bodyPr/>
                    <a:lstStyle/>
                    <a:p>
                      <a:r>
                        <a:rPr sz="1300">
                          <a:solidFill>
                            <a:srgbClr val="1A1F1D"/>
                          </a:solidFill>
                          <a:latin typeface="Consolas"/>
                        </a:rPr>
                        <a:t>B2 doesn't need B1; ESKAPE ceiling is structural</a:t>
                      </a:r>
                    </a:p>
                  </a:txBody>
                  <a:tcPr marL="73152" marR="73152" marT="18288" marB="18288" anchor="ctr">
                    <a:solidFill>
                      <a:srgbClr val="FFFFFF"/>
                    </a:solidFill>
                  </a:tcPr>
                </a:tc>
              </a:tr>
              <a:tr h="475488">
                <a:tc>
                  <a:txBody>
                    <a:bodyPr/>
                    <a:lstStyle/>
                    <a:p>
                      <a:r>
                        <a:rPr sz="1300">
                          <a:solidFill>
                            <a:srgbClr val="1A1F1D"/>
                          </a:solidFill>
                          <a:latin typeface="Consolas"/>
                        </a:rPr>
                        <a:t>Track A pivot debate</a:t>
                      </a:r>
                    </a:p>
                  </a:txBody>
                  <a:tcPr marL="73152" marR="73152" marT="18288" marB="18288" anchor="ctr">
                    <a:solidFill>
                      <a:srgbClr val="F3F4F1"/>
                    </a:solidFill>
                  </a:tcPr>
                </a:tc>
                <a:tc>
                  <a:txBody>
                    <a:bodyPr/>
                    <a:lstStyle/>
                    <a:p>
                      <a:r>
                        <a:rPr sz="1300">
                          <a:solidFill>
                            <a:srgbClr val="1A1F1D"/>
                          </a:solidFill>
                          <a:latin typeface="Consolas"/>
                        </a:rPr>
                        <a:t>7 agents + coordinator</a:t>
                      </a:r>
                    </a:p>
                  </a:txBody>
                  <a:tcPr marL="73152" marR="73152" marT="18288" marB="18288" anchor="ctr">
                    <a:solidFill>
                      <a:srgbClr val="F3F4F1"/>
                    </a:solidFill>
                  </a:tcPr>
                </a:tc>
                <a:tc>
                  <a:txBody>
                    <a:bodyPr/>
                    <a:lstStyle/>
                    <a:p>
                      <a:r>
                        <a:rPr sz="1300">
                          <a:solidFill>
                            <a:srgbClr val="1A1F1D"/>
                          </a:solidFill>
                          <a:latin typeface="Consolas"/>
                        </a:rPr>
                        <a:t>S4.1 basis reversal; prefetch recommendation</a:t>
                      </a:r>
                    </a:p>
                  </a:txBody>
                  <a:tcPr marL="73152" marR="73152" marT="18288" marB="18288" anchor="ctr">
                    <a:solidFill>
                      <a:srgbClr val="F3F4F1"/>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REVIEW 1</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S1/S2 verification audit - 2026-08-26</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043</a:t>
            </a:r>
          </a:p>
        </p:txBody>
      </p:sp>
      <p:sp>
        <p:nvSpPr>
          <p:cNvPr id="7" name="TextBox 6"/>
          <p:cNvSpPr txBox="1"/>
          <p:nvPr/>
        </p:nvSpPr>
        <p:spPr>
          <a:xfrm>
            <a:off x="548640" y="169164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550" b="0" i="0">
                <a:solidFill>
                  <a:srgbClr val="1A1F1D"/>
                </a:solidFill>
                <a:latin typeface="Calibri"/>
              </a:rPr>
              <a:t>A fresh Claude session, zero memory of building S1/S2, told explicitly not to trust the brief's own summary. 6-item checklist required before trusting anything past it - every single item was executed and closed before S3 design work proceeded.</a:t>
            </a:r>
          </a:p>
        </p:txBody>
      </p:sp>
      <p:graphicFrame>
        <p:nvGraphicFramePr>
          <p:cNvPr id="8" name="Table 7"/>
          <p:cNvGraphicFramePr>
            <a:graphicFrameLocks noGrp="1"/>
          </p:cNvGraphicFramePr>
          <p:nvPr/>
        </p:nvGraphicFramePr>
        <p:xfrm>
          <a:off x="548640" y="2880360"/>
          <a:ext cx="11094414" cy="2743200"/>
        </p:xfrm>
        <a:graphic>
          <a:graphicData uri="http://schemas.openxmlformats.org/drawingml/2006/table">
            <a:tbl>
              <a:tblPr firstRow="0" bandRow="0">
                <a:tableStyleId>{2D5ABB26-0587-4C30-8999-92F81FD0307C}</a:tableStyleId>
              </a:tblPr>
              <a:tblGrid>
                <a:gridCol w="1109441"/>
                <a:gridCol w="9984973"/>
              </a:tblGrid>
              <a:tr h="685800">
                <a:tc>
                  <a:txBody>
                    <a:bodyPr/>
                    <a:lstStyle/>
                    <a:p>
                      <a:r>
                        <a:rPr sz="1200" b="1">
                          <a:solidFill>
                            <a:srgbClr val="F3F4F1"/>
                          </a:solidFill>
                          <a:latin typeface="Consolas"/>
                        </a:rPr>
                        <a:t>Q</a:t>
                      </a:r>
                    </a:p>
                  </a:txBody>
                  <a:tcPr marL="73152" marR="73152" marT="18288" marB="18288" anchor="ctr">
                    <a:solidFill>
                      <a:srgbClr val="1A1F1D"/>
                    </a:solidFill>
                  </a:tcPr>
                </a:tc>
                <a:tc>
                  <a:txBody>
                    <a:bodyPr/>
                    <a:lstStyle/>
                    <a:p>
                      <a:r>
                        <a:rPr sz="1200" b="1">
                          <a:solidFill>
                            <a:srgbClr val="F3F4F1"/>
                          </a:solidFill>
                          <a:latin typeface="Consolas"/>
                        </a:rPr>
                        <a:t>Verdict</a:t>
                      </a:r>
                    </a:p>
                  </a:txBody>
                  <a:tcPr marL="73152" marR="73152" marT="18288" marB="18288" anchor="ctr">
                    <a:solidFill>
                      <a:srgbClr val="1A1F1D"/>
                    </a:solidFill>
                  </a:tcPr>
                </a:tc>
              </a:tr>
              <a:tr h="685800">
                <a:tc>
                  <a:txBody>
                    <a:bodyPr/>
                    <a:lstStyle/>
                    <a:p>
                      <a:r>
                        <a:rPr sz="1250">
                          <a:solidFill>
                            <a:srgbClr val="1A1F1D"/>
                          </a:solidFill>
                          <a:latin typeface="Consolas"/>
                        </a:rPr>
                        <a:t>Q1-Q3</a:t>
                      </a:r>
                    </a:p>
                  </a:txBody>
                  <a:tcPr marL="73152" marR="73152" marT="18288" marB="18288" anchor="ctr">
                    <a:solidFill>
                      <a:srgbClr val="FFFFFF"/>
                    </a:solidFill>
                  </a:tcPr>
                </a:tc>
                <a:tc>
                  <a:txBody>
                    <a:bodyPr/>
                    <a:lstStyle/>
                    <a:p>
                      <a:r>
                        <a:rPr sz="1250">
                          <a:solidFill>
                            <a:srgbClr val="1A1F1D"/>
                          </a:solidFill>
                          <a:latin typeface="Consolas"/>
                        </a:rPr>
                        <a:t>Nesting bug real but weak-bite; correctness argument sound but unverified; “no benefit” CANNOT VERIFY (zero instrumentation existed)</a:t>
                      </a:r>
                    </a:p>
                  </a:txBody>
                  <a:tcPr marL="73152" marR="73152" marT="18288" marB="18288" anchor="ctr">
                    <a:solidFill>
                      <a:srgbClr val="FFFFFF"/>
                    </a:solidFill>
                  </a:tcPr>
                </a:tc>
              </a:tr>
              <a:tr h="685800">
                <a:tc>
                  <a:txBody>
                    <a:bodyPr/>
                    <a:lstStyle/>
                    <a:p>
                      <a:r>
                        <a:rPr sz="1250">
                          <a:solidFill>
                            <a:srgbClr val="1A1F1D"/>
                          </a:solidFill>
                          <a:latin typeface="Consolas"/>
                        </a:rPr>
                        <a:t>Q4-Q5</a:t>
                      </a:r>
                    </a:p>
                  </a:txBody>
                  <a:tcPr marL="73152" marR="73152" marT="18288" marB="18288" anchor="ctr">
                    <a:solidFill>
                      <a:srgbClr val="F3F4F1"/>
                    </a:solidFill>
                  </a:tcPr>
                </a:tc>
                <a:tc>
                  <a:txBody>
                    <a:bodyPr/>
                    <a:lstStyle/>
                    <a:p>
                      <a:r>
                        <a:rPr sz="1250">
                          <a:solidFill>
                            <a:srgbClr val="1A1F1D"/>
                          </a:solidFill>
                          <a:latin typeface="Consolas"/>
                        </a:rPr>
                        <a:t>Memory-init cliff CONFIRMED as leading hypothesis; missing correctness check = strongest 5/5 consensus of all 8</a:t>
                      </a:r>
                    </a:p>
                  </a:txBody>
                  <a:tcPr marL="73152" marR="73152" marT="18288" marB="18288" anchor="ctr">
                    <a:solidFill>
                      <a:srgbClr val="F3F4F1"/>
                    </a:solidFill>
                  </a:tcPr>
                </a:tc>
              </a:tr>
              <a:tr h="685800">
                <a:tc>
                  <a:txBody>
                    <a:bodyPr/>
                    <a:lstStyle/>
                    <a:p>
                      <a:r>
                        <a:rPr sz="1250">
                          <a:solidFill>
                            <a:srgbClr val="1A1F1D"/>
                          </a:solidFill>
                          <a:latin typeface="Consolas"/>
                        </a:rPr>
                        <a:t>Q6-Q8</a:t>
                      </a:r>
                    </a:p>
                  </a:txBody>
                  <a:tcPr marL="73152" marR="73152" marT="18288" marB="18288" anchor="ctr">
                    <a:solidFill>
                      <a:srgbClr val="FFFFFF"/>
                    </a:solidFill>
                  </a:tcPr>
                </a:tc>
                <a:tc>
                  <a:txBody>
                    <a:bodyPr/>
                    <a:lstStyle/>
                    <a:p>
                      <a:r>
                        <a:rPr sz="1250">
                          <a:solidFill>
                            <a:srgbClr val="1A1F1D"/>
                          </a:solidFill>
                          <a:latin typeface="Consolas"/>
                        </a:rPr>
                        <a:t>v2.1.3-&gt;v2.17.1 risk broader than scoped; 2nd week missing target; 8 more items incl. a false claim in the audit's OWN brief</a:t>
                      </a:r>
                    </a:p>
                  </a:txBody>
                  <a:tcPr marL="73152" marR="73152" marT="18288" marB="18288"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REVIEW 2</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S3/S4 design debate - 2026-08-27</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044</a:t>
            </a:r>
          </a:p>
        </p:txBody>
      </p:sp>
      <p:graphicFrame>
        <p:nvGraphicFramePr>
          <p:cNvPr id="7" name="Table 6"/>
          <p:cNvGraphicFramePr>
            <a:graphicFrameLocks noGrp="1"/>
          </p:cNvGraphicFramePr>
          <p:nvPr/>
        </p:nvGraphicFramePr>
        <p:xfrm>
          <a:off x="548640" y="1691640"/>
          <a:ext cx="11094414" cy="3931920"/>
        </p:xfrm>
        <a:graphic>
          <a:graphicData uri="http://schemas.openxmlformats.org/drawingml/2006/table">
            <a:tbl>
              <a:tblPr firstRow="0" bandRow="0">
                <a:tableStyleId>{2D5ABB26-0587-4C30-8999-92F81FD0307C}</a:tableStyleId>
              </a:tblPr>
              <a:tblGrid>
                <a:gridCol w="776609"/>
                <a:gridCol w="10317805"/>
              </a:tblGrid>
              <a:tr h="655320">
                <a:tc>
                  <a:txBody>
                    <a:bodyPr/>
                    <a:lstStyle/>
                    <a:p>
                      <a:r>
                        <a:rPr sz="1250" b="1">
                          <a:solidFill>
                            <a:srgbClr val="F3F4F1"/>
                          </a:solidFill>
                          <a:latin typeface="Consolas"/>
                        </a:rPr>
                        <a:t>Q</a:t>
                      </a:r>
                    </a:p>
                  </a:txBody>
                  <a:tcPr marL="73152" marR="73152" marT="18288" marB="18288" anchor="ctr">
                    <a:solidFill>
                      <a:srgbClr val="1A1F1D"/>
                    </a:solidFill>
                  </a:tcPr>
                </a:tc>
                <a:tc>
                  <a:txBody>
                    <a:bodyPr/>
                    <a:lstStyle/>
                    <a:p>
                      <a:r>
                        <a:rPr sz="1250" b="1">
                          <a:solidFill>
                            <a:srgbClr val="F3F4F1"/>
                          </a:solidFill>
                          <a:latin typeface="Consolas"/>
                        </a:rPr>
                        <a:t>Finding</a:t>
                      </a:r>
                    </a:p>
                  </a:txBody>
                  <a:tcPr marL="73152" marR="73152" marT="18288" marB="18288" anchor="ctr">
                    <a:solidFill>
                      <a:srgbClr val="1A1F1D"/>
                    </a:solidFill>
                  </a:tcPr>
                </a:tc>
              </a:tr>
              <a:tr h="655320">
                <a:tc>
                  <a:txBody>
                    <a:bodyPr/>
                    <a:lstStyle/>
                    <a:p>
                      <a:r>
                        <a:rPr sz="1300">
                          <a:solidFill>
                            <a:srgbClr val="1A1F1D"/>
                          </a:solidFill>
                          <a:latin typeface="Consolas"/>
                        </a:rPr>
                        <a:t>Q1</a:t>
                      </a:r>
                    </a:p>
                  </a:txBody>
                  <a:tcPr marL="73152" marR="73152" marT="18288" marB="18288" anchor="ctr">
                    <a:solidFill>
                      <a:srgbClr val="FFFFFF"/>
                    </a:solidFill>
                  </a:tcPr>
                </a:tc>
                <a:tc>
                  <a:txBody>
                    <a:bodyPr/>
                    <a:lstStyle/>
                    <a:p>
                      <a:r>
                        <a:rPr sz="1300">
                          <a:solidFill>
                            <a:srgbClr val="1A1F1D"/>
                          </a:solidFill>
                          <a:latin typeface="Consolas"/>
                        </a:rPr>
                        <a:t>TLS crash mechanism sharpened (NPTL allocate_stack); heap fix != the separate slowdown fix</a:t>
                      </a:r>
                    </a:p>
                  </a:txBody>
                  <a:tcPr marL="73152" marR="73152" marT="18288" marB="18288" anchor="ctr">
                    <a:solidFill>
                      <a:srgbClr val="FFFFFF"/>
                    </a:solidFill>
                  </a:tcPr>
                </a:tc>
              </a:tr>
              <a:tr h="655320">
                <a:tc>
                  <a:txBody>
                    <a:bodyPr/>
                    <a:lstStyle/>
                    <a:p>
                      <a:r>
                        <a:rPr sz="1300">
                          <a:solidFill>
                            <a:srgbClr val="1A1F1D"/>
                          </a:solidFill>
                          <a:latin typeface="Consolas"/>
                        </a:rPr>
                        <a:t>Q2</a:t>
                      </a:r>
                    </a:p>
                  </a:txBody>
                  <a:tcPr marL="73152" marR="73152" marT="18288" marB="18288" anchor="ctr">
                    <a:solidFill>
                      <a:srgbClr val="F3F4F1"/>
                    </a:solidFill>
                  </a:tcPr>
                </a:tc>
                <a:tc>
                  <a:txBody>
                    <a:bodyPr/>
                    <a:lstStyle/>
                    <a:p>
                      <a:r>
                        <a:rPr sz="1300">
                          <a:solidFill>
                            <a:srgbClr val="1A1F1D"/>
                          </a:solidFill>
                          <a:latin typeface="Consolas"/>
                        </a:rPr>
                        <a:t>“Most load-bearing correction of the exercise”: 105MB/socket, not 210MB</a:t>
                      </a:r>
                    </a:p>
                  </a:txBody>
                  <a:tcPr marL="73152" marR="73152" marT="18288" marB="18288" anchor="ctr">
                    <a:solidFill>
                      <a:srgbClr val="F3F4F1"/>
                    </a:solidFill>
                  </a:tcPr>
                </a:tc>
              </a:tr>
              <a:tr h="655320">
                <a:tc>
                  <a:txBody>
                    <a:bodyPr/>
                    <a:lstStyle/>
                    <a:p>
                      <a:r>
                        <a:rPr sz="1300">
                          <a:solidFill>
                            <a:srgbClr val="1A1F1D"/>
                          </a:solidFill>
                          <a:latin typeface="Consolas"/>
                        </a:rPr>
                        <a:t>Q3</a:t>
                      </a:r>
                    </a:p>
                  </a:txBody>
                  <a:tcPr marL="73152" marR="73152" marT="18288" marB="18288" anchor="ctr">
                    <a:solidFill>
                      <a:srgbClr val="FFFFFF"/>
                    </a:solidFill>
                  </a:tcPr>
                </a:tc>
                <a:tc>
                  <a:txBody>
                    <a:bodyPr/>
                    <a:lstStyle/>
                    <a:p>
                      <a:r>
                        <a:rPr sz="1300">
                          <a:solidFill>
                            <a:srgbClr val="1A1F1D"/>
                          </a:solidFill>
                          <a:latin typeface="Consolas"/>
                        </a:rPr>
                        <a:t>S2Entry=16B zero-pad confirmed; 0/4 comparator tools implement eviction - a real gap</a:t>
                      </a:r>
                    </a:p>
                  </a:txBody>
                  <a:tcPr marL="73152" marR="73152" marT="18288" marB="18288" anchor="ctr">
                    <a:solidFill>
                      <a:srgbClr val="FFFFFF"/>
                    </a:solidFill>
                  </a:tcPr>
                </a:tc>
              </a:tr>
              <a:tr h="655320">
                <a:tc>
                  <a:txBody>
                    <a:bodyPr/>
                    <a:lstStyle/>
                    <a:p>
                      <a:r>
                        <a:rPr sz="1300">
                          <a:solidFill>
                            <a:srgbClr val="1A1F1D"/>
                          </a:solidFill>
                          <a:latin typeface="Consolas"/>
                        </a:rPr>
                        <a:t>Q4</a:t>
                      </a:r>
                    </a:p>
                  </a:txBody>
                  <a:tcPr marL="73152" marR="73152" marT="18288" marB="18288" anchor="ctr">
                    <a:solidFill>
                      <a:srgbClr val="F3F4F1"/>
                    </a:solidFill>
                  </a:tcPr>
                </a:tc>
                <a:tc>
                  <a:txBody>
                    <a:bodyPr/>
                    <a:lstStyle/>
                    <a:p>
                      <a:r>
                        <a:rPr sz="1300">
                          <a:solidFill>
                            <a:srgbClr val="1A1F1D"/>
                          </a:solidFill>
                          <a:latin typeface="Consolas"/>
                        </a:rPr>
                        <a:t>M5 reuse-rate tension reframed as metric-definition mismatch, not contradiction</a:t>
                      </a:r>
                    </a:p>
                  </a:txBody>
                  <a:tcPr marL="73152" marR="73152" marT="18288" marB="18288" anchor="ctr">
                    <a:solidFill>
                      <a:srgbClr val="F3F4F1"/>
                    </a:solidFill>
                  </a:tcPr>
                </a:tc>
              </a:tr>
              <a:tr h="655320">
                <a:tc>
                  <a:txBody>
                    <a:bodyPr/>
                    <a:lstStyle/>
                    <a:p>
                      <a:r>
                        <a:rPr sz="1300">
                          <a:solidFill>
                            <a:srgbClr val="1A1F1D"/>
                          </a:solidFill>
                          <a:latin typeface="Consolas"/>
                        </a:rPr>
                        <a:t>Q5</a:t>
                      </a:r>
                    </a:p>
                  </a:txBody>
                  <a:tcPr marL="73152" marR="73152" marT="18288" marB="18288" anchor="ctr">
                    <a:solidFill>
                      <a:srgbClr val="FFFFFF"/>
                    </a:solidFill>
                  </a:tcPr>
                </a:tc>
                <a:tc>
                  <a:txBody>
                    <a:bodyPr/>
                    <a:lstStyle/>
                    <a:p>
                      <a:r>
                        <a:rPr sz="1300">
                          <a:solidFill>
                            <a:srgbClr val="1A1F1D"/>
                          </a:solidFill>
                          <a:latin typeface="Consolas"/>
                        </a:rPr>
                        <a:t>S4&gt;S3 priority - unanimous 5/5, 4 independent argument chains, strongest conclusion</a:t>
                      </a:r>
                    </a:p>
                  </a:txBody>
                  <a:tcPr marL="73152" marR="73152" marT="18288" marB="18288" anchor="ctr">
                    <a:solidFill>
                      <a:srgbClr val="FFFF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REVIEW 3</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Two-thesis strategy debate - 2026-08-30</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045</a:t>
            </a:r>
          </a:p>
        </p:txBody>
      </p:sp>
      <p:sp>
        <p:nvSpPr>
          <p:cNvPr id="7" name="TextBox 6"/>
          <p:cNvSpPr txBox="1"/>
          <p:nvPr/>
        </p:nvSpPr>
        <p:spPr>
          <a:xfrm>
            <a:off x="548640" y="169164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550" b="0" i="0">
                <a:solidFill>
                  <a:srgbClr val="1A1F1D"/>
                </a:solidFill>
                <a:latin typeface="Calibri"/>
              </a:rPr>
              <a:t>A broader question than the first two: given real time pressure, is the plan for both theses achievable, and is the sequencing right? Stopped early (3 of 5 rounds) once genuine convergence was reached.</a:t>
            </a:r>
          </a:p>
        </p:txBody>
      </p:sp>
      <p:graphicFrame>
        <p:nvGraphicFramePr>
          <p:cNvPr id="8" name="Table 7"/>
          <p:cNvGraphicFramePr>
            <a:graphicFrameLocks noGrp="1"/>
          </p:cNvGraphicFramePr>
          <p:nvPr/>
        </p:nvGraphicFramePr>
        <p:xfrm>
          <a:off x="548640" y="2834640"/>
          <a:ext cx="11094415" cy="2743200"/>
        </p:xfrm>
        <a:graphic>
          <a:graphicData uri="http://schemas.openxmlformats.org/drawingml/2006/table">
            <a:tbl>
              <a:tblPr firstRow="0" bandRow="0">
                <a:tableStyleId>{2D5ABB26-0587-4C30-8999-92F81FD0307C}</a:tableStyleId>
              </a:tblPr>
              <a:tblGrid>
                <a:gridCol w="11094415"/>
              </a:tblGrid>
              <a:tr h="457200">
                <a:tc>
                  <a:txBody>
                    <a:bodyPr/>
                    <a:lstStyle/>
                    <a:p>
                      <a:r>
                        <a:rPr sz="1200" b="1">
                          <a:solidFill>
                            <a:srgbClr val="F3F4F1"/>
                          </a:solidFill>
                          <a:latin typeface="Consolas"/>
                        </a:rPr>
                        <a:t>Finding</a:t>
                      </a:r>
                    </a:p>
                  </a:txBody>
                  <a:tcPr marL="73152" marR="73152" marT="18288" marB="18288" anchor="ctr">
                    <a:solidFill>
                      <a:srgbClr val="1A1F1D"/>
                    </a:solidFill>
                  </a:tcPr>
                </a:tc>
              </a:tr>
              <a:tr h="457200">
                <a:tc>
                  <a:txBody>
                    <a:bodyPr/>
                    <a:lstStyle/>
                    <a:p>
                      <a:r>
                        <a:rPr sz="1350">
                          <a:solidFill>
                            <a:srgbClr val="1A1F1D"/>
                          </a:solidFill>
                          <a:latin typeface="Consolas"/>
                        </a:rPr>
                        <a:t>Neither thesis at full scope achievable by Sept 13 (5/5) - self-corrected 17-&gt;14 days mid-exercise</a:t>
                      </a:r>
                    </a:p>
                  </a:txBody>
                  <a:tcPr marL="73152" marR="73152" marT="18288" marB="18288" anchor="ctr">
                    <a:solidFill>
                      <a:srgbClr val="FFFFFF"/>
                    </a:solidFill>
                  </a:tcPr>
                </a:tc>
              </a:tr>
              <a:tr h="457200">
                <a:tc>
                  <a:txBody>
                    <a:bodyPr/>
                    <a:lstStyle/>
                    <a:p>
                      <a:r>
                        <a:rPr sz="1350">
                          <a:solidFill>
                            <a:srgbClr val="1A1F1D"/>
                          </a:solidFill>
                          <a:latin typeface="Consolas"/>
                        </a:rPr>
                        <a:t>B2 doesn't need B1, confirmed at source-code level, not analogy</a:t>
                      </a:r>
                    </a:p>
                  </a:txBody>
                  <a:tcPr marL="73152" marR="73152" marT="18288" marB="18288" anchor="ctr">
                    <a:solidFill>
                      <a:srgbClr val="F3F4F1"/>
                    </a:solidFill>
                  </a:tcPr>
                </a:tc>
              </a:tr>
              <a:tr h="457200">
                <a:tc>
                  <a:txBody>
                    <a:bodyPr/>
                    <a:lstStyle/>
                    <a:p>
                      <a:r>
                        <a:rPr sz="1350">
                          <a:solidFill>
                            <a:srgbClr val="1A1F1D"/>
                          </a:solidFill>
                          <a:latin typeface="Consolas"/>
                        </a:rPr>
                        <a:t>B1's cost underestimated: second_hash() is a stub, not a working impl, + needs a DB rebuild</a:t>
                      </a:r>
                    </a:p>
                  </a:txBody>
                  <a:tcPr marL="73152" marR="73152" marT="18288" marB="18288" anchor="ctr">
                    <a:solidFill>
                      <a:srgbClr val="FFFFFF"/>
                    </a:solidFill>
                  </a:tcPr>
                </a:tc>
              </a:tr>
              <a:tr h="457200">
                <a:tc>
                  <a:txBody>
                    <a:bodyPr/>
                    <a:lstStyle/>
                    <a:p>
                      <a:r>
                        <a:rPr sz="1350">
                          <a:solidFill>
                            <a:srgbClr val="1A1F1D"/>
                          </a:solidFill>
                          <a:latin typeface="Consolas"/>
                        </a:rPr>
                        <a:t>ESKAPE ceiling is structural (4 of 6 species), not a data-loss bug</a:t>
                      </a:r>
                    </a:p>
                  </a:txBody>
                  <a:tcPr marL="73152" marR="73152" marT="18288" marB="18288" anchor="ctr">
                    <a:solidFill>
                      <a:srgbClr val="F3F4F1"/>
                    </a:solidFill>
                  </a:tcPr>
                </a:tc>
              </a:tr>
              <a:tr h="457200">
                <a:tc>
                  <a:txBody>
                    <a:bodyPr/>
                    <a:lstStyle/>
                    <a:p>
                      <a:r>
                        <a:rPr sz="1350">
                          <a:solidFill>
                            <a:srgbClr val="1A1F1D"/>
                          </a:solidFill>
                          <a:latin typeface="Consolas"/>
                        </a:rPr>
                        <a:t>No Meeting 12 record exists</a:t>
                      </a:r>
                    </a:p>
                  </a:txBody>
                  <a:tcPr marL="73152" marR="73152" marT="18288" marB="18288" anchor="ctr">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REVIEW 4</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Track A pivot debate - 7 agents + coordinator</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046</a:t>
            </a:r>
          </a:p>
        </p:txBody>
      </p:sp>
      <p:graphicFrame>
        <p:nvGraphicFramePr>
          <p:cNvPr id="7" name="Table 6"/>
          <p:cNvGraphicFramePr>
            <a:graphicFrameLocks noGrp="1"/>
          </p:cNvGraphicFramePr>
          <p:nvPr/>
        </p:nvGraphicFramePr>
        <p:xfrm>
          <a:off x="548640" y="1691640"/>
          <a:ext cx="11094414" cy="3383280"/>
        </p:xfrm>
        <a:graphic>
          <a:graphicData uri="http://schemas.openxmlformats.org/drawingml/2006/table">
            <a:tbl>
              <a:tblPr firstRow="0" bandRow="0">
                <a:tableStyleId>{2D5ABB26-0587-4C30-8999-92F81FD0307C}</a:tableStyleId>
              </a:tblPr>
              <a:tblGrid>
                <a:gridCol w="776609"/>
                <a:gridCol w="8653643"/>
                <a:gridCol w="1664162"/>
              </a:tblGrid>
              <a:tr h="563880">
                <a:tc>
                  <a:txBody>
                    <a:bodyPr/>
                    <a:lstStyle/>
                    <a:p>
                      <a:r>
                        <a:rPr sz="1200" b="1">
                          <a:solidFill>
                            <a:srgbClr val="F3F4F1"/>
                          </a:solidFill>
                          <a:latin typeface="Consolas"/>
                        </a:rPr>
                        <a:t>Q</a:t>
                      </a:r>
                    </a:p>
                  </a:txBody>
                  <a:tcPr marL="73152" marR="73152" marT="18288" marB="18288" anchor="ctr">
                    <a:solidFill>
                      <a:srgbClr val="1A1F1D"/>
                    </a:solidFill>
                  </a:tcPr>
                </a:tc>
                <a:tc>
                  <a:txBody>
                    <a:bodyPr/>
                    <a:lstStyle/>
                    <a:p>
                      <a:r>
                        <a:rPr sz="1200" b="1">
                          <a:solidFill>
                            <a:srgbClr val="F3F4F1"/>
                          </a:solidFill>
                          <a:latin typeface="Consolas"/>
                        </a:rPr>
                        <a:t>Verdict</a:t>
                      </a:r>
                    </a:p>
                  </a:txBody>
                  <a:tcPr marL="73152" marR="73152" marT="18288" marB="18288" anchor="ctr">
                    <a:solidFill>
                      <a:srgbClr val="1A1F1D"/>
                    </a:solidFill>
                  </a:tcPr>
                </a:tc>
                <a:tc>
                  <a:txBody>
                    <a:bodyPr/>
                    <a:lstStyle/>
                    <a:p>
                      <a:r>
                        <a:rPr sz="1200" b="1">
                          <a:solidFill>
                            <a:srgbClr val="F3F4F1"/>
                          </a:solidFill>
                          <a:latin typeface="Consolas"/>
                        </a:rPr>
                        <a:t>Conf.</a:t>
                      </a:r>
                    </a:p>
                  </a:txBody>
                  <a:tcPr marL="73152" marR="73152" marT="18288" marB="18288" anchor="ctr">
                    <a:solidFill>
                      <a:srgbClr val="1A1F1D"/>
                    </a:solidFill>
                  </a:tcPr>
                </a:tc>
              </a:tr>
              <a:tr h="563880">
                <a:tc>
                  <a:txBody>
                    <a:bodyPr/>
                    <a:lstStyle/>
                    <a:p>
                      <a:r>
                        <a:rPr sz="1200">
                          <a:solidFill>
                            <a:srgbClr val="1A1F1D"/>
                          </a:solidFill>
                          <a:latin typeface="Consolas"/>
                        </a:rPr>
                        <a:t>Q1</a:t>
                      </a:r>
                    </a:p>
                  </a:txBody>
                  <a:tcPr marL="73152" marR="73152" marT="18288" marB="18288" anchor="ctr">
                    <a:solidFill>
                      <a:srgbClr val="FFFFFF"/>
                    </a:solidFill>
                  </a:tcPr>
                </a:tc>
                <a:tc>
                  <a:txBody>
                    <a:bodyPr/>
                    <a:lstStyle/>
                    <a:p>
                      <a:r>
                        <a:rPr sz="1200">
                          <a:solidFill>
                            <a:srgbClr val="1A1F1D"/>
                          </a:solidFill>
                          <a:latin typeface="Consolas"/>
                        </a:rPr>
                        <a:t>No large-scale eviction algo fits at n=4. Pseudo-LRU + admission control worth trying if continued.</a:t>
                      </a:r>
                    </a:p>
                  </a:txBody>
                  <a:tcPr marL="73152" marR="73152" marT="18288" marB="18288" anchor="ctr">
                    <a:solidFill>
                      <a:srgbClr val="FFFFFF"/>
                    </a:solidFill>
                  </a:tcPr>
                </a:tc>
                <a:tc>
                  <a:txBody>
                    <a:bodyPr/>
                    <a:lstStyle/>
                    <a:p>
                      <a:r>
                        <a:rPr sz="1200">
                          <a:solidFill>
                            <a:srgbClr val="1A1F1D"/>
                          </a:solidFill>
                          <a:latin typeface="Consolas"/>
                        </a:rPr>
                        <a:t>High</a:t>
                      </a:r>
                    </a:p>
                  </a:txBody>
                  <a:tcPr marL="73152" marR="73152" marT="18288" marB="18288" anchor="ctr">
                    <a:solidFill>
                      <a:srgbClr val="FFFFFF"/>
                    </a:solidFill>
                  </a:tcPr>
                </a:tc>
              </a:tr>
              <a:tr h="563880">
                <a:tc>
                  <a:txBody>
                    <a:bodyPr/>
                    <a:lstStyle/>
                    <a:p>
                      <a:r>
                        <a:rPr sz="1200">
                          <a:solidFill>
                            <a:srgbClr val="1A1F1D"/>
                          </a:solidFill>
                          <a:latin typeface="Consolas"/>
                        </a:rPr>
                        <a:t>Q2</a:t>
                      </a:r>
                    </a:p>
                  </a:txBody>
                  <a:tcPr marL="73152" marR="73152" marT="18288" marB="18288" anchor="ctr">
                    <a:solidFill>
                      <a:srgbClr val="F3F4F1"/>
                    </a:solidFill>
                  </a:tcPr>
                </a:tc>
                <a:tc>
                  <a:txBody>
                    <a:bodyPr/>
                    <a:lstStyle/>
                    <a:p>
                      <a:r>
                        <a:rPr sz="1200">
                          <a:solidFill>
                            <a:srgbClr val="1A1F1D"/>
                          </a:solidFill>
                          <a:latin typeface="Consolas"/>
                        </a:rPr>
                        <a:t>One bounded capacity re-sweep worth it; no wall-clock payoff expected.</a:t>
                      </a:r>
                    </a:p>
                  </a:txBody>
                  <a:tcPr marL="73152" marR="73152" marT="18288" marB="18288" anchor="ctr">
                    <a:solidFill>
                      <a:srgbClr val="F3F4F1"/>
                    </a:solidFill>
                  </a:tcPr>
                </a:tc>
                <a:tc>
                  <a:txBody>
                    <a:bodyPr/>
                    <a:lstStyle/>
                    <a:p>
                      <a:r>
                        <a:rPr sz="1200">
                          <a:solidFill>
                            <a:srgbClr val="1A1F1D"/>
                          </a:solidFill>
                          <a:latin typeface="Consolas"/>
                        </a:rPr>
                        <a:t>High</a:t>
                      </a:r>
                    </a:p>
                  </a:txBody>
                  <a:tcPr marL="73152" marR="73152" marT="18288" marB="18288" anchor="ctr">
                    <a:solidFill>
                      <a:srgbClr val="F3F4F1"/>
                    </a:solidFill>
                  </a:tcPr>
                </a:tc>
              </a:tr>
              <a:tr h="563880">
                <a:tc>
                  <a:txBody>
                    <a:bodyPr/>
                    <a:lstStyle/>
                    <a:p>
                      <a:r>
                        <a:rPr sz="1200">
                          <a:solidFill>
                            <a:srgbClr val="1A1F1D"/>
                          </a:solidFill>
                          <a:latin typeface="Consolas"/>
                        </a:rPr>
                        <a:t>Q3</a:t>
                      </a:r>
                    </a:p>
                  </a:txBody>
                  <a:tcPr marL="73152" marR="73152" marT="18288" marB="18288" anchor="ctr">
                    <a:solidFill>
                      <a:srgbClr val="FFFFFF"/>
                    </a:solidFill>
                  </a:tcPr>
                </a:tc>
                <a:tc>
                  <a:txBody>
                    <a:bodyPr/>
                    <a:lstStyle/>
                    <a:p>
                      <a:r>
                        <a:rPr sz="1200">
                          <a:solidFill>
                            <a:srgbClr val="1A1F1D"/>
                          </a:solidFill>
                          <a:latin typeface="Consolas"/>
                        </a:rPr>
                        <a:t>7/7: pivot to prefetch as an addition, 2-3 day bounded spike. This became S5.</a:t>
                      </a:r>
                    </a:p>
                  </a:txBody>
                  <a:tcPr marL="73152" marR="73152" marT="18288" marB="18288" anchor="ctr">
                    <a:solidFill>
                      <a:srgbClr val="FFFFFF"/>
                    </a:solidFill>
                  </a:tcPr>
                </a:tc>
                <a:tc>
                  <a:txBody>
                    <a:bodyPr/>
                    <a:lstStyle/>
                    <a:p>
                      <a:r>
                        <a:rPr sz="1200">
                          <a:solidFill>
                            <a:srgbClr val="1A1F1D"/>
                          </a:solidFill>
                          <a:latin typeface="Consolas"/>
                        </a:rPr>
                        <a:t>High</a:t>
                      </a:r>
                    </a:p>
                  </a:txBody>
                  <a:tcPr marL="73152" marR="73152" marT="18288" marB="18288" anchor="ctr">
                    <a:solidFill>
                      <a:srgbClr val="FFFFFF"/>
                    </a:solidFill>
                  </a:tcPr>
                </a:tc>
              </a:tr>
              <a:tr h="563880">
                <a:tc>
                  <a:txBody>
                    <a:bodyPr/>
                    <a:lstStyle/>
                    <a:p>
                      <a:r>
                        <a:rPr sz="1200">
                          <a:solidFill>
                            <a:srgbClr val="1A1F1D"/>
                          </a:solidFill>
                          <a:latin typeface="Consolas"/>
                        </a:rPr>
                        <a:t>Q4</a:t>
                      </a:r>
                    </a:p>
                  </a:txBody>
                  <a:tcPr marL="73152" marR="73152" marT="18288" marB="18288" anchor="ctr">
                    <a:solidFill>
                      <a:srgbClr val="F3F4F1"/>
                    </a:solidFill>
                  </a:tcPr>
                </a:tc>
                <a:tc>
                  <a:txBody>
                    <a:bodyPr/>
                    <a:lstStyle/>
                    <a:p>
                      <a:r>
                        <a:rPr sz="1200">
                          <a:solidFill>
                            <a:srgbClr val="1A1F1D"/>
                          </a:solidFill>
                          <a:latin typeface="Consolas"/>
                        </a:rPr>
                        <a:t>Real, unresolved 3-way disagreement on pace - reported honestly, not smoothed over.</a:t>
                      </a:r>
                    </a:p>
                  </a:txBody>
                  <a:tcPr marL="73152" marR="73152" marT="18288" marB="18288" anchor="ctr">
                    <a:solidFill>
                      <a:srgbClr val="F3F4F1"/>
                    </a:solidFill>
                  </a:tcPr>
                </a:tc>
                <a:tc>
                  <a:txBody>
                    <a:bodyPr/>
                    <a:lstStyle/>
                    <a:p>
                      <a:r>
                        <a:rPr sz="1200">
                          <a:solidFill>
                            <a:srgbClr val="1A1F1D"/>
                          </a:solidFill>
                          <a:latin typeface="Consolas"/>
                        </a:rPr>
                        <a:t>Med</a:t>
                      </a:r>
                    </a:p>
                  </a:txBody>
                  <a:tcPr marL="73152" marR="73152" marT="18288" marB="18288" anchor="ctr">
                    <a:solidFill>
                      <a:srgbClr val="F3F4F1"/>
                    </a:solidFill>
                  </a:tcPr>
                </a:tc>
              </a:tr>
              <a:tr h="563880">
                <a:tc>
                  <a:txBody>
                    <a:bodyPr/>
                    <a:lstStyle/>
                    <a:p>
                      <a:r>
                        <a:rPr sz="1200">
                          <a:solidFill>
                            <a:srgbClr val="1A1F1D"/>
                          </a:solidFill>
                          <a:latin typeface="Consolas"/>
                        </a:rPr>
                        <a:t>Q5</a:t>
                      </a:r>
                    </a:p>
                  </a:txBody>
                  <a:tcPr marL="73152" marR="73152" marT="18288" marB="18288" anchor="ctr">
                    <a:solidFill>
                      <a:srgbClr val="FFFFFF"/>
                    </a:solidFill>
                  </a:tcPr>
                </a:tc>
                <a:tc>
                  <a:txBody>
                    <a:bodyPr/>
                    <a:lstStyle/>
                    <a:p>
                      <a:r>
                        <a:rPr sz="1200">
                          <a:solidFill>
                            <a:srgbClr val="1A1F1D"/>
                          </a:solidFill>
                          <a:latin typeface="Consolas"/>
                        </a:rPr>
                        <a:t>Stale CLAUDE.md claim caught; a pre-registered May-2026 go/no-go gate never checked.</a:t>
                      </a:r>
                    </a:p>
                  </a:txBody>
                  <a:tcPr marL="73152" marR="73152" marT="18288" marB="18288" anchor="ctr">
                    <a:solidFill>
                      <a:srgbClr val="FFFFFF"/>
                    </a:solidFill>
                  </a:tcPr>
                </a:tc>
                <a:tc>
                  <a:txBody>
                    <a:bodyPr/>
                    <a:lstStyle/>
                    <a:p>
                      <a:r>
                        <a:rPr sz="1200">
                          <a:solidFill>
                            <a:srgbClr val="1A1F1D"/>
                          </a:solidFill>
                          <a:latin typeface="Consolas"/>
                        </a:rPr>
                        <a:t>Med-Hi</a:t>
                      </a:r>
                    </a:p>
                  </a:txBody>
                  <a:tcPr marL="73152" marR="73152" marT="18288" marB="18288" anchor="ctr">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TRACK B</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What it is, explained from scratch</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047</a:t>
            </a:r>
          </a:p>
        </p:txBody>
      </p:sp>
      <p:sp>
        <p:nvSpPr>
          <p:cNvPr id="7" name="TextBox 6"/>
          <p:cNvSpPr txBox="1"/>
          <p:nvPr/>
        </p:nvSpPr>
        <p:spPr>
          <a:xfrm>
            <a:off x="548640" y="169164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550" b="0" i="0">
                <a:solidFill>
                  <a:srgbClr val="1A1F1D"/>
                </a:solidFill>
                <a:latin typeface="Calibri"/>
              </a:rPr>
              <a:t>Track B extends a different, already-published piece of work: shrinking Kraken2's hash table cells from 32 bits down to 24 or 16, at a well-understood false-positive cost. Three follow-on pieces: B1 (double hashing - spread collisions instead of clumping them), B2 (the bitmask cell - one yes/no bit per ESKAPE species, gentler collisions), B3 (merged lookup cache, tying back to Track 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TRACK B</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What we found, verified against real source</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048</a:t>
            </a:r>
          </a:p>
        </p:txBody>
      </p:sp>
      <p:sp>
        <p:nvSpPr>
          <p:cNvPr id="7" name="Rounded Rectangle 6"/>
          <p:cNvSpPr/>
          <p:nvPr/>
        </p:nvSpPr>
        <p:spPr>
          <a:xfrm>
            <a:off x="548640" y="1691640"/>
            <a:ext cx="11094415" cy="1463040"/>
          </a:xfrm>
          <a:prstGeom prst="roundRect">
            <a:avLst>
              <a:gd name="adj" fmla="val 2500"/>
            </a:avLst>
          </a:prstGeom>
          <a:solidFill>
            <a:srgbClr val="1A1F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28016"/>
          <a:lstStyle/>
          <a:p>
            <a:pPr algn="ctr">
              <a:lnSpc>
                <a:spcPct val="118000"/>
              </a:lnSpc>
            </a:pPr>
            <a:r>
              <a:rPr sz="1150">
                <a:solidFill>
                  <a:srgbClr val="F3F4F1"/>
                </a:solidFill>
                <a:latin typeface="Consolas"/>
              </a:rPr>
              <a:t>uint64_t second_hash(uint64_t hc) {</a:t>
            </a:r>
          </a:p>
          <a:p>
            <a:pPr>
              <a:lnSpc>
                <a:spcPct val="118000"/>
              </a:lnSpc>
            </a:pPr>
            <a:r>
              <a:rPr sz="1150">
                <a:solidFill>
                  <a:srgbClr val="F3F4F1"/>
                </a:solidFill>
                <a:latin typeface="Consolas"/>
              </a:rPr>
              <a:t>#ifdef LINEAR_PROBING</a:t>
            </a:r>
          </a:p>
          <a:p>
            <a:pPr>
              <a:lnSpc>
                <a:spcPct val="118000"/>
              </a:lnSpc>
            </a:pPr>
            <a:r>
              <a:rPr sz="1150">
                <a:solidFill>
                  <a:srgbClr val="F3F4F1"/>
                </a:solidFill>
                <a:latin typeface="Consolas"/>
              </a:rPr>
              <a:t>  return 1;             // &lt;- the default build flag, hardcoded</a:t>
            </a:r>
          </a:p>
          <a:p>
            <a:pPr>
              <a:lnSpc>
                <a:spcPct val="118000"/>
              </a:lnSpc>
            </a:pPr>
            <a:r>
              <a:rPr sz="1150">
                <a:solidFill>
                  <a:srgbClr val="F3F4F1"/>
                </a:solidFill>
                <a:latin typeface="Consolas"/>
              </a:rPr>
              <a:t>#endif</a:t>
            </a:r>
          </a:p>
          <a:p>
            <a:pPr>
              <a:lnSpc>
                <a:spcPct val="118000"/>
              </a:lnSpc>
            </a:pPr>
            <a:r>
              <a:rPr sz="1150">
                <a:solidFill>
                  <a:srgbClr val="F3F4F1"/>
                </a:solidFill>
                <a:latin typeface="Consolas"/>
              </a:rPr>
              <a:t>}</a:t>
            </a:r>
          </a:p>
        </p:txBody>
      </p:sp>
      <p:sp>
        <p:nvSpPr>
          <p:cNvPr id="8" name="TextBox 7"/>
          <p:cNvSpPr txBox="1"/>
          <p:nvPr/>
        </p:nvSpPr>
        <p:spPr>
          <a:xfrm>
            <a:off x="548640" y="3337560"/>
            <a:ext cx="11094415" cy="2651760"/>
          </a:xfrm>
          <a:prstGeom prst="rect">
            <a:avLst/>
          </a:prstGeom>
          <a:noFill/>
        </p:spPr>
        <p:txBody>
          <a:bodyPr wrap="square" lIns="0" rIns="0" tIns="0" bIns="0">
            <a:spAutoFit/>
          </a:bodyPr>
          <a:lstStyle/>
          <a:p>
            <a:pPr algn="l">
              <a:lnSpc>
                <a:spcPct val="135000"/>
              </a:lnSpc>
              <a:spcBef>
                <a:spcPts val="0"/>
              </a:spcBef>
              <a:spcAft>
                <a:spcPts val="0"/>
              </a:spcAft>
            </a:pPr>
            <a:r>
              <a:rPr sz="1550" b="1" i="0">
                <a:solidFill>
                  <a:srgbClr val="1A1F1D"/>
                </a:solidFill>
                <a:latin typeface="Calibri"/>
              </a:rPr>
              <a:t>B2 doesn't need B1 built first </a:t>
            </a:r>
            <a:r>
              <a:rPr sz="1550" b="0" i="0">
                <a:solidFill>
                  <a:srgbClr val="1A1F1D"/>
                </a:solidFill>
                <a:latin typeface="Calibri"/>
              </a:rPr>
              <a:t>- confirmed at source level: probe-index generation and cell-content interpretation are genuinely separate code paths.</a:t>
            </a:r>
          </a:p>
          <a:p>
            <a:pPr algn="l">
              <a:lnSpc>
                <a:spcPct val="135000"/>
              </a:lnSpc>
              <a:spcBef>
                <a:spcPts val="0"/>
              </a:spcBef>
              <a:spcAft>
                <a:spcPts val="0"/>
              </a:spcAft>
            </a:pPr>
            <a:r>
              <a:rPr sz="1500" b="0" i="0">
                <a:solidFill>
                  <a:srgbClr val="57615C"/>
                </a:solidFill>
                <a:latin typeface="Calibri"/>
              </a:rPr>
              <a:t>We'd previously believed second_hash() was a complete implementation dead behind a flag - it isn't. It's a stub. B1 needs a real function written, plus a full database rebuild to test - smaller than a new architecture, bigger than a flag flip.</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TRACK B</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Current status</a:t>
            </a:r>
          </a:p>
        </p:txBody>
      </p:sp>
      <p:sp>
        <p:nvSpPr>
          <p:cNvPr id="5" name="Rounded Rectangle 4"/>
          <p:cNvSpPr/>
          <p:nvPr/>
        </p:nvSpPr>
        <p:spPr>
          <a:xfrm>
            <a:off x="9539935" y="987552"/>
            <a:ext cx="2028139" cy="292608"/>
          </a:xfrm>
          <a:prstGeom prst="roundRect">
            <a:avLst>
              <a:gd name="adj" fmla="val 50000"/>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9C7A1E"/>
                </a:solidFill>
                <a:latin typeface="Consolas"/>
              </a:rPr>
              <a:t>0 COMMITS - BY DESIGN</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7" name="TextBox 6"/>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049</a:t>
            </a:r>
          </a:p>
        </p:txBody>
      </p:sp>
      <p:sp>
        <p:nvSpPr>
          <p:cNvPr id="8" name="TextBox 7"/>
          <p:cNvSpPr txBox="1"/>
          <p:nvPr/>
        </p:nvSpPr>
        <p:spPr>
          <a:xfrm>
            <a:off x="548640" y="178308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700" b="0" i="0">
                <a:solidFill>
                  <a:srgbClr val="1A1F1D"/>
                </a:solidFill>
                <a:latin typeface="Calibri"/>
              </a:rPr>
              <a:t>Zero Luna commits for B1/B1b/B2/B3, entirely by your explicit instruction to finish Track A first - not neglect. ESKAPE panel capped at 4 of 6 species (E. faecium and Enterobacter were never sourced). B2.1 (pure math, zero Luna dependency) can start in parallel regardless of how the Track A pace question resolves.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SCORECARD</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500" b="1" i="0">
                <a:solidFill>
                  <a:srgbClr val="1A1F1D"/>
                </a:solidFill>
                <a:latin typeface="Cambria"/>
              </a:rPr>
              <a:t>What actually sped things up, vs. what didn't</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050</a:t>
            </a:r>
          </a:p>
        </p:txBody>
      </p:sp>
      <p:sp>
        <p:nvSpPr>
          <p:cNvPr id="7" name="TextBox 6"/>
          <p:cNvSpPr txBox="1"/>
          <p:nvPr/>
        </p:nvSpPr>
        <p:spPr>
          <a:xfrm>
            <a:off x="548640" y="1691640"/>
            <a:ext cx="11094415" cy="2743200"/>
          </a:xfrm>
          <a:prstGeom prst="rect">
            <a:avLst/>
          </a:prstGeom>
          <a:noFill/>
        </p:spPr>
        <p:txBody>
          <a:bodyPr wrap="square" lIns="0" rIns="0" tIns="0" bIns="0">
            <a:spAutoFit/>
          </a:bodyPr>
          <a:lstStyle/>
          <a:p>
            <a:pPr algn="l">
              <a:lnSpc>
                <a:spcPct val="140000"/>
              </a:lnSpc>
              <a:spcBef>
                <a:spcPts val="0"/>
              </a:spcBef>
              <a:spcAft>
                <a:spcPts val="0"/>
              </a:spcAft>
            </a:pPr>
            <a:r>
              <a:rPr sz="1600" b="0" i="1">
                <a:solidFill>
                  <a:srgbClr val="57615C"/>
                </a:solidFill>
                <a:latin typeface="Calibri"/>
              </a:rPr>
              <a:t>Stated plainly, separate from the narrative above: which of these levers produced a measured wall-clock win on the databases and thread counts that actually matter for a bigger machine (standard_8gb, pluspf_103gb, 32-96T) - and which didn't.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WHAT WORKED</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Real, verified wins</a:t>
            </a:r>
          </a:p>
        </p:txBody>
      </p:sp>
      <p:sp>
        <p:nvSpPr>
          <p:cNvPr id="5" name="Rounded Rectangle 4"/>
          <p:cNvSpPr/>
          <p:nvPr/>
        </p:nvSpPr>
        <p:spPr>
          <a:xfrm>
            <a:off x="10728655" y="987552"/>
            <a:ext cx="863193" cy="292608"/>
          </a:xfrm>
          <a:prstGeom prst="roundRect">
            <a:avLst>
              <a:gd name="adj" fmla="val 50000"/>
            </a:avLst>
          </a:prstGeom>
          <a:solidFill>
            <a:srgbClr val="EBF2ED"/>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3F7D4F"/>
                </a:solidFill>
                <a:latin typeface="Consolas"/>
              </a:rPr>
              <a:t>POSITIVE</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7" name="TextBox 6"/>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051</a:t>
            </a:r>
          </a:p>
        </p:txBody>
      </p:sp>
      <p:graphicFrame>
        <p:nvGraphicFramePr>
          <p:cNvPr id="8" name="Table 7"/>
          <p:cNvGraphicFramePr>
            <a:graphicFrameLocks noGrp="1"/>
          </p:cNvGraphicFramePr>
          <p:nvPr/>
        </p:nvGraphicFramePr>
        <p:xfrm>
          <a:off x="548640" y="1645920"/>
          <a:ext cx="11094414" cy="3291840"/>
        </p:xfrm>
        <a:graphic>
          <a:graphicData uri="http://schemas.openxmlformats.org/drawingml/2006/table">
            <a:tbl>
              <a:tblPr firstRow="0" bandRow="0">
                <a:tableStyleId>{2D5ABB26-0587-4C30-8999-92F81FD0307C}</a:tableStyleId>
              </a:tblPr>
              <a:tblGrid>
                <a:gridCol w="2884547"/>
                <a:gridCol w="3772101"/>
                <a:gridCol w="4437766"/>
              </a:tblGrid>
              <a:tr h="658368">
                <a:tc>
                  <a:txBody>
                    <a:bodyPr/>
                    <a:lstStyle/>
                    <a:p>
                      <a:r>
                        <a:rPr sz="1200" b="1">
                          <a:solidFill>
                            <a:srgbClr val="F3F4F1"/>
                          </a:solidFill>
                          <a:latin typeface="Consolas"/>
                        </a:rPr>
                        <a:t>Lever</a:t>
                      </a:r>
                    </a:p>
                  </a:txBody>
                  <a:tcPr marL="73152" marR="73152" marT="18288" marB="18288" anchor="ctr">
                    <a:solidFill>
                      <a:srgbClr val="1A1F1D"/>
                    </a:solidFill>
                  </a:tcPr>
                </a:tc>
                <a:tc>
                  <a:txBody>
                    <a:bodyPr/>
                    <a:lstStyle/>
                    <a:p>
                      <a:r>
                        <a:rPr sz="1200" b="1">
                          <a:solidFill>
                            <a:srgbClr val="F3F4F1"/>
                          </a:solidFill>
                          <a:latin typeface="Consolas"/>
                        </a:rPr>
                        <a:t>Real effect</a:t>
                      </a:r>
                    </a:p>
                  </a:txBody>
                  <a:tcPr marL="73152" marR="73152" marT="18288" marB="18288" anchor="ctr">
                    <a:solidFill>
                      <a:srgbClr val="1A1F1D"/>
                    </a:solidFill>
                  </a:tcPr>
                </a:tc>
                <a:tc>
                  <a:txBody>
                    <a:bodyPr/>
                    <a:lstStyle/>
                    <a:p>
                      <a:r>
                        <a:rPr sz="1200" b="1">
                          <a:solidFill>
                            <a:srgbClr val="F3F4F1"/>
                          </a:solidFill>
                          <a:latin typeface="Consolas"/>
                        </a:rPr>
                        <a:t>Caveat</a:t>
                      </a:r>
                    </a:p>
                  </a:txBody>
                  <a:tcPr marL="73152" marR="73152" marT="18288" marB="18288" anchor="ctr">
                    <a:solidFill>
                      <a:srgbClr val="1A1F1D"/>
                    </a:solidFill>
                  </a:tcPr>
                </a:tc>
              </a:tr>
              <a:tr h="658368">
                <a:tc>
                  <a:txBody>
                    <a:bodyPr/>
                    <a:lstStyle/>
                    <a:p>
                      <a:r>
                        <a:rPr sz="1250">
                          <a:solidFill>
                            <a:srgbClr val="1A1F1D"/>
                          </a:solidFill>
                          <a:latin typeface="Consolas"/>
                        </a:rPr>
                        <a:t>S3.0 heap-pointer fix</a:t>
                      </a:r>
                    </a:p>
                  </a:txBody>
                  <a:tcPr marL="73152" marR="73152" marT="18288" marB="18288" anchor="ctr">
                    <a:solidFill>
                      <a:srgbClr val="FFFFFF"/>
                    </a:solidFill>
                  </a:tcPr>
                </a:tc>
                <a:tc>
                  <a:txBody>
                    <a:bodyPr/>
                    <a:lstStyle/>
                    <a:p>
                      <a:r>
                        <a:rPr sz="1250">
                          <a:solidFill>
                            <a:srgbClr val="1A1F1D"/>
                          </a:solidFill>
                          <a:latin typeface="Consolas"/>
                        </a:rPr>
                        <a:t>Crash eliminated, 16-96T</a:t>
                      </a:r>
                    </a:p>
                  </a:txBody>
                  <a:tcPr marL="73152" marR="73152" marT="18288" marB="18288" anchor="ctr">
                    <a:solidFill>
                      <a:srgbClr val="FFFFFF"/>
                    </a:solidFill>
                  </a:tcPr>
                </a:tc>
                <a:tc>
                  <a:txBody>
                    <a:bodyPr/>
                    <a:lstStyle/>
                    <a:p>
                      <a:r>
                        <a:rPr sz="1250">
                          <a:solidFill>
                            <a:srgbClr val="1A1F1D"/>
                          </a:solidFill>
                          <a:latin typeface="Consolas"/>
                        </a:rPr>
                        <a:t>Stability win, not a speed win</a:t>
                      </a:r>
                    </a:p>
                  </a:txBody>
                  <a:tcPr marL="73152" marR="73152" marT="18288" marB="18288" anchor="ctr">
                    <a:solidFill>
                      <a:srgbClr val="FFFFFF"/>
                    </a:solidFill>
                  </a:tcPr>
                </a:tc>
              </a:tr>
              <a:tr h="658368">
                <a:tc>
                  <a:txBody>
                    <a:bodyPr/>
                    <a:lstStyle/>
                    <a:p>
                      <a:r>
                        <a:rPr sz="1250">
                          <a:solidFill>
                            <a:srgbClr val="1A1F1D"/>
                          </a:solidFill>
                          <a:latin typeface="Consolas"/>
                        </a:rPr>
                        <a:t>S4.0 hash-mix (MurmurHash3)</a:t>
                      </a:r>
                    </a:p>
                  </a:txBody>
                  <a:tcPr marL="73152" marR="73152" marT="18288" marB="18288" anchor="ctr">
                    <a:solidFill>
                      <a:srgbClr val="F3F4F1"/>
                    </a:solidFill>
                  </a:tcPr>
                </a:tc>
                <a:tc>
                  <a:txBody>
                    <a:bodyPr/>
                    <a:lstStyle/>
                    <a:p>
                      <a:r>
                        <a:rPr sz="1250">
                          <a:solidFill>
                            <a:srgbClr val="1A1F1D"/>
                          </a:solidFill>
                          <a:latin typeface="Consolas"/>
                        </a:rPr>
                        <a:t>8.9x hit-rate jump (0.40%-&gt;3.58%)</a:t>
                      </a:r>
                    </a:p>
                  </a:txBody>
                  <a:tcPr marL="73152" marR="73152" marT="18288" marB="18288" anchor="ctr">
                    <a:solidFill>
                      <a:srgbClr val="F3F4F1"/>
                    </a:solidFill>
                  </a:tcPr>
                </a:tc>
                <a:tc>
                  <a:txBody>
                    <a:bodyPr/>
                    <a:lstStyle/>
                    <a:p>
                      <a:r>
                        <a:rPr sz="1250">
                          <a:solidFill>
                            <a:srgbClr val="1A1F1D"/>
                          </a:solidFill>
                          <a:latin typeface="Consolas"/>
                        </a:rPr>
                        <a:t>Internal cache-quality win only</a:t>
                      </a:r>
                    </a:p>
                  </a:txBody>
                  <a:tcPr marL="73152" marR="73152" marT="18288" marB="18288" anchor="ctr">
                    <a:solidFill>
                      <a:srgbClr val="F3F4F1"/>
                    </a:solidFill>
                  </a:tcPr>
                </a:tc>
              </a:tr>
              <a:tr h="658368">
                <a:tc>
                  <a:txBody>
                    <a:bodyPr/>
                    <a:lstStyle/>
                    <a:p>
                      <a:r>
                        <a:rPr sz="1250">
                          <a:solidFill>
                            <a:srgbClr val="1A1F1D"/>
                          </a:solidFill>
                          <a:latin typeface="Consolas"/>
                        </a:rPr>
                        <a:t>S3.3 zero-sentinel+calloc</a:t>
                      </a:r>
                    </a:p>
                  </a:txBody>
                  <a:tcPr marL="73152" marR="73152" marT="18288" marB="18288" anchor="ctr">
                    <a:solidFill>
                      <a:srgbClr val="FFFFFF"/>
                    </a:solidFill>
                  </a:tcPr>
                </a:tc>
                <a:tc>
                  <a:txBody>
                    <a:bodyPr/>
                    <a:lstStyle/>
                    <a:p>
                      <a:r>
                        <a:rPr sz="1250">
                          <a:solidFill>
                            <a:srgbClr val="1A1F1D"/>
                          </a:solidFill>
                          <a:latin typeface="Consolas"/>
                        </a:rPr>
                        <a:t>~2x wall-clock/~3x cache-miss</a:t>
                      </a:r>
                    </a:p>
                  </a:txBody>
                  <a:tcPr marL="73152" marR="73152" marT="18288" marB="18288" anchor="ctr">
                    <a:solidFill>
                      <a:srgbClr val="FFFFFF"/>
                    </a:solidFill>
                  </a:tcPr>
                </a:tc>
                <a:tc>
                  <a:txBody>
                    <a:bodyPr/>
                    <a:lstStyle/>
                    <a:p>
                      <a:r>
                        <a:rPr sz="1250">
                          <a:solidFill>
                            <a:srgbClr val="1A1F1D"/>
                          </a:solidFill>
                          <a:latin typeface="Consolas"/>
                        </a:rPr>
                        <a:t>Only at a forced 4,194,304-set config the real formula never reaches</a:t>
                      </a:r>
                    </a:p>
                  </a:txBody>
                  <a:tcPr marL="73152" marR="73152" marT="18288" marB="18288" anchor="ctr">
                    <a:solidFill>
                      <a:srgbClr val="FFFFFF"/>
                    </a:solidFill>
                  </a:tcPr>
                </a:tc>
              </a:tr>
              <a:tr h="658368">
                <a:tc>
                  <a:txBody>
                    <a:bodyPr/>
                    <a:lstStyle/>
                    <a:p>
                      <a:r>
                        <a:rPr sz="1250">
                          <a:solidFill>
                            <a:srgbClr val="1A1F1D"/>
                          </a:solidFill>
                          <a:latin typeface="Consolas"/>
                        </a:rPr>
                        <a:t>S1 thread_local extension</a:t>
                      </a:r>
                    </a:p>
                  </a:txBody>
                  <a:tcPr marL="73152" marR="73152" marT="18288" marB="18288" anchor="ctr">
                    <a:solidFill>
                      <a:srgbClr val="F3F4F1"/>
                    </a:solidFill>
                  </a:tcPr>
                </a:tc>
                <a:tc>
                  <a:txBody>
                    <a:bodyPr/>
                    <a:lstStyle/>
                    <a:p>
                      <a:r>
                        <a:rPr sz="1250">
                          <a:solidFill>
                            <a:srgbClr val="1A1F1D"/>
                          </a:solidFill>
                          <a:latin typeface="Consolas"/>
                        </a:rPr>
                        <a:t>+5-13% wall-clock</a:t>
                      </a:r>
                    </a:p>
                  </a:txBody>
                  <a:tcPr marL="73152" marR="73152" marT="18288" marB="18288" anchor="ctr">
                    <a:solidFill>
                      <a:srgbClr val="F3F4F1"/>
                    </a:solidFill>
                  </a:tcPr>
                </a:tc>
                <a:tc>
                  <a:txBody>
                    <a:bodyPr/>
                    <a:lstStyle/>
                    <a:p>
                      <a:r>
                        <a:rPr sz="1250">
                          <a:solidFill>
                            <a:srgbClr val="1A1F1D"/>
                          </a:solidFill>
                          <a:latin typeface="Consolas"/>
                        </a:rPr>
                        <a:t>sample_targeted only - not the bottleneck DB, and unexplained</a:t>
                      </a:r>
                    </a:p>
                  </a:txBody>
                  <a:tcPr marL="73152" marR="73152" marT="18288" marB="18288" anchor="ctr">
                    <a:solidFill>
                      <a:srgbClr val="F3F4F1"/>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WHAT DIDN'T</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Null and reversed results</a:t>
            </a:r>
          </a:p>
        </p:txBody>
      </p:sp>
      <p:sp>
        <p:nvSpPr>
          <p:cNvPr id="5" name="Rounded Rectangle 4"/>
          <p:cNvSpPr/>
          <p:nvPr/>
        </p:nvSpPr>
        <p:spPr>
          <a:xfrm>
            <a:off x="10088575" y="987552"/>
            <a:ext cx="1490472" cy="292608"/>
          </a:xfrm>
          <a:prstGeom prst="roundRect">
            <a:avLst>
              <a:gd name="adj" fmla="val 50000"/>
            </a:avLst>
          </a:prstGeom>
          <a:solidFill>
            <a:srgbClr val="F7EC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B8452E"/>
                </a:solidFill>
                <a:latin typeface="Consolas"/>
              </a:rPr>
              <a:t>HONEST NEGATIVE</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7" name="TextBox 6"/>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052</a:t>
            </a:r>
          </a:p>
        </p:txBody>
      </p:sp>
      <p:graphicFrame>
        <p:nvGraphicFramePr>
          <p:cNvPr id="8" name="Table 7"/>
          <p:cNvGraphicFramePr>
            <a:graphicFrameLocks noGrp="1"/>
          </p:cNvGraphicFramePr>
          <p:nvPr/>
        </p:nvGraphicFramePr>
        <p:xfrm>
          <a:off x="548640" y="1645920"/>
          <a:ext cx="11094414" cy="3383280"/>
        </p:xfrm>
        <a:graphic>
          <a:graphicData uri="http://schemas.openxmlformats.org/drawingml/2006/table">
            <a:tbl>
              <a:tblPr firstRow="0" bandRow="0">
                <a:tableStyleId>{2D5ABB26-0587-4C30-8999-92F81FD0307C}</a:tableStyleId>
              </a:tblPr>
              <a:tblGrid>
                <a:gridCol w="3328324"/>
                <a:gridCol w="7766090"/>
              </a:tblGrid>
              <a:tr h="563880">
                <a:tc>
                  <a:txBody>
                    <a:bodyPr/>
                    <a:lstStyle/>
                    <a:p>
                      <a:r>
                        <a:rPr sz="1200" b="1">
                          <a:solidFill>
                            <a:srgbClr val="F3F4F1"/>
                          </a:solidFill>
                          <a:latin typeface="Consolas"/>
                        </a:rPr>
                        <a:t>Lever</a:t>
                      </a:r>
                    </a:p>
                  </a:txBody>
                  <a:tcPr marL="73152" marR="73152" marT="18288" marB="18288" anchor="ctr">
                    <a:solidFill>
                      <a:srgbClr val="1A1F1D"/>
                    </a:solidFill>
                  </a:tcPr>
                </a:tc>
                <a:tc>
                  <a:txBody>
                    <a:bodyPr/>
                    <a:lstStyle/>
                    <a:p>
                      <a:r>
                        <a:rPr sz="1200" b="1">
                          <a:solidFill>
                            <a:srgbClr val="F3F4F1"/>
                          </a:solidFill>
                          <a:latin typeface="Consolas"/>
                        </a:rPr>
                        <a:t>Result on standard_8gb/pluspf_103gb, 32-96T</a:t>
                      </a:r>
                    </a:p>
                  </a:txBody>
                  <a:tcPr marL="73152" marR="73152" marT="18288" marB="18288" anchor="ctr">
                    <a:solidFill>
                      <a:srgbClr val="1A1F1D"/>
                    </a:solidFill>
                  </a:tcPr>
                </a:tc>
              </a:tr>
              <a:tr h="563880">
                <a:tc>
                  <a:txBody>
                    <a:bodyPr/>
                    <a:lstStyle/>
                    <a:p>
                      <a:r>
                        <a:rPr sz="1250">
                          <a:solidFill>
                            <a:srgbClr val="1A1F1D"/>
                          </a:solidFill>
                          <a:latin typeface="Consolas"/>
                        </a:rPr>
                        <a:t>S1 (1-slot cache)</a:t>
                      </a:r>
                    </a:p>
                  </a:txBody>
                  <a:tcPr marL="73152" marR="73152" marT="18288" marB="18288" anchor="ctr">
                    <a:solidFill>
                      <a:srgbClr val="FFFFFF"/>
                    </a:solidFill>
                  </a:tcPr>
                </a:tc>
                <a:tc>
                  <a:txBody>
                    <a:bodyPr/>
                    <a:lstStyle/>
                    <a:p>
                      <a:r>
                        <a:rPr sz="1250">
                          <a:solidFill>
                            <a:srgbClr val="1A1F1D"/>
                          </a:solidFill>
                          <a:latin typeface="Consolas"/>
                        </a:rPr>
                        <a:t>Null - flat wall-clock, flat LLC-miss</a:t>
                      </a:r>
                    </a:p>
                  </a:txBody>
                  <a:tcPr marL="73152" marR="73152" marT="18288" marB="18288" anchor="ctr">
                    <a:solidFill>
                      <a:srgbClr val="FFFFFF"/>
                    </a:solidFill>
                  </a:tcPr>
                </a:tc>
              </a:tr>
              <a:tr h="563880">
                <a:tc>
                  <a:txBody>
                    <a:bodyPr/>
                    <a:lstStyle/>
                    <a:p>
                      <a:r>
                        <a:rPr sz="1250">
                          <a:solidFill>
                            <a:srgbClr val="1A1F1D"/>
                          </a:solidFill>
                          <a:latin typeface="Consolas"/>
                        </a:rPr>
                        <a:t>S2 (4-way cache)</a:t>
                      </a:r>
                    </a:p>
                  </a:txBody>
                  <a:tcPr marL="73152" marR="73152" marT="18288" marB="18288" anchor="ctr">
                    <a:solidFill>
                      <a:srgbClr val="F3F4F1"/>
                    </a:solidFill>
                  </a:tcPr>
                </a:tc>
                <a:tc>
                  <a:txBody>
                    <a:bodyPr/>
                    <a:lstStyle/>
                    <a:p>
                      <a:r>
                        <a:rPr sz="1250">
                          <a:solidFill>
                            <a:srgbClr val="1A1F1D"/>
                          </a:solidFill>
                          <a:latin typeface="Consolas"/>
                        </a:rPr>
                        <a:t>Null - hit rate 0.14-0.40%, far too low to move time</a:t>
                      </a:r>
                    </a:p>
                  </a:txBody>
                  <a:tcPr marL="73152" marR="73152" marT="18288" marB="18288" anchor="ctr">
                    <a:solidFill>
                      <a:srgbClr val="F3F4F1"/>
                    </a:solidFill>
                  </a:tcPr>
                </a:tc>
              </a:tr>
              <a:tr h="563880">
                <a:tc>
                  <a:txBody>
                    <a:bodyPr/>
                    <a:lstStyle/>
                    <a:p>
                      <a:r>
                        <a:rPr sz="1250">
                          <a:solidFill>
                            <a:srgbClr val="1A1F1D"/>
                          </a:solidFill>
                          <a:latin typeface="Consolas"/>
                        </a:rPr>
                        <a:t>S3.4 full benchmark</a:t>
                      </a:r>
                    </a:p>
                  </a:txBody>
                  <a:tcPr marL="73152" marR="73152" marT="18288" marB="18288" anchor="ctr">
                    <a:solidFill>
                      <a:srgbClr val="FFFFFF"/>
                    </a:solidFill>
                  </a:tcPr>
                </a:tc>
                <a:tc>
                  <a:txBody>
                    <a:bodyPr/>
                    <a:lstStyle/>
                    <a:p>
                      <a:r>
                        <a:rPr sz="1250">
                          <a:solidFill>
                            <a:srgbClr val="1A1F1D"/>
                          </a:solidFill>
                          <a:latin typeface="Consolas"/>
                        </a:rPr>
                        <a:t>Null everywhere - explained: bugs and the real formula's range don't overlap</a:t>
                      </a:r>
                    </a:p>
                  </a:txBody>
                  <a:tcPr marL="73152" marR="73152" marT="18288" marB="18288" anchor="ctr">
                    <a:solidFill>
                      <a:srgbClr val="FFFFFF"/>
                    </a:solidFill>
                  </a:tcPr>
                </a:tc>
              </a:tr>
              <a:tr h="563880">
                <a:tc>
                  <a:txBody>
                    <a:bodyPr/>
                    <a:lstStyle/>
                    <a:p>
                      <a:r>
                        <a:rPr sz="1250">
                          <a:solidFill>
                            <a:srgbClr val="1A1F1D"/>
                          </a:solidFill>
                          <a:latin typeface="Consolas"/>
                        </a:rPr>
                        <a:t>S4.0 hash-mix, end-to-end</a:t>
                      </a:r>
                    </a:p>
                  </a:txBody>
                  <a:tcPr marL="73152" marR="73152" marT="18288" marB="18288" anchor="ctr">
                    <a:solidFill>
                      <a:srgbClr val="F3F4F1"/>
                    </a:solidFill>
                  </a:tcPr>
                </a:tc>
                <a:tc>
                  <a:txBody>
                    <a:bodyPr/>
                    <a:lstStyle/>
                    <a:p>
                      <a:r>
                        <a:rPr sz="1250">
                          <a:solidFill>
                            <a:srgbClr val="1A1F1D"/>
                          </a:solidFill>
                          <a:latin typeface="Consolas"/>
                        </a:rPr>
                        <a:t>Null despite the 8.9x internal win - extra hits still ~3% of the stream</a:t>
                      </a:r>
                    </a:p>
                  </a:txBody>
                  <a:tcPr marL="73152" marR="73152" marT="18288" marB="18288" anchor="ctr">
                    <a:solidFill>
                      <a:srgbClr val="F3F4F1"/>
                    </a:solidFill>
                  </a:tcPr>
                </a:tc>
              </a:tr>
              <a:tr h="563880">
                <a:tc>
                  <a:txBody>
                    <a:bodyPr/>
                    <a:lstStyle/>
                    <a:p>
                      <a:r>
                        <a:rPr sz="1250">
                          <a:solidFill>
                            <a:srgbClr val="1A1F1D"/>
                          </a:solidFill>
                          <a:latin typeface="Consolas"/>
                        </a:rPr>
                        <a:t>S2's "eviction win" (+25.2%)</a:t>
                      </a:r>
                    </a:p>
                  </a:txBody>
                  <a:tcPr marL="73152" marR="73152" marT="18288" marB="18288" anchor="ctr">
                    <a:solidFill>
                      <a:srgbClr val="FFFFFF"/>
                    </a:solidFill>
                  </a:tcPr>
                </a:tc>
                <a:tc>
                  <a:txBody>
                    <a:bodyPr/>
                    <a:lstStyle/>
                    <a:p>
                      <a:r>
                        <a:rPr sz="1250">
                          <a:solidFill>
                            <a:srgbClr val="1A1F1D"/>
                          </a:solidFill>
                          <a:latin typeface="Consolas"/>
                        </a:rPr>
                        <a:t>REVERSED to -3.9% once the hash bug was fixed - not a real effect at all</a:t>
                      </a:r>
                    </a:p>
                  </a:txBody>
                  <a:tcPr marL="73152" marR="73152" marT="18288" marB="18288" anchor="ctr">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BOTTOM LINE</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As of today</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053</a:t>
            </a:r>
          </a:p>
        </p:txBody>
      </p:sp>
      <p:sp>
        <p:nvSpPr>
          <p:cNvPr id="7" name="TextBox 6"/>
          <p:cNvSpPr txBox="1"/>
          <p:nvPr/>
        </p:nvSpPr>
        <p:spPr>
          <a:xfrm>
            <a:off x="548640" y="1691640"/>
            <a:ext cx="11094415" cy="2103120"/>
          </a:xfrm>
          <a:prstGeom prst="rect">
            <a:avLst/>
          </a:prstGeom>
          <a:noFill/>
        </p:spPr>
        <p:txBody>
          <a:bodyPr wrap="square" lIns="0" rIns="0" tIns="0" bIns="0">
            <a:spAutoFit/>
          </a:bodyPr>
          <a:lstStyle/>
          <a:p>
            <a:pPr algn="l">
              <a:lnSpc>
                <a:spcPct val="140000"/>
              </a:lnSpc>
              <a:spcBef>
                <a:spcPts val="0"/>
              </a:spcBef>
              <a:spcAft>
                <a:spcPts val="0"/>
              </a:spcAft>
            </a:pPr>
            <a:r>
              <a:rPr sz="2000" b="1" i="0">
                <a:solidFill>
                  <a:srgbClr val="0E7C68"/>
                </a:solidFill>
                <a:latin typeface="Calibri"/>
              </a:rPr>
              <a:t>Zero measured wall-clock speedup, on the two large databases that matter, at real production thread counts, from anything in S1 through S4.</a:t>
            </a:r>
          </a:p>
        </p:txBody>
      </p:sp>
      <p:sp>
        <p:nvSpPr>
          <p:cNvPr id="8" name="TextBox 7"/>
          <p:cNvSpPr txBox="1"/>
          <p:nvPr/>
        </p:nvSpPr>
        <p:spPr>
          <a:xfrm>
            <a:off x="548640" y="3657600"/>
            <a:ext cx="11094415" cy="2377440"/>
          </a:xfrm>
          <a:prstGeom prst="rect">
            <a:avLst/>
          </a:prstGeom>
          <a:noFill/>
        </p:spPr>
        <p:txBody>
          <a:bodyPr wrap="square" lIns="0" rIns="0" tIns="0" bIns="0">
            <a:spAutoFit/>
          </a:bodyPr>
          <a:lstStyle/>
          <a:p>
            <a:pPr algn="l">
              <a:lnSpc>
                <a:spcPct val="140000"/>
              </a:lnSpc>
              <a:spcBef>
                <a:spcPts val="0"/>
              </a:spcBef>
              <a:spcAft>
                <a:spcPts val="0"/>
              </a:spcAft>
            </a:pPr>
            <a:r>
              <a:rPr sz="1650" b="0" i="0">
                <a:solidFill>
                  <a:srgbClr val="1A1F1D"/>
                </a:solidFill>
                <a:latin typeface="Calibri"/>
              </a:rPr>
              <a:t>Every lever tested so far on the big databases has landed as null, or - in one case - reversed once a bug was fixed. That is a real, diagnosed negative result with a mechanism behind each null, not a shrug. The one untested lever that specifically targets the actual bottleneck - making the expensive lookup itself faster, rather than trying to avoid it - is S5 (prefetch-batching). It's built, merged carefully, and has zero Luna numbers as of today. It is the single highest-expected-value item left on the list.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MASTER Q&amp;A</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Cross-cutting questions likely to come up</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054</a:t>
            </a:r>
          </a:p>
        </p:txBody>
      </p:sp>
      <p:sp>
        <p:nvSpPr>
          <p:cNvPr id="7" name="TextBox 6"/>
          <p:cNvSpPr txBox="1"/>
          <p:nvPr/>
        </p:nvSpPr>
        <p:spPr>
          <a:xfrm>
            <a:off x="548640" y="1691640"/>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450" b="1" i="0">
                <a:solidFill>
                  <a:srgbClr val="0E7C68"/>
                </a:solidFill>
                <a:latin typeface="Consolas"/>
              </a:rPr>
              <a:t>Q  </a:t>
            </a:r>
            <a:r>
              <a:rPr sz="1450" b="1" i="1">
                <a:solidFill>
                  <a:srgbClr val="1A1F1D"/>
                </a:solidFill>
                <a:latin typeface="Calibri"/>
              </a:rPr>
              <a:t>Walk me through the whole thing in two minutes.</a:t>
            </a:r>
          </a:p>
        </p:txBody>
      </p:sp>
      <p:sp>
        <p:nvSpPr>
          <p:cNvPr id="8" name="TextBox 7"/>
          <p:cNvSpPr txBox="1"/>
          <p:nvPr/>
        </p:nvSpPr>
        <p:spPr>
          <a:xfrm>
            <a:off x="548640" y="2039112"/>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500" b="0" i="0">
                <a:solidFill>
                  <a:srgbClr val="57615C"/>
                </a:solidFill>
                <a:latin typeface="Calibri"/>
              </a:rPr>
              <a:t>Rebaselined on the right version (S0). Found and extended Kraken2's own tiny cache (S1) - no benefit, but real evidence a 1-slot design has a ceiling. Built the 4-way cache (S2), audited it independently, found a wiring bug, fixed what mattered, confirmed the low hit rate is a genuine capacity limit. Fixed a crash and a slowdown, built a real sizing formula (S3) - necessary, explained null. Found the hashing was broken, fixed it for 8.9x - and that fix reversed an earlier reported win, which we said directly (S4). Now pivoting to making the lookup itself faster (S5) - built, unmeasured. Track B hasn't started, exactly as asked.</a:t>
            </a:r>
          </a:p>
        </p:txBody>
      </p:sp>
      <p:sp>
        <p:nvSpPr>
          <p:cNvPr id="9" name="TextBox 8"/>
          <p:cNvSpPr txBox="1"/>
          <p:nvPr/>
        </p:nvSpPr>
        <p:spPr>
          <a:xfrm>
            <a:off x="548640" y="3026664"/>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450" b="1" i="0">
                <a:solidFill>
                  <a:srgbClr val="0E7C68"/>
                </a:solidFill>
                <a:latin typeface="Consolas"/>
              </a:rPr>
              <a:t>Q  </a:t>
            </a:r>
            <a:r>
              <a:rPr sz="1450" b="1" i="1">
                <a:solidFill>
                  <a:srgbClr val="1A1F1D"/>
                </a:solidFill>
                <a:latin typeface="Calibri"/>
              </a:rPr>
              <a:t>Why should I trust any of these numbers?</a:t>
            </a:r>
          </a:p>
        </p:txBody>
      </p:sp>
      <p:sp>
        <p:nvSpPr>
          <p:cNvPr id="10" name="TextBox 9"/>
          <p:cNvSpPr txBox="1"/>
          <p:nvPr/>
        </p:nvSpPr>
        <p:spPr>
          <a:xfrm>
            <a:off x="548640" y="3374136"/>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500" b="0" i="0">
                <a:solidFill>
                  <a:srgbClr val="57615C"/>
                </a:solidFill>
                <a:latin typeface="Calibri"/>
              </a:rPr>
              <a:t>Every comparison uses interleaved runs, a 5% CV trust threshold, and four rounds of independent multi-agent review that each caught real errors. We report nulls and reversals as plainly as wins.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MASTER Q&amp;A</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500" b="1" i="0">
                <a:solidFill>
                  <a:srgbClr val="1A1F1D"/>
                </a:solidFill>
                <a:latin typeface="Cambria"/>
              </a:rPr>
              <a:t>More cross-cutting questions</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055</a:t>
            </a:r>
          </a:p>
        </p:txBody>
      </p:sp>
      <p:sp>
        <p:nvSpPr>
          <p:cNvPr id="7" name="TextBox 6"/>
          <p:cNvSpPr txBox="1"/>
          <p:nvPr/>
        </p:nvSpPr>
        <p:spPr>
          <a:xfrm>
            <a:off x="548640" y="1691640"/>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450" b="1" i="0">
                <a:solidFill>
                  <a:srgbClr val="0E7C68"/>
                </a:solidFill>
                <a:latin typeface="Consolas"/>
              </a:rPr>
              <a:t>Q  </a:t>
            </a:r>
            <a:r>
              <a:rPr sz="1450" b="1" i="1">
                <a:solidFill>
                  <a:srgbClr val="1A1F1D"/>
                </a:solidFill>
                <a:latin typeface="Calibri"/>
              </a:rPr>
              <a:t>What's still open right now?</a:t>
            </a:r>
          </a:p>
        </p:txBody>
      </p:sp>
      <p:sp>
        <p:nvSpPr>
          <p:cNvPr id="8" name="TextBox 7"/>
          <p:cNvSpPr txBox="1"/>
          <p:nvPr/>
        </p:nvSpPr>
        <p:spPr>
          <a:xfrm>
            <a:off x="548640" y="2039112"/>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500" b="0" i="0">
                <a:solidFill>
                  <a:srgbClr val="57615C"/>
                </a:solidFill>
                <a:latin typeface="Calibri"/>
              </a:rPr>
              <a:t>S5's real number; the f=0.25 sizing placeholder; whether reuse-distance holds beyond standard_8gb/T=1; the S2 nesting cleanup; the pace question left explicitly for you to decide.</a:t>
            </a:r>
          </a:p>
        </p:txBody>
      </p:sp>
      <p:sp>
        <p:nvSpPr>
          <p:cNvPr id="9" name="TextBox 8"/>
          <p:cNvSpPr txBox="1"/>
          <p:nvPr/>
        </p:nvSpPr>
        <p:spPr>
          <a:xfrm>
            <a:off x="548640" y="3026664"/>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450" b="1" i="0">
                <a:solidFill>
                  <a:srgbClr val="0E7C68"/>
                </a:solidFill>
                <a:latin typeface="Consolas"/>
              </a:rPr>
              <a:t>Q  </a:t>
            </a:r>
            <a:r>
              <a:rPr sz="1450" b="1" i="1">
                <a:solidFill>
                  <a:srgbClr val="1A1F1D"/>
                </a:solidFill>
                <a:latin typeface="Calibri"/>
              </a:rPr>
              <a:t>If eviction 'doesn't matter,' why does the adaptive cache still make sense?</a:t>
            </a:r>
          </a:p>
        </p:txBody>
      </p:sp>
      <p:sp>
        <p:nvSpPr>
          <p:cNvPr id="10" name="TextBox 9"/>
          <p:cNvSpPr txBox="1"/>
          <p:nvPr/>
        </p:nvSpPr>
        <p:spPr>
          <a:xfrm>
            <a:off x="548640" y="3374136"/>
            <a:ext cx="11094415" cy="868680"/>
          </a:xfrm>
          <a:prstGeom prst="rect">
            <a:avLst/>
          </a:prstGeom>
          <a:noFill/>
        </p:spPr>
        <p:txBody>
          <a:bodyPr wrap="square" lIns="0" rIns="0" tIns="0" bIns="0">
            <a:spAutoFit/>
          </a:bodyPr>
          <a:lstStyle/>
          <a:p>
            <a:pPr algn="l">
              <a:lnSpc>
                <a:spcPct val="130000"/>
              </a:lnSpc>
              <a:spcBef>
                <a:spcPts val="0"/>
              </a:spcBef>
              <a:spcAft>
                <a:spcPts val="0"/>
              </a:spcAft>
            </a:pPr>
            <a:r>
              <a:rPr sz="1500" b="0" i="0">
                <a:solidFill>
                  <a:srgbClr val="57615C"/>
                </a:solidFill>
                <a:latin typeface="Calibri"/>
              </a:rPr>
              <a:t>"Eviction as currently tested doesn't matter" and "the cache doesn't matter" are different claims. Capacity, sizing, and correct hashing are all real, verified pieces. What's open is whether MORE eviction sophistication is worth the time - answer: only pseudo-LRU or admission control, both cheap, both bounded by the same reuse-distance ceiling.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COMMIT / TAG REFERENCE</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Every safe checkpoint, with real hashes</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056</a:t>
            </a:r>
          </a:p>
        </p:txBody>
      </p:sp>
      <p:graphicFrame>
        <p:nvGraphicFramePr>
          <p:cNvPr id="7" name="Table 6"/>
          <p:cNvGraphicFramePr>
            <a:graphicFrameLocks noGrp="1"/>
          </p:cNvGraphicFramePr>
          <p:nvPr/>
        </p:nvGraphicFramePr>
        <p:xfrm>
          <a:off x="548640" y="1691640"/>
          <a:ext cx="11094415" cy="3200400"/>
        </p:xfrm>
        <a:graphic>
          <a:graphicData uri="http://schemas.openxmlformats.org/drawingml/2006/table">
            <a:tbl>
              <a:tblPr firstRow="0" bandRow="0">
                <a:tableStyleId>{2D5ABB26-0587-4C30-8999-92F81FD0307C}</a:tableStyleId>
              </a:tblPr>
              <a:tblGrid>
                <a:gridCol w="2218883"/>
                <a:gridCol w="6656649"/>
                <a:gridCol w="2218883"/>
              </a:tblGrid>
              <a:tr h="400050">
                <a:tc>
                  <a:txBody>
                    <a:bodyPr/>
                    <a:lstStyle/>
                    <a:p>
                      <a:r>
                        <a:rPr sz="1200" b="1">
                          <a:solidFill>
                            <a:srgbClr val="F3F4F1"/>
                          </a:solidFill>
                          <a:latin typeface="Consolas"/>
                        </a:rPr>
                        <a:t>Tag</a:t>
                      </a:r>
                    </a:p>
                  </a:txBody>
                  <a:tcPr marL="73152" marR="73152" marT="18288" marB="18288" anchor="ctr">
                    <a:solidFill>
                      <a:srgbClr val="1A1F1D"/>
                    </a:solidFill>
                  </a:tcPr>
                </a:tc>
                <a:tc>
                  <a:txBody>
                    <a:bodyPr/>
                    <a:lstStyle/>
                    <a:p>
                      <a:r>
                        <a:rPr sz="1200" b="1">
                          <a:solidFill>
                            <a:srgbClr val="F3F4F1"/>
                          </a:solidFill>
                          <a:latin typeface="Consolas"/>
                        </a:rPr>
                        <a:t>What it is</a:t>
                      </a:r>
                    </a:p>
                  </a:txBody>
                  <a:tcPr marL="73152" marR="73152" marT="18288" marB="18288" anchor="ctr">
                    <a:solidFill>
                      <a:srgbClr val="1A1F1D"/>
                    </a:solidFill>
                  </a:tcPr>
                </a:tc>
                <a:tc>
                  <a:txBody>
                    <a:bodyPr/>
                    <a:lstStyle/>
                    <a:p>
                      <a:r>
                        <a:rPr sz="1200" b="1">
                          <a:solidFill>
                            <a:srgbClr val="F3F4F1"/>
                          </a:solidFill>
                          <a:latin typeface="Consolas"/>
                        </a:rPr>
                        <a:t>Commit</a:t>
                      </a:r>
                    </a:p>
                  </a:txBody>
                  <a:tcPr marL="73152" marR="73152" marT="18288" marB="18288" anchor="ctr">
                    <a:solidFill>
                      <a:srgbClr val="1A1F1D"/>
                    </a:solidFill>
                  </a:tcPr>
                </a:tc>
              </a:tr>
              <a:tr h="400050">
                <a:tc>
                  <a:txBody>
                    <a:bodyPr/>
                    <a:lstStyle/>
                    <a:p>
                      <a:r>
                        <a:rPr sz="1250">
                          <a:solidFill>
                            <a:srgbClr val="1A1F1D"/>
                          </a:solidFill>
                          <a:latin typeface="Consolas"/>
                        </a:rPr>
                        <a:t>safe/S1.2</a:t>
                      </a:r>
                    </a:p>
                  </a:txBody>
                  <a:tcPr marL="73152" marR="73152" marT="18288" marB="18288" anchor="ctr">
                    <a:solidFill>
                      <a:srgbClr val="FFFFFF"/>
                    </a:solidFill>
                  </a:tcPr>
                </a:tc>
                <a:tc>
                  <a:txBody>
                    <a:bodyPr/>
                    <a:lstStyle/>
                    <a:p>
                      <a:r>
                        <a:rPr sz="1250">
                          <a:solidFill>
                            <a:srgbClr val="1A1F1D"/>
                          </a:solidFill>
                          <a:latin typeface="Consolas"/>
                        </a:rPr>
                        <a:t>S1.1 thread_local promotion, measured</a:t>
                      </a:r>
                    </a:p>
                  </a:txBody>
                  <a:tcPr marL="73152" marR="73152" marT="18288" marB="18288" anchor="ctr">
                    <a:solidFill>
                      <a:srgbClr val="FFFFFF"/>
                    </a:solidFill>
                  </a:tcPr>
                </a:tc>
                <a:tc>
                  <a:txBody>
                    <a:bodyPr/>
                    <a:lstStyle/>
                    <a:p>
                      <a:r>
                        <a:rPr sz="1250">
                          <a:solidFill>
                            <a:srgbClr val="1A1F1D"/>
                          </a:solidFill>
                          <a:latin typeface="Consolas"/>
                        </a:rPr>
                        <a:t>fbf993d9</a:t>
                      </a:r>
                    </a:p>
                  </a:txBody>
                  <a:tcPr marL="73152" marR="73152" marT="18288" marB="18288" anchor="ctr">
                    <a:solidFill>
                      <a:srgbClr val="FFFFFF"/>
                    </a:solidFill>
                  </a:tcPr>
                </a:tc>
              </a:tr>
              <a:tr h="400050">
                <a:tc>
                  <a:txBody>
                    <a:bodyPr/>
                    <a:lstStyle/>
                    <a:p>
                      <a:r>
                        <a:rPr sz="1250">
                          <a:solidFill>
                            <a:srgbClr val="1A1F1D"/>
                          </a:solidFill>
                          <a:latin typeface="Consolas"/>
                        </a:rPr>
                        <a:t>safe/S2.4</a:t>
                      </a:r>
                    </a:p>
                  </a:txBody>
                  <a:tcPr marL="73152" marR="73152" marT="18288" marB="18288" anchor="ctr">
                    <a:solidFill>
                      <a:srgbClr val="F3F4F1"/>
                    </a:solidFill>
                  </a:tcPr>
                </a:tc>
                <a:tc>
                  <a:txBody>
                    <a:bodyPr/>
                    <a:lstStyle/>
                    <a:p>
                      <a:r>
                        <a:rPr sz="1250">
                          <a:solidFill>
                            <a:srgbClr val="1A1F1D"/>
                          </a:solidFill>
                          <a:latin typeface="Consolas"/>
                        </a:rPr>
                        <a:t>4-way cache (nesting bug documented in message)</a:t>
                      </a:r>
                    </a:p>
                  </a:txBody>
                  <a:tcPr marL="73152" marR="73152" marT="18288" marB="18288" anchor="ctr">
                    <a:solidFill>
                      <a:srgbClr val="F3F4F1"/>
                    </a:solidFill>
                  </a:tcPr>
                </a:tc>
                <a:tc>
                  <a:txBody>
                    <a:bodyPr/>
                    <a:lstStyle/>
                    <a:p>
                      <a:r>
                        <a:rPr sz="1250">
                          <a:solidFill>
                            <a:srgbClr val="1A1F1D"/>
                          </a:solidFill>
                          <a:latin typeface="Consolas"/>
                        </a:rPr>
                        <a:t>75f908e4</a:t>
                      </a:r>
                    </a:p>
                  </a:txBody>
                  <a:tcPr marL="73152" marR="73152" marT="18288" marB="18288" anchor="ctr">
                    <a:solidFill>
                      <a:srgbClr val="F3F4F1"/>
                    </a:solidFill>
                  </a:tcPr>
                </a:tc>
              </a:tr>
              <a:tr h="400050">
                <a:tc>
                  <a:txBody>
                    <a:bodyPr/>
                    <a:lstStyle/>
                    <a:p>
                      <a:r>
                        <a:rPr sz="1250">
                          <a:solidFill>
                            <a:srgbClr val="1A1F1D"/>
                          </a:solidFill>
                          <a:latin typeface="Consolas"/>
                        </a:rPr>
                        <a:t>safe/S3.0</a:t>
                      </a:r>
                    </a:p>
                  </a:txBody>
                  <a:tcPr marL="73152" marR="73152" marT="18288" marB="18288" anchor="ctr">
                    <a:solidFill>
                      <a:srgbClr val="FFFFFF"/>
                    </a:solidFill>
                  </a:tcPr>
                </a:tc>
                <a:tc>
                  <a:txBody>
                    <a:bodyPr/>
                    <a:lstStyle/>
                    <a:p>
                      <a:r>
                        <a:rPr sz="1250">
                          <a:solidFill>
                            <a:srgbClr val="1A1F1D"/>
                          </a:solidFill>
                          <a:latin typeface="Consolas"/>
                        </a:rPr>
                        <a:t>Heap-pointer crash fix</a:t>
                      </a:r>
                    </a:p>
                  </a:txBody>
                  <a:tcPr marL="73152" marR="73152" marT="18288" marB="18288" anchor="ctr">
                    <a:solidFill>
                      <a:srgbClr val="FFFFFF"/>
                    </a:solidFill>
                  </a:tcPr>
                </a:tc>
                <a:tc>
                  <a:txBody>
                    <a:bodyPr/>
                    <a:lstStyle/>
                    <a:p>
                      <a:r>
                        <a:rPr sz="1250">
                          <a:solidFill>
                            <a:srgbClr val="1A1F1D"/>
                          </a:solidFill>
                          <a:latin typeface="Consolas"/>
                        </a:rPr>
                        <a:t>c2981a7</a:t>
                      </a:r>
                    </a:p>
                  </a:txBody>
                  <a:tcPr marL="73152" marR="73152" marT="18288" marB="18288" anchor="ctr">
                    <a:solidFill>
                      <a:srgbClr val="FFFFFF"/>
                    </a:solidFill>
                  </a:tcPr>
                </a:tc>
              </a:tr>
              <a:tr h="400050">
                <a:tc>
                  <a:txBody>
                    <a:bodyPr/>
                    <a:lstStyle/>
                    <a:p>
                      <a:r>
                        <a:rPr sz="1250">
                          <a:solidFill>
                            <a:srgbClr val="1A1F1D"/>
                          </a:solidFill>
                          <a:latin typeface="Consolas"/>
                        </a:rPr>
                        <a:t>safe/S3.1-S3.2</a:t>
                      </a:r>
                    </a:p>
                  </a:txBody>
                  <a:tcPr marL="73152" marR="73152" marT="18288" marB="18288" anchor="ctr">
                    <a:solidFill>
                      <a:srgbClr val="F3F4F1"/>
                    </a:solidFill>
                  </a:tcPr>
                </a:tc>
                <a:tc>
                  <a:txBody>
                    <a:bodyPr/>
                    <a:lstStyle/>
                    <a:p>
                      <a:r>
                        <a:rPr sz="1250">
                          <a:solidFill>
                            <a:srgbClr val="1A1F1D"/>
                          </a:solidFill>
                          <a:latin typeface="Consolas"/>
                        </a:rPr>
                        <a:t>LLC-topology-aware sizing formula</a:t>
                      </a:r>
                    </a:p>
                  </a:txBody>
                  <a:tcPr marL="73152" marR="73152" marT="18288" marB="18288" anchor="ctr">
                    <a:solidFill>
                      <a:srgbClr val="F3F4F1"/>
                    </a:solidFill>
                  </a:tcPr>
                </a:tc>
                <a:tc>
                  <a:txBody>
                    <a:bodyPr/>
                    <a:lstStyle/>
                    <a:p>
                      <a:r>
                        <a:rPr sz="1250">
                          <a:solidFill>
                            <a:srgbClr val="1A1F1D"/>
                          </a:solidFill>
                          <a:latin typeface="Consolas"/>
                        </a:rPr>
                        <a:t>f686002</a:t>
                      </a:r>
                    </a:p>
                  </a:txBody>
                  <a:tcPr marL="73152" marR="73152" marT="18288" marB="18288" anchor="ctr">
                    <a:solidFill>
                      <a:srgbClr val="F3F4F1"/>
                    </a:solidFill>
                  </a:tcPr>
                </a:tc>
              </a:tr>
              <a:tr h="400050">
                <a:tc>
                  <a:txBody>
                    <a:bodyPr/>
                    <a:lstStyle/>
                    <a:p>
                      <a:r>
                        <a:rPr sz="1250">
                          <a:solidFill>
                            <a:srgbClr val="1A1F1D"/>
                          </a:solidFill>
                          <a:latin typeface="Consolas"/>
                        </a:rPr>
                        <a:t>safe/S3.3</a:t>
                      </a:r>
                    </a:p>
                  </a:txBody>
                  <a:tcPr marL="73152" marR="73152" marT="18288" marB="18288" anchor="ctr">
                    <a:solidFill>
                      <a:srgbClr val="FFFFFF"/>
                    </a:solidFill>
                  </a:tcPr>
                </a:tc>
                <a:tc>
                  <a:txBody>
                    <a:bodyPr/>
                    <a:lstStyle/>
                    <a:p>
                      <a:r>
                        <a:rPr sz="1250">
                          <a:solidFill>
                            <a:srgbClr val="1A1F1D"/>
                          </a:solidFill>
                          <a:latin typeface="Consolas"/>
                        </a:rPr>
                        <a:t>Zero-sentinel + calloc fix</a:t>
                      </a:r>
                    </a:p>
                  </a:txBody>
                  <a:tcPr marL="73152" marR="73152" marT="18288" marB="18288" anchor="ctr">
                    <a:solidFill>
                      <a:srgbClr val="FFFFFF"/>
                    </a:solidFill>
                  </a:tcPr>
                </a:tc>
                <a:tc>
                  <a:txBody>
                    <a:bodyPr/>
                    <a:lstStyle/>
                    <a:p>
                      <a:r>
                        <a:rPr sz="1250">
                          <a:solidFill>
                            <a:srgbClr val="1A1F1D"/>
                          </a:solidFill>
                          <a:latin typeface="Consolas"/>
                        </a:rPr>
                        <a:t>b8c1ee0</a:t>
                      </a:r>
                    </a:p>
                  </a:txBody>
                  <a:tcPr marL="73152" marR="73152" marT="18288" marB="18288" anchor="ctr">
                    <a:solidFill>
                      <a:srgbClr val="FFFFFF"/>
                    </a:solidFill>
                  </a:tcPr>
                </a:tc>
              </a:tr>
              <a:tr h="400050">
                <a:tc>
                  <a:txBody>
                    <a:bodyPr/>
                    <a:lstStyle/>
                    <a:p>
                      <a:r>
                        <a:rPr sz="1250">
                          <a:solidFill>
                            <a:srgbClr val="1A1F1D"/>
                          </a:solidFill>
                          <a:latin typeface="Consolas"/>
                        </a:rPr>
                        <a:t>safe/S4.0-hashmix</a:t>
                      </a:r>
                    </a:p>
                  </a:txBody>
                  <a:tcPr marL="73152" marR="73152" marT="18288" marB="18288" anchor="ctr">
                    <a:solidFill>
                      <a:srgbClr val="F3F4F1"/>
                    </a:solidFill>
                  </a:tcPr>
                </a:tc>
                <a:tc>
                  <a:txBody>
                    <a:bodyPr/>
                    <a:lstStyle/>
                    <a:p>
                      <a:r>
                        <a:rPr sz="1250">
                          <a:solidFill>
                            <a:srgbClr val="1A1F1D"/>
                          </a:solidFill>
                          <a:latin typeface="Consolas"/>
                        </a:rPr>
                        <a:t>MurmurHash3 set-index fix</a:t>
                      </a:r>
                    </a:p>
                  </a:txBody>
                  <a:tcPr marL="73152" marR="73152" marT="18288" marB="18288" anchor="ctr">
                    <a:solidFill>
                      <a:srgbClr val="F3F4F1"/>
                    </a:solidFill>
                  </a:tcPr>
                </a:tc>
                <a:tc>
                  <a:txBody>
                    <a:bodyPr/>
                    <a:lstStyle/>
                    <a:p>
                      <a:r>
                        <a:rPr sz="1250">
                          <a:solidFill>
                            <a:srgbClr val="1A1F1D"/>
                          </a:solidFill>
                          <a:latin typeface="Consolas"/>
                        </a:rPr>
                        <a:t>a240d60</a:t>
                      </a:r>
                    </a:p>
                  </a:txBody>
                  <a:tcPr marL="73152" marR="73152" marT="18288" marB="18288" anchor="ctr">
                    <a:solidFill>
                      <a:srgbClr val="F3F4F1"/>
                    </a:solidFill>
                  </a:tcPr>
                </a:tc>
              </a:tr>
              <a:tr h="400050">
                <a:tc>
                  <a:txBody>
                    <a:bodyPr/>
                    <a:lstStyle/>
                    <a:p>
                      <a:r>
                        <a:rPr sz="1250">
                          <a:solidFill>
                            <a:srgbClr val="1A1F1D"/>
                          </a:solidFill>
                          <a:latin typeface="Consolas"/>
                        </a:rPr>
                        <a:t>(none yet)</a:t>
                      </a:r>
                    </a:p>
                  </a:txBody>
                  <a:tcPr marL="73152" marR="73152" marT="18288" marB="18288" anchor="ctr">
                    <a:solidFill>
                      <a:srgbClr val="FFFFFF"/>
                    </a:solidFill>
                  </a:tcPr>
                </a:tc>
                <a:tc>
                  <a:txBody>
                    <a:bodyPr/>
                    <a:lstStyle/>
                    <a:p>
                      <a:r>
                        <a:rPr sz="1250">
                          <a:solidFill>
                            <a:srgbClr val="1A1F1D"/>
                          </a:solidFill>
                          <a:latin typeface="Consolas"/>
                        </a:rPr>
                        <a:t>S5.0 prefetch-batching - patch committed, not yet applied+tagged on Luna</a:t>
                      </a:r>
                    </a:p>
                  </a:txBody>
                  <a:tcPr marL="73152" marR="73152" marT="18288" marB="18288" anchor="ctr">
                    <a:solidFill>
                      <a:srgbClr val="FFFFFF"/>
                    </a:solidFill>
                  </a:tcPr>
                </a:tc>
                <a:tc>
                  <a:txBody>
                    <a:bodyPr/>
                    <a:lstStyle/>
                    <a:p>
                      <a:r>
                        <a:rPr sz="1250">
                          <a:solidFill>
                            <a:srgbClr val="1A1F1D"/>
                          </a:solidFill>
                          <a:latin typeface="Consolas"/>
                        </a:rPr>
                        <a:t>-</a:t>
                      </a:r>
                    </a:p>
                  </a:txBody>
                  <a:tcPr marL="73152" marR="73152" marT="18288" marB="18288" anchor="ctr">
                    <a:solidFill>
                      <a:srgbClr val="FFFFFF"/>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GLOSSARY</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Terms used throughout, part 1 of 2</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057</a:t>
            </a:r>
          </a:p>
        </p:txBody>
      </p:sp>
      <p:sp>
        <p:nvSpPr>
          <p:cNvPr id="7" name="TextBox 6"/>
          <p:cNvSpPr txBox="1"/>
          <p:nvPr/>
        </p:nvSpPr>
        <p:spPr>
          <a:xfrm>
            <a:off x="548640" y="1691640"/>
            <a:ext cx="11094415" cy="320040"/>
          </a:xfrm>
          <a:prstGeom prst="rect">
            <a:avLst/>
          </a:prstGeom>
          <a:noFill/>
        </p:spPr>
        <p:txBody>
          <a:bodyPr wrap="square" lIns="0" rIns="0" tIns="0" bIns="0">
            <a:spAutoFit/>
          </a:bodyPr>
          <a:lstStyle/>
          <a:p>
            <a:pPr algn="l">
              <a:lnSpc>
                <a:spcPct val="115000"/>
              </a:lnSpc>
              <a:spcBef>
                <a:spcPts val="0"/>
              </a:spcBef>
              <a:spcAft>
                <a:spcPts val="0"/>
              </a:spcAft>
            </a:pPr>
            <a:r>
              <a:rPr sz="1500" b="1" i="0">
                <a:solidFill>
                  <a:srgbClr val="0E7C68"/>
                </a:solidFill>
                <a:latin typeface="Consolas"/>
              </a:rPr>
              <a:t>k-mer</a:t>
            </a:r>
          </a:p>
        </p:txBody>
      </p:sp>
      <p:sp>
        <p:nvSpPr>
          <p:cNvPr id="8" name="TextBox 7"/>
          <p:cNvSpPr txBox="1"/>
          <p:nvPr/>
        </p:nvSpPr>
        <p:spPr>
          <a:xfrm>
            <a:off x="548640" y="2002536"/>
            <a:ext cx="11094415" cy="5943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57615C"/>
                </a:solidFill>
                <a:latin typeface="Calibri"/>
              </a:rPr>
              <a:t>A short, fixed-length substring of a DNA read (Kraken2 uses length k, typically 35).</a:t>
            </a:r>
          </a:p>
        </p:txBody>
      </p:sp>
      <p:sp>
        <p:nvSpPr>
          <p:cNvPr id="9" name="TextBox 8"/>
          <p:cNvSpPr txBox="1"/>
          <p:nvPr/>
        </p:nvSpPr>
        <p:spPr>
          <a:xfrm>
            <a:off x="548640" y="2624328"/>
            <a:ext cx="11094415" cy="320040"/>
          </a:xfrm>
          <a:prstGeom prst="rect">
            <a:avLst/>
          </a:prstGeom>
          <a:noFill/>
        </p:spPr>
        <p:txBody>
          <a:bodyPr wrap="square" lIns="0" rIns="0" tIns="0" bIns="0">
            <a:spAutoFit/>
          </a:bodyPr>
          <a:lstStyle/>
          <a:p>
            <a:pPr algn="l">
              <a:lnSpc>
                <a:spcPct val="115000"/>
              </a:lnSpc>
              <a:spcBef>
                <a:spcPts val="0"/>
              </a:spcBef>
              <a:spcAft>
                <a:spcPts val="0"/>
              </a:spcAft>
            </a:pPr>
            <a:r>
              <a:rPr sz="1500" b="1" i="0">
                <a:solidFill>
                  <a:srgbClr val="0E7C68"/>
                </a:solidFill>
                <a:latin typeface="Consolas"/>
              </a:rPr>
              <a:t>minimizer</a:t>
            </a:r>
          </a:p>
        </p:txBody>
      </p:sp>
      <p:sp>
        <p:nvSpPr>
          <p:cNvPr id="10" name="TextBox 9"/>
          <p:cNvSpPr txBox="1"/>
          <p:nvPr/>
        </p:nvSpPr>
        <p:spPr>
          <a:xfrm>
            <a:off x="548640" y="2935224"/>
            <a:ext cx="11094415" cy="5943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57615C"/>
                </a:solidFill>
                <a:latin typeface="Calibri"/>
              </a:rPr>
              <a:t>The lexicographically smallest k-mer in a sliding window. Kraken2 looks up minimizers, not every k-mer.</a:t>
            </a:r>
          </a:p>
        </p:txBody>
      </p:sp>
      <p:sp>
        <p:nvSpPr>
          <p:cNvPr id="11" name="TextBox 10"/>
          <p:cNvSpPr txBox="1"/>
          <p:nvPr/>
        </p:nvSpPr>
        <p:spPr>
          <a:xfrm>
            <a:off x="548640" y="3557016"/>
            <a:ext cx="11094415" cy="320040"/>
          </a:xfrm>
          <a:prstGeom prst="rect">
            <a:avLst/>
          </a:prstGeom>
          <a:noFill/>
        </p:spPr>
        <p:txBody>
          <a:bodyPr wrap="square" lIns="0" rIns="0" tIns="0" bIns="0">
            <a:spAutoFit/>
          </a:bodyPr>
          <a:lstStyle/>
          <a:p>
            <a:pPr algn="l">
              <a:lnSpc>
                <a:spcPct val="115000"/>
              </a:lnSpc>
              <a:spcBef>
                <a:spcPts val="0"/>
              </a:spcBef>
              <a:spcAft>
                <a:spcPts val="0"/>
              </a:spcAft>
            </a:pPr>
            <a:r>
              <a:rPr sz="1500" b="1" i="0">
                <a:solidFill>
                  <a:srgbClr val="0E7C68"/>
                </a:solidFill>
                <a:latin typeface="Consolas"/>
              </a:rPr>
              <a:t>Get() / hash table lookup</a:t>
            </a:r>
          </a:p>
        </p:txBody>
      </p:sp>
      <p:sp>
        <p:nvSpPr>
          <p:cNvPr id="12" name="TextBox 11"/>
          <p:cNvSpPr txBox="1"/>
          <p:nvPr/>
        </p:nvSpPr>
        <p:spPr>
          <a:xfrm>
            <a:off x="548640" y="3867912"/>
            <a:ext cx="11094415" cy="5943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57615C"/>
                </a:solidFill>
                <a:latin typeface="Calibri"/>
              </a:rPr>
              <a:t>Kraken2's giant minimizer -&gt; taxon table, built once from reference genomes. Tens to hundreds of GB - essentially random RAM access.</a:t>
            </a:r>
          </a:p>
        </p:txBody>
      </p:sp>
      <p:sp>
        <p:nvSpPr>
          <p:cNvPr id="13" name="TextBox 12"/>
          <p:cNvSpPr txBox="1"/>
          <p:nvPr/>
        </p:nvSpPr>
        <p:spPr>
          <a:xfrm>
            <a:off x="548640" y="4489704"/>
            <a:ext cx="11094415" cy="320040"/>
          </a:xfrm>
          <a:prstGeom prst="rect">
            <a:avLst/>
          </a:prstGeom>
          <a:noFill/>
        </p:spPr>
        <p:txBody>
          <a:bodyPr wrap="square" lIns="0" rIns="0" tIns="0" bIns="0">
            <a:spAutoFit/>
          </a:bodyPr>
          <a:lstStyle/>
          <a:p>
            <a:pPr algn="l">
              <a:lnSpc>
                <a:spcPct val="115000"/>
              </a:lnSpc>
              <a:spcBef>
                <a:spcPts val="0"/>
              </a:spcBef>
              <a:spcAft>
                <a:spcPts val="0"/>
              </a:spcAft>
            </a:pPr>
            <a:r>
              <a:rPr sz="1500" b="1" i="0">
                <a:solidFill>
                  <a:srgbClr val="0E7C68"/>
                </a:solidFill>
                <a:latin typeface="Consolas"/>
              </a:rPr>
              <a:t>LLC / L3 cache</a:t>
            </a:r>
          </a:p>
        </p:txBody>
      </p:sp>
      <p:sp>
        <p:nvSpPr>
          <p:cNvPr id="14" name="TextBox 13"/>
          <p:cNvSpPr txBox="1"/>
          <p:nvPr/>
        </p:nvSpPr>
        <p:spPr>
          <a:xfrm>
            <a:off x="548640" y="4800600"/>
            <a:ext cx="11094415" cy="5943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57615C"/>
                </a:solidFill>
                <a:latin typeface="Calibri"/>
              </a:rPr>
              <a:t>Last-Level Cache - the biggest CPU cache tier before RAM. Luna's is 105 MiB per socket, measured not assumed.</a:t>
            </a:r>
          </a:p>
        </p:txBody>
      </p:sp>
      <p:sp>
        <p:nvSpPr>
          <p:cNvPr id="15" name="TextBox 14"/>
          <p:cNvSpPr txBox="1"/>
          <p:nvPr/>
        </p:nvSpPr>
        <p:spPr>
          <a:xfrm>
            <a:off x="548640" y="5422392"/>
            <a:ext cx="11094415" cy="320040"/>
          </a:xfrm>
          <a:prstGeom prst="rect">
            <a:avLst/>
          </a:prstGeom>
          <a:noFill/>
        </p:spPr>
        <p:txBody>
          <a:bodyPr wrap="square" lIns="0" rIns="0" tIns="0" bIns="0">
            <a:spAutoFit/>
          </a:bodyPr>
          <a:lstStyle/>
          <a:p>
            <a:pPr algn="l">
              <a:lnSpc>
                <a:spcPct val="115000"/>
              </a:lnSpc>
              <a:spcBef>
                <a:spcPts val="0"/>
              </a:spcBef>
              <a:spcAft>
                <a:spcPts val="0"/>
              </a:spcAft>
            </a:pPr>
            <a:r>
              <a:rPr sz="1500" b="1" i="0">
                <a:solidFill>
                  <a:srgbClr val="0E7C68"/>
                </a:solidFill>
                <a:latin typeface="Consolas"/>
              </a:rPr>
              <a:t>thread_local / TLS</a:t>
            </a:r>
          </a:p>
        </p:txBody>
      </p:sp>
      <p:sp>
        <p:nvSpPr>
          <p:cNvPr id="16" name="TextBox 15"/>
          <p:cNvSpPr txBox="1"/>
          <p:nvPr/>
        </p:nvSpPr>
        <p:spPr>
          <a:xfrm>
            <a:off x="548640" y="5733288"/>
            <a:ext cx="11094415" cy="5943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57615C"/>
                </a:solidFill>
                <a:latin typeface="Calibri"/>
              </a:rPr>
              <a:t>Each OS thread gets its own private copy. Static TLS (fixed block, competes with stack) vs. a thread_local pointer to heap memory (no size ceiling) - S3.0's whole fix.</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GLOSSARY</a:t>
            </a:r>
          </a:p>
        </p:txBody>
      </p:sp>
      <p:sp>
        <p:nvSpPr>
          <p:cNvPr id="4" name="TextBox 3"/>
          <p:cNvSpPr txBox="1"/>
          <p:nvPr/>
        </p:nvSpPr>
        <p:spPr>
          <a:xfrm>
            <a:off x="548640" y="868680"/>
            <a:ext cx="8991295" cy="822960"/>
          </a:xfrm>
          <a:prstGeom prst="rect">
            <a:avLst/>
          </a:prstGeom>
          <a:noFill/>
        </p:spPr>
        <p:txBody>
          <a:bodyPr wrap="square" lIns="0" rIns="0" tIns="0" bIns="0">
            <a:spAutoFit/>
          </a:bodyPr>
          <a:lstStyle/>
          <a:p>
            <a:pPr algn="l">
              <a:lnSpc>
                <a:spcPct val="105000"/>
              </a:lnSpc>
              <a:spcBef>
                <a:spcPts val="0"/>
              </a:spcBef>
              <a:spcAft>
                <a:spcPts val="0"/>
              </a:spcAft>
            </a:pPr>
            <a:r>
              <a:rPr sz="2600" b="1" i="0">
                <a:solidFill>
                  <a:srgbClr val="1A1F1D"/>
                </a:solidFill>
                <a:latin typeface="Cambria"/>
              </a:rPr>
              <a:t>Terms used throughout, part 2 of 2</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6" name="TextBox 5"/>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058</a:t>
            </a:r>
          </a:p>
        </p:txBody>
      </p:sp>
      <p:sp>
        <p:nvSpPr>
          <p:cNvPr id="7" name="TextBox 6"/>
          <p:cNvSpPr txBox="1"/>
          <p:nvPr/>
        </p:nvSpPr>
        <p:spPr>
          <a:xfrm>
            <a:off x="548640" y="1691640"/>
            <a:ext cx="11094415" cy="320040"/>
          </a:xfrm>
          <a:prstGeom prst="rect">
            <a:avLst/>
          </a:prstGeom>
          <a:noFill/>
        </p:spPr>
        <p:txBody>
          <a:bodyPr wrap="square" lIns="0" rIns="0" tIns="0" bIns="0">
            <a:spAutoFit/>
          </a:bodyPr>
          <a:lstStyle/>
          <a:p>
            <a:pPr algn="l">
              <a:lnSpc>
                <a:spcPct val="115000"/>
              </a:lnSpc>
              <a:spcBef>
                <a:spcPts val="0"/>
              </a:spcBef>
              <a:spcAft>
                <a:spcPts val="0"/>
              </a:spcAft>
            </a:pPr>
            <a:r>
              <a:rPr sz="1500" b="1" i="0">
                <a:solidFill>
                  <a:srgbClr val="0E7C68"/>
                </a:solidFill>
                <a:latin typeface="Consolas"/>
              </a:rPr>
              <a:t>calloc vs new[]</a:t>
            </a:r>
          </a:p>
        </p:txBody>
      </p:sp>
      <p:sp>
        <p:nvSpPr>
          <p:cNvPr id="8" name="TextBox 7"/>
          <p:cNvSpPr txBox="1"/>
          <p:nvPr/>
        </p:nvSpPr>
        <p:spPr>
          <a:xfrm>
            <a:off x="548640" y="2002536"/>
            <a:ext cx="11094415" cy="5943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57615C"/>
                </a:solidFill>
                <a:latin typeface="Calibri"/>
              </a:rPr>
              <a:t>calloc's zero-init can be satisfied lazily by the OS for large allocations; new[] on a non-trivial struct runs a real constructor loop immediately.</a:t>
            </a:r>
          </a:p>
        </p:txBody>
      </p:sp>
      <p:sp>
        <p:nvSpPr>
          <p:cNvPr id="9" name="TextBox 8"/>
          <p:cNvSpPr txBox="1"/>
          <p:nvPr/>
        </p:nvSpPr>
        <p:spPr>
          <a:xfrm>
            <a:off x="548640" y="2624328"/>
            <a:ext cx="11094415" cy="320040"/>
          </a:xfrm>
          <a:prstGeom prst="rect">
            <a:avLst/>
          </a:prstGeom>
          <a:noFill/>
        </p:spPr>
        <p:txBody>
          <a:bodyPr wrap="square" lIns="0" rIns="0" tIns="0" bIns="0">
            <a:spAutoFit/>
          </a:bodyPr>
          <a:lstStyle/>
          <a:p>
            <a:pPr algn="l">
              <a:lnSpc>
                <a:spcPct val="115000"/>
              </a:lnSpc>
              <a:spcBef>
                <a:spcPts val="0"/>
              </a:spcBef>
              <a:spcAft>
                <a:spcPts val="0"/>
              </a:spcAft>
            </a:pPr>
            <a:r>
              <a:rPr sz="1500" b="1" i="0">
                <a:solidFill>
                  <a:srgbClr val="0E7C68"/>
                </a:solidFill>
                <a:latin typeface="Consolas"/>
              </a:rPr>
              <a:t>MurmurHash3 / bit-mixing</a:t>
            </a:r>
          </a:p>
        </p:txBody>
      </p:sp>
      <p:sp>
        <p:nvSpPr>
          <p:cNvPr id="10" name="TextBox 9"/>
          <p:cNvSpPr txBox="1"/>
          <p:nvPr/>
        </p:nvSpPr>
        <p:spPr>
          <a:xfrm>
            <a:off x="548640" y="2935224"/>
            <a:ext cx="11094415" cy="5943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57615C"/>
                </a:solidFill>
                <a:latin typeface="Calibri"/>
              </a:rPr>
              <a:t>A well-mixed hash already used elsewhere in Kraken2 - every output bit depends on every input bit, unlike a raw bit-mask.</a:t>
            </a:r>
          </a:p>
        </p:txBody>
      </p:sp>
      <p:sp>
        <p:nvSpPr>
          <p:cNvPr id="11" name="TextBox 10"/>
          <p:cNvSpPr txBox="1"/>
          <p:nvPr/>
        </p:nvSpPr>
        <p:spPr>
          <a:xfrm>
            <a:off x="548640" y="3557016"/>
            <a:ext cx="11094415" cy="320040"/>
          </a:xfrm>
          <a:prstGeom prst="rect">
            <a:avLst/>
          </a:prstGeom>
          <a:noFill/>
        </p:spPr>
        <p:txBody>
          <a:bodyPr wrap="square" lIns="0" rIns="0" tIns="0" bIns="0">
            <a:spAutoFit/>
          </a:bodyPr>
          <a:lstStyle/>
          <a:p>
            <a:pPr algn="l">
              <a:lnSpc>
                <a:spcPct val="115000"/>
              </a:lnSpc>
              <a:spcBef>
                <a:spcPts val="0"/>
              </a:spcBef>
              <a:spcAft>
                <a:spcPts val="0"/>
              </a:spcAft>
            </a:pPr>
            <a:r>
              <a:rPr sz="1500" b="1" i="0">
                <a:solidFill>
                  <a:srgbClr val="0E7C68"/>
                </a:solidFill>
                <a:latin typeface="Consolas"/>
              </a:rPr>
              <a:t>Set-associative cache</a:t>
            </a:r>
          </a:p>
        </p:txBody>
      </p:sp>
      <p:sp>
        <p:nvSpPr>
          <p:cNvPr id="12" name="TextBox 11"/>
          <p:cNvSpPr txBox="1"/>
          <p:nvPr/>
        </p:nvSpPr>
        <p:spPr>
          <a:xfrm>
            <a:off x="548640" y="3867912"/>
            <a:ext cx="11094415" cy="5943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57615C"/>
                </a:solidFill>
                <a:latin typeface="Calibri"/>
              </a:rPr>
              <a:t>A key hashes to one set; within that set there are a few candidate ways. S2 is 4-way.</a:t>
            </a:r>
          </a:p>
        </p:txBody>
      </p:sp>
      <p:sp>
        <p:nvSpPr>
          <p:cNvPr id="13" name="TextBox 12"/>
          <p:cNvSpPr txBox="1"/>
          <p:nvPr/>
        </p:nvSpPr>
        <p:spPr>
          <a:xfrm>
            <a:off x="548640" y="4489704"/>
            <a:ext cx="11094415" cy="320040"/>
          </a:xfrm>
          <a:prstGeom prst="rect">
            <a:avLst/>
          </a:prstGeom>
          <a:noFill/>
        </p:spPr>
        <p:txBody>
          <a:bodyPr wrap="square" lIns="0" rIns="0" tIns="0" bIns="0">
            <a:spAutoFit/>
          </a:bodyPr>
          <a:lstStyle/>
          <a:p>
            <a:pPr algn="l">
              <a:lnSpc>
                <a:spcPct val="115000"/>
              </a:lnSpc>
              <a:spcBef>
                <a:spcPts val="0"/>
              </a:spcBef>
              <a:spcAft>
                <a:spcPts val="0"/>
              </a:spcAft>
            </a:pPr>
            <a:r>
              <a:rPr sz="1500" b="1" i="0">
                <a:solidFill>
                  <a:srgbClr val="0E7C68"/>
                </a:solidFill>
                <a:latin typeface="Consolas"/>
              </a:rPr>
              <a:t>Eviction policy</a:t>
            </a:r>
          </a:p>
        </p:txBody>
      </p:sp>
      <p:sp>
        <p:nvSpPr>
          <p:cNvPr id="14" name="TextBox 13"/>
          <p:cNvSpPr txBox="1"/>
          <p:nvPr/>
        </p:nvSpPr>
        <p:spPr>
          <a:xfrm>
            <a:off x="548640" y="4800600"/>
            <a:ext cx="11094415" cy="5943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57615C"/>
                </a:solidFill>
                <a:latin typeface="Calibri"/>
              </a:rPr>
              <a:t>The rule for what gets thrown out when a set is full - round-robin, pinned/protect-on-hit, pseudo-LRU, admission control.</a:t>
            </a:r>
          </a:p>
        </p:txBody>
      </p:sp>
      <p:sp>
        <p:nvSpPr>
          <p:cNvPr id="15" name="TextBox 14"/>
          <p:cNvSpPr txBox="1"/>
          <p:nvPr/>
        </p:nvSpPr>
        <p:spPr>
          <a:xfrm>
            <a:off x="548640" y="5422392"/>
            <a:ext cx="11094415" cy="320040"/>
          </a:xfrm>
          <a:prstGeom prst="rect">
            <a:avLst/>
          </a:prstGeom>
          <a:noFill/>
        </p:spPr>
        <p:txBody>
          <a:bodyPr wrap="square" lIns="0" rIns="0" tIns="0" bIns="0">
            <a:spAutoFit/>
          </a:bodyPr>
          <a:lstStyle/>
          <a:p>
            <a:pPr algn="l">
              <a:lnSpc>
                <a:spcPct val="115000"/>
              </a:lnSpc>
              <a:spcBef>
                <a:spcPts val="0"/>
              </a:spcBef>
              <a:spcAft>
                <a:spcPts val="0"/>
              </a:spcAft>
            </a:pPr>
            <a:r>
              <a:rPr sz="1500" b="1" i="0">
                <a:solidFill>
                  <a:srgbClr val="0E7C68"/>
                </a:solidFill>
                <a:latin typeface="Consolas"/>
              </a:rPr>
              <a:t>Reuse distance</a:t>
            </a:r>
          </a:p>
        </p:txBody>
      </p:sp>
      <p:sp>
        <p:nvSpPr>
          <p:cNvPr id="16" name="TextBox 15"/>
          <p:cNvSpPr txBox="1"/>
          <p:nvPr/>
        </p:nvSpPr>
        <p:spPr>
          <a:xfrm>
            <a:off x="548640" y="5733288"/>
            <a:ext cx="11094415" cy="5943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57615C"/>
                </a:solidFill>
                <a:latin typeface="Calibri"/>
              </a:rPr>
              <a:t>How many other lookups happened between two sightings of the same minimizer. A cache can only catch a repeat within roughly its own capacity.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269290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65176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TRACK A - FULL STUDY GUIDE</a:t>
            </a:r>
          </a:p>
        </p:txBody>
      </p:sp>
      <p:sp>
        <p:nvSpPr>
          <p:cNvPr id="4" name="TextBox 3"/>
          <p:cNvSpPr txBox="1"/>
          <p:nvPr/>
        </p:nvSpPr>
        <p:spPr>
          <a:xfrm>
            <a:off x="548640" y="3063240"/>
            <a:ext cx="11094415" cy="1097280"/>
          </a:xfrm>
          <a:prstGeom prst="rect">
            <a:avLst/>
          </a:prstGeom>
          <a:noFill/>
        </p:spPr>
        <p:txBody>
          <a:bodyPr wrap="square" lIns="0" rIns="0" tIns="0" bIns="0">
            <a:spAutoFit/>
          </a:bodyPr>
          <a:lstStyle/>
          <a:p>
            <a:pPr algn="l">
              <a:lnSpc>
                <a:spcPct val="115000"/>
              </a:lnSpc>
              <a:spcBef>
                <a:spcPts val="0"/>
              </a:spcBef>
              <a:spcAft>
                <a:spcPts val="0"/>
              </a:spcAft>
            </a:pPr>
            <a:r>
              <a:rPr sz="3600" b="1" i="0">
                <a:solidFill>
                  <a:srgbClr val="1A1F1D"/>
                </a:solidFill>
                <a:latin typeface="Cambria"/>
              </a:rPr>
              <a:t>End of study guide</a:t>
            </a:r>
          </a:p>
        </p:txBody>
      </p:sp>
      <p:sp>
        <p:nvSpPr>
          <p:cNvPr id="5" name="TextBox 4"/>
          <p:cNvSpPr txBox="1"/>
          <p:nvPr/>
        </p:nvSpPr>
        <p:spPr>
          <a:xfrm>
            <a:off x="548640" y="3840480"/>
            <a:ext cx="11094415" cy="822960"/>
          </a:xfrm>
          <a:prstGeom prst="rect">
            <a:avLst/>
          </a:prstGeom>
          <a:noFill/>
        </p:spPr>
        <p:txBody>
          <a:bodyPr wrap="square" lIns="0" rIns="0" tIns="0" bIns="0">
            <a:spAutoFit/>
          </a:bodyPr>
          <a:lstStyle/>
          <a:p>
            <a:pPr algn="l">
              <a:lnSpc>
                <a:spcPct val="115000"/>
              </a:lnSpc>
              <a:spcBef>
                <a:spcPts val="0"/>
              </a:spcBef>
              <a:spcAft>
                <a:spcPts val="0"/>
              </a:spcAft>
            </a:pPr>
            <a:r>
              <a:rPr sz="1300" b="0" i="0">
                <a:solidFill>
                  <a:srgbClr val="828B86"/>
                </a:solidFill>
                <a:latin typeface="Consolas"/>
              </a:rPr>
              <a:t>Full narrative: track_a_progress_2026-09-02  ·  Every stat: track_a_appendix_2026-09-02</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STUDY GUIDE</a:t>
            </a:r>
          </a:p>
        </p:txBody>
      </p:sp>
      <p:sp>
        <p:nvSpPr>
          <p:cNvPr id="7" name="TextBox 6"/>
          <p:cNvSpPr txBox="1"/>
          <p:nvPr/>
        </p:nvSpPr>
        <p:spPr>
          <a:xfrm>
            <a:off x="10728655" y="6473952"/>
            <a:ext cx="91440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059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