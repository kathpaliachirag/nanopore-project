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548640" y="1869948"/>
            <a:ext cx="82296" cy="82296"/>
          </a:xfrm>
          <a:prstGeom prst="diamond">
            <a:avLst/>
          </a:prstGeom>
          <a:solidFill>
            <a:srgbClr val="0E7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828800"/>
            <a:ext cx="10893247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C68"/>
                </a:solidFill>
                <a:latin typeface="Consolas"/>
              </a:rPr>
              <a:t>TRACK A - ONE-PAGE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109441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1A1F1D"/>
                </a:solidFill>
                <a:latin typeface="Cambria"/>
              </a:rPr>
              <a:t>Six Stages, One Reversal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94760"/>
            <a:ext cx="9692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7615C"/>
                </a:solidFill>
                <a:latin typeface="Calibri"/>
              </a:rPr>
              <a:t>What we built since Meeting 11, what broke along the way, and the result we caught ourselves before building more on top of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7492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28B86"/>
                </a:solidFill>
                <a:latin typeface="Consolas"/>
              </a:rPr>
              <a:t>Since 2026-08-19   ·   49 commits   ·   ~12 days to Sept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548640" y="544068"/>
            <a:ext cx="82296" cy="82296"/>
          </a:xfrm>
          <a:prstGeom prst="diamond">
            <a:avLst/>
          </a:prstGeom>
          <a:solidFill>
            <a:srgbClr val="0E7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02920"/>
            <a:ext cx="10893247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C68"/>
                </a:solidFill>
                <a:latin typeface="Consolas"/>
              </a:rPr>
              <a:t>THE SHAPE OF TWO WEEKS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04594.5833333335" y="1380744"/>
            <a:ext cx="9382505.833333332" cy="0"/>
          </a:xfrm>
          <a:prstGeom prst="line">
            <a:avLst/>
          </a:prstGeom>
          <a:ln w="15875">
            <a:solidFill>
              <a:srgbClr val="DCDD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304010" y="1280160"/>
            <a:ext cx="201168" cy="2011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28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63624"/>
            <a:ext cx="17119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F1D"/>
                </a:solidFill>
                <a:latin typeface="Consolas"/>
              </a:rPr>
              <a:t>S0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37944"/>
            <a:ext cx="180334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28B86"/>
                </a:solidFill>
                <a:latin typeface="Consolas"/>
              </a:rPr>
              <a:t>rebaseline</a:t>
            </a:r>
          </a:p>
        </p:txBody>
      </p:sp>
      <p:sp>
        <p:nvSpPr>
          <p:cNvPr id="8" name="Oval 7"/>
          <p:cNvSpPr/>
          <p:nvPr/>
        </p:nvSpPr>
        <p:spPr>
          <a:xfrm>
            <a:off x="3180511" y="1280160"/>
            <a:ext cx="201168" cy="2011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28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5141" y="1563624"/>
            <a:ext cx="17119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F1D"/>
                </a:solidFill>
                <a:latin typeface="Consolas"/>
              </a:rPr>
              <a:t>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9421" y="1837944"/>
            <a:ext cx="180334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28B86"/>
                </a:solidFill>
                <a:latin typeface="Consolas"/>
              </a:rPr>
              <a:t>null, explained</a:t>
            </a:r>
          </a:p>
        </p:txBody>
      </p:sp>
      <p:sp>
        <p:nvSpPr>
          <p:cNvPr id="11" name="Oval 10"/>
          <p:cNvSpPr/>
          <p:nvPr/>
        </p:nvSpPr>
        <p:spPr>
          <a:xfrm>
            <a:off x="5057012" y="1280160"/>
            <a:ext cx="201168" cy="2011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B84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1642" y="1563624"/>
            <a:ext cx="17119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F1D"/>
                </a:solidFill>
                <a:latin typeface="Consolas"/>
              </a:rPr>
              <a:t>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5922" y="1837944"/>
            <a:ext cx="180334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8452E"/>
                </a:solidFill>
                <a:latin typeface="Consolas"/>
              </a:rPr>
              <a:t>bug caught</a:t>
            </a:r>
          </a:p>
        </p:txBody>
      </p:sp>
      <p:sp>
        <p:nvSpPr>
          <p:cNvPr id="14" name="Oval 13"/>
          <p:cNvSpPr/>
          <p:nvPr/>
        </p:nvSpPr>
        <p:spPr>
          <a:xfrm>
            <a:off x="6933514" y="1280160"/>
            <a:ext cx="201168" cy="2011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3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8143" y="1563624"/>
            <a:ext cx="17119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F1D"/>
                </a:solidFill>
                <a:latin typeface="Consolas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32423" y="1837944"/>
            <a:ext cx="180334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F7D4F"/>
                </a:solidFill>
                <a:latin typeface="Consolas"/>
              </a:rPr>
              <a:t>2 bugs fixed</a:t>
            </a:r>
          </a:p>
        </p:txBody>
      </p:sp>
      <p:sp>
        <p:nvSpPr>
          <p:cNvPr id="17" name="Oval 16"/>
          <p:cNvSpPr/>
          <p:nvPr/>
        </p:nvSpPr>
        <p:spPr>
          <a:xfrm>
            <a:off x="8810015" y="1280160"/>
            <a:ext cx="201168" cy="2011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B84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4644" y="1563624"/>
            <a:ext cx="17119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F1D"/>
                </a:solidFill>
                <a:latin typeface="Consolas"/>
              </a:rPr>
              <a:t>S4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8924" y="1837944"/>
            <a:ext cx="180334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8452E"/>
                </a:solidFill>
                <a:latin typeface="Consolas"/>
              </a:rPr>
              <a:t>reversal</a:t>
            </a:r>
          </a:p>
        </p:txBody>
      </p:sp>
      <p:sp>
        <p:nvSpPr>
          <p:cNvPr id="20" name="Oval 19"/>
          <p:cNvSpPr/>
          <p:nvPr/>
        </p:nvSpPr>
        <p:spPr>
          <a:xfrm>
            <a:off x="10686516" y="1280160"/>
            <a:ext cx="201168" cy="2011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9C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31145" y="1563624"/>
            <a:ext cx="17119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F1D"/>
                </a:solidFill>
                <a:latin typeface="Consolas"/>
              </a:rPr>
              <a:t>S5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85425" y="1837944"/>
            <a:ext cx="180334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C7A1E"/>
                </a:solidFill>
                <a:latin typeface="Consolas"/>
              </a:rPr>
              <a:t>not yet run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606040"/>
            <a:ext cx="2663875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2734056"/>
            <a:ext cx="237126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7C68"/>
                </a:solidFill>
                <a:latin typeface="Consola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3319272"/>
            <a:ext cx="2371267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7615C"/>
                </a:solidFill>
                <a:latin typeface="Calibri"/>
              </a:rPr>
              <a:t>real bugs found and fixed in the committed tree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58819" y="2606040"/>
            <a:ext cx="2663875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5123" y="2734056"/>
            <a:ext cx="237126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7C68"/>
                </a:solidFill>
                <a:latin typeface="Consolas"/>
              </a:rPr>
              <a:t>8.9x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5123" y="3319272"/>
            <a:ext cx="2371267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7615C"/>
                </a:solidFill>
                <a:latin typeface="Calibri"/>
              </a:rPr>
              <a:t>hit-rate jump from one hash-mixing fix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68999" y="2606040"/>
            <a:ext cx="2663875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15303" y="2734056"/>
            <a:ext cx="237126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B8452E"/>
                </a:solidFill>
                <a:latin typeface="Consolas"/>
              </a:rPr>
              <a:t>+25% -&gt; -4%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15303" y="3319272"/>
            <a:ext cx="2371267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7615C"/>
                </a:solidFill>
                <a:latin typeface="Calibri"/>
              </a:rPr>
              <a:t>our own eviction result, reversed on the fixed hash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79179" y="2606040"/>
            <a:ext cx="2663875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25483" y="2734056"/>
            <a:ext cx="237126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9C7A1E"/>
                </a:solidFill>
                <a:latin typeface="Consolas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5483" y="3319272"/>
            <a:ext cx="2371267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7615C"/>
                </a:solidFill>
                <a:latin typeface="Calibri"/>
              </a:rPr>
              <a:t>Luna numbers for S5 so far - built, not measured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343400"/>
            <a:ext cx="105156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7615C"/>
                </a:solidFill>
                <a:latin typeface="Calibri"/>
              </a:rPr>
              <a:t>We did not walk a straight line to a finished cache. Four structured multi-agent reviews ran across these two weeks and every one of them caught something real before we built further on top of it - that loop matters as much as any single number here.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1-PAGE RECAP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548640" y="544068"/>
            <a:ext cx="82296" cy="82296"/>
          </a:xfrm>
          <a:prstGeom prst="diamond">
            <a:avLst/>
          </a:prstGeom>
          <a:solidFill>
            <a:srgbClr val="0E7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02920"/>
            <a:ext cx="10893247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C68"/>
                </a:solidFill>
                <a:latin typeface="Consolas"/>
              </a:rPr>
              <a:t>THE STAGES, ONE LINE EACH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43000"/>
          <a:ext cx="11094414" cy="46634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76609"/>
                <a:gridCol w="4770598"/>
                <a:gridCol w="5547207"/>
              </a:tblGrid>
              <a:tr h="58293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3F4F1"/>
                          </a:solidFill>
                          <a:latin typeface="Consolas"/>
                        </a:rPr>
                        <a:t>Stage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3F4F1"/>
                          </a:solidFill>
                          <a:latin typeface="Consolas"/>
                        </a:rPr>
                        <a:t>Built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3F4F1"/>
                          </a:solidFill>
                          <a:latin typeface="Consolas"/>
                        </a:rPr>
                        <a:t>Result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S0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Rebaselined on v2.17.1 (your call)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Anchor: 0.576s, sample_targeted/32T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S1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Extended Kraken2's 1-slot cache to remember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No benefit on the DBs that matter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S2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Built the 4-way cache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Audit found a wiring bug; real cause = capacity (0.14-0.40% hit)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-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Eviction policy test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+25.2% relative hit-rate gain -&gt; reason S4 exists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S3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Fixed a crash + a slowdown, real sizing formula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All 3 bugs fixed; benchmark = clean, explained null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S4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Found the hashing was broken (225x load skew)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Fixed: 8.9x hit-rate win - but reverses S2's eviction result to -3.9%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S5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Ported a collaborator's prefetch patch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Built + merged - not yet run on Luna, zero numbers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1-PAGE 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548640" y="544068"/>
            <a:ext cx="82296" cy="82296"/>
          </a:xfrm>
          <a:prstGeom prst="diamond">
            <a:avLst/>
          </a:prstGeom>
          <a:solidFill>
            <a:srgbClr val="0E7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02920"/>
            <a:ext cx="10893247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C68"/>
                </a:solidFill>
                <a:latin typeface="Consolas"/>
              </a:rPr>
              <a:t>WHAT THIS 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E7C68"/>
                </a:solidFill>
                <a:latin typeface="Consolas"/>
              </a:rPr>
              <a:t>→  </a:t>
            </a:r>
            <a:r>
              <a:rPr sz="1700" b="1" i="0">
                <a:solidFill>
                  <a:srgbClr val="1A1F1D"/>
                </a:solidFill>
                <a:latin typeface="Calibri"/>
              </a:rPr>
              <a:t>Every 'no benefit' result has a diagnosed, evidenced cause</a:t>
            </a:r>
            <a:r>
              <a:rPr sz="1700" b="0" i="0">
                <a:solidFill>
                  <a:srgbClr val="1A1F1D"/>
                </a:solidFill>
                <a:latin typeface="Calibri"/>
              </a:rPr>
              <a:t> - not a shrug.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47088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E7C68"/>
                </a:solidFill>
                <a:latin typeface="Consolas"/>
              </a:rPr>
              <a:t>→  </a:t>
            </a:r>
            <a:r>
              <a:rPr sz="1700" b="1" i="0">
                <a:solidFill>
                  <a:srgbClr val="1A1F1D"/>
                </a:solidFill>
                <a:latin typeface="Calibri"/>
              </a:rPr>
              <a:t>The eviction win that justified S4's design</a:t>
            </a:r>
            <a:r>
              <a:rPr sz="1700" b="0" i="0">
                <a:solidFill>
                  <a:srgbClr val="1A1F1D"/>
                </a:solidFill>
                <a:latin typeface="Calibri"/>
              </a:rPr>
              <a:t> turned out to be a hash bug wearing a disguise. We found this ourselves, before it went further.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33472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E7C68"/>
                </a:solidFill>
                <a:latin typeface="Consolas"/>
              </a:rPr>
              <a:t>→  </a:t>
            </a:r>
            <a:r>
              <a:rPr sz="1700" b="1" i="0">
                <a:solidFill>
                  <a:srgbClr val="1A1F1D"/>
                </a:solidFill>
                <a:latin typeface="Calibri"/>
              </a:rPr>
              <a:t>The single biggest untested lever right now is S5</a:t>
            </a:r>
            <a:r>
              <a:rPr sz="1700" b="0" i="0">
                <a:solidFill>
                  <a:srgbClr val="1A1F1D"/>
                </a:solidFill>
                <a:latin typeface="Calibri"/>
              </a:rPr>
              <a:t> (prefetch-batching) - 2-3 Luna days from a real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19856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E7C68"/>
                </a:solidFill>
                <a:latin typeface="Consolas"/>
              </a:rPr>
              <a:t>→  </a:t>
            </a:r>
            <a:r>
              <a:rPr sz="1700" b="1" i="0">
                <a:solidFill>
                  <a:srgbClr val="1A1F1D"/>
                </a:solidFill>
                <a:latin typeface="Calibri"/>
              </a:rPr>
              <a:t>Track B: zero commits</a:t>
            </a:r>
            <a:r>
              <a:rPr sz="1700" b="0" i="0">
                <a:solidFill>
                  <a:srgbClr val="1A1F1D"/>
                </a:solidFill>
                <a:latin typeface="Calibri"/>
              </a:rPr>
              <a:t>, by your explicit sequencing call, not neglect.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1-PAGE RECAP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548640" y="544068"/>
            <a:ext cx="82296" cy="82296"/>
          </a:xfrm>
          <a:prstGeom prst="diamond">
            <a:avLst/>
          </a:prstGeom>
          <a:solidFill>
            <a:srgbClr val="0E7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02920"/>
            <a:ext cx="10893247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C7A1E"/>
                </a:solidFill>
                <a:latin typeface="Consolas"/>
              </a:rPr>
              <a:t>TRACK B STATUS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60120"/>
            <a:ext cx="2028139" cy="292608"/>
          </a:xfrm>
          <a:prstGeom prst="roundRect">
            <a:avLst>
              <a:gd name="adj" fmla="val 50000"/>
            </a:avLst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9C7A1E"/>
                </a:solidFill>
                <a:latin typeface="Consolas"/>
              </a:rPr>
              <a:t>0 COMMITS -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E7C68"/>
                </a:solidFill>
                <a:latin typeface="Consolas"/>
              </a:rPr>
              <a:t>→  </a:t>
            </a:r>
            <a:r>
              <a:rPr sz="1700" b="1" i="0">
                <a:solidFill>
                  <a:srgbClr val="1A1F1D"/>
                </a:solidFill>
                <a:latin typeface="Calibri"/>
              </a:rPr>
              <a:t>B2 (bitmask) doesn't need B1 (double hashing) first</a:t>
            </a:r>
            <a:r>
              <a:rPr sz="1700" b="0" i="0">
                <a:solidFill>
                  <a:srgbClr val="1A1F1D"/>
                </a:solidFill>
                <a:latin typeface="Calibri"/>
              </a:rPr>
              <a:t> - confirmed at source level.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75688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E7C68"/>
                </a:solidFill>
                <a:latin typeface="Consolas"/>
              </a:rPr>
              <a:t>→  </a:t>
            </a:r>
            <a:r>
              <a:rPr sz="1700" b="1" i="0">
                <a:solidFill>
                  <a:srgbClr val="1A1F1D"/>
                </a:solidFill>
                <a:latin typeface="Calibri"/>
              </a:rPr>
              <a:t>B1 is a real function to write, plus a full DB rebuild</a:t>
            </a:r>
            <a:r>
              <a:rPr sz="1700" b="0" i="0">
                <a:solidFill>
                  <a:srgbClr val="1A1F1D"/>
                </a:solidFill>
                <a:latin typeface="Calibri"/>
              </a:rPr>
              <a:t> - not a flag flip, as we'd previously believed.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62072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E7C68"/>
                </a:solidFill>
                <a:latin typeface="Consolas"/>
              </a:rPr>
              <a:t>→  </a:t>
            </a:r>
            <a:r>
              <a:rPr sz="1700" b="1" i="0">
                <a:solidFill>
                  <a:srgbClr val="1A1F1D"/>
                </a:solidFill>
                <a:latin typeface="Calibri"/>
              </a:rPr>
              <a:t>ESKAPE panel is structurally capped at 4 of 6 species</a:t>
            </a:r>
            <a:r>
              <a:rPr sz="1700" b="0" i="0">
                <a:solidFill>
                  <a:srgbClr val="1A1F1D"/>
                </a:solidFill>
                <a:latin typeface="Calibri"/>
              </a:rPr>
              <a:t> - two were never sourced, separate from files later lost.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1-PAGE RECAP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548640" y="544068"/>
            <a:ext cx="82296" cy="82296"/>
          </a:xfrm>
          <a:prstGeom prst="diamond">
            <a:avLst/>
          </a:prstGeom>
          <a:solidFill>
            <a:srgbClr val="0E7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02920"/>
            <a:ext cx="10893247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C68"/>
                </a:solidFill>
                <a:latin typeface="Consolas"/>
              </a:rPr>
              <a:t>DECISIONS NEEDED FROM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E7C68"/>
                </a:solidFill>
                <a:latin typeface="Consola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234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F1D"/>
                </a:solidFill>
                <a:latin typeface="Consolas"/>
              </a:rPr>
              <a:t>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61848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7615C"/>
                </a:solidFill>
                <a:latin typeface="Calibri"/>
              </a:rPr>
              <a:t>How much more Track A time before we shift fully to Track B? (~12 days left to Sept 13.)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5856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E7C68"/>
                </a:solidFill>
                <a:latin typeface="Consola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25856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F1D"/>
                </a:solidFill>
                <a:latin typeface="Consolas"/>
              </a:rPr>
              <a:t>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42616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7615C"/>
                </a:solidFill>
                <a:latin typeface="Calibri"/>
              </a:rPr>
              <a:t>Is double hashing required, or stretch? You named 3 items at Meeting 11; it wasn't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8269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E7C68"/>
                </a:solidFill>
                <a:latin typeface="Consola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28269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F1D"/>
                </a:solidFill>
                <a:latin typeface="Consolas"/>
              </a:rPr>
              <a:t>ESKAPE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666744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7615C"/>
                </a:solidFill>
                <a:latin typeface="Calibri"/>
              </a:rPr>
              <a:t>Report as a 4-organism result, or chase the other 2 first?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0682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E7C68"/>
                </a:solidFill>
                <a:latin typeface="Consolas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30682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F1D"/>
                </a:solidFill>
                <a:latin typeface="Consolas"/>
              </a:rPr>
              <a:t>PREFETCH SPIKE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69087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7615C"/>
                </a:solidFill>
                <a:latin typeface="Calibri"/>
              </a:rPr>
              <a:t>Spend 2-3 Luna days getting S5.0 a real number?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1-PAGE RECAP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